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ThermalSense, my computer graphics lab project: autonomous drones defending a hidden army base, now a playable game. Everything you will see, the camp, the soldiers, the vehicles and the rover intruders, is built only from cube, sphere and cylinder primitives. No model files, no textures. Version seven adds a day and night cycle, first person play, real ray tracing and a frame explorer. I end with the demonstration video.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outline in three parts. First the foundations from versions one to five: the goal, how every object is assembled from primitives, the camp and bunker, the controllable vehicles, the rendering pipeline and the autonomous game loop. Second, version six makes the base live: a day and night cycle, eight soldiers, random rover routes and vision under sensor noise. Third, version seven: playing from any point of view, ray tracing and the Frame Explorer.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drones that find and track intruders using only their own thermal cameras, in a believable base built entirely from primitives. The requirements grew in stages: the lab sheet gave canonical primitives and M equals T R S, the proposal added shading and the Z-buffer, version two PBR and tracking, three the RTX pipeline, four the base and bunker, five the game. Six adds day and night, seven play, ray tracing and the explorer.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visible solid is one part: a unit cube, sphere or cylinder drawn with its own matrix M equals T times R times S. Parts are grouped in a hierarchy, so a track link moves with its tank. The scene has 5,414 primitive leaves in total. For example the bunker has 400 parts, the tank 255, the radar 108, the UAV 158 and the helicopter 91. Cones are just cylinders with a different top radius.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 is a hidden army camp. It keeps light discipline: dim red and blue-green tactical lamps, blacked-out windows, so at night it reads only by moonlight, searchlights and explosions. Camo nets cover the vehicles, SAM and MLRS launchers and the bunker entrance, and tanks sit in earth revetments. Below ground is the walkable bunker with blast doors, a tunnel, command room, bunk room and generator room, all with collision volumes.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vehicles and devices can be possessed with the number keys or the bracket keys: the UAV, tank, helicopter, AA gun, radar, blast doors, SAM launcher, MLRS truck and gate barrier. Each has real hierarchical motion: tank track links, rotor flapping with a spring-damper attitude, Gatling spin-up, a turntable with elevating canisters, eased sliding doors. With the eight soldiers and the sky clock from version six that makes 18. Backspace releases control.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 is rendered in linear light into an HDR target. GGX Cook-Torrance PBR is the base, with cascaded shadows, screen-space ambient occlusion, volumetric fog with light shafts, temporal anti-aliasing, screen-space reflections in puddles and bloom, finished by an ACES tone curve. The thermal view is a sensor model: automatic gain, noise, shimmer and a FLIR style HUD. The preset is chosen automatically, EPIC on the RTX 4070.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game loop. Each of the two UAVs runs a computer vision pipeline on its own thermal image: threshold, despeckle, union-find connected components and moments. A shared Kalman and Hungarian tracker, with two-view triangulation, keeps IDs and velocities. The best-placed drone becomes lead, the other the wingman, and a time-on-target strike lands both rounds together. Four to five hits kill an armoured rover. Kills feed waves, score and base integrity.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six adds time. The sun position comes from the solar elevation formula at latitude 22.8 degrees: sunrise about 06:08, sunset 17:52. The key light switches between sun and moon, reddened through the air mass near the horizon; lamps fade out by day and searchlights only run at night. A drifting cloud layer also casts moving shadows. Intruders attack only at night and withdraw at dawn. F2, comma, period and slash control the clock.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soldiers live on the base, each built from 75 primitives in a hierarchy seven levels deep. They walk centripetal Catmull-Rom splines, which never overshoot or loop, and slow down in tight bends. The gait is forward kinematics with two-link inverse kinematics for the legs, so the feet stay planted on the ground. By day they work on the tank, carry crates and patrol; at night some go off duty into the bunker. F3 possesses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Rover routes are no longer predictable. Each rover spawns on a jittered ring, picks up to three via points inside a seventy degree sector, and may switch objective mid-route. Each one has a personality: speed, noise and exposure weights for its MicroMouse cost map, and pauses in cover. Everything is seeded: the same seed gives a byte-identical six hundred second run, another seed a different one. No rover spawns by 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is now real: each drone sees its rendered heat image through a sensor model with temporal noise, fixed-pattern gain and offset, column stripes, a blur kernel, stuck pixels, gimbal jitter and one percent dropped frames. Detection still works: probability 0.990 for a distant rover at the default noise. Warm soldiers are classified as persons and never targeted, and a squad that sees nothing never fires: no hidden true positions.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seven makes it feel like a game. F4 opens a list of every moving object, sorted by distance, and the camera jumps into any of them with a critically damped spring blend. Insert and Delete cycle, a middle click jumps into whatever is under the cursor, and Home starts a free fly camera. Riding along, any drive key takes control: a soldier with a rifle, an intruder rover the drones still hunt, a drone or the helicopter.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semicolon key switches the renderer between raster, hybrid and three full ray tracers, all on the GPU in compute shaders. Whitted tracing is deterministic: shadow rays, mirror reflection and refraction with exact Fresnel. The path tracer solves the rendering equation by Monte Carlo sampling with next event estimation and a denoiser. Light tracing runs the other way: paths start at the lights and are splatted to the camera, which shows caustics.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scene is built only from primitives, every part is traced exactly: the ray goes into the part's local space with the inverse matrix and meets a unit sphere, box, cylinder or cone. About five thousand primitives sit in a bounding volume hierarchy built with the surface area heuristic. Moving objects only refit the boxes each frame, under one millisecond. In hybrid mode these rays replace screen-space reflections, so off-screen objects appear in mirrors.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see what a ray tracer actually does, the apostrophe key turns on the ray debugger. Clicking a pixel re-traces it on the CPU with the same intersectors and draws its ray tree in 3D. Here a click on the glass ball gives 16 rays, 6 levels deep: the primary ray, a Fresnel reflection, refraction through the ball, internal reflections, and shadow rays that are lit or blocked. Each label shows depth, distance and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measured frame times on the RTX 4070 through the WSL Direct3D 12 path at 720p output. The full ray tracers run at reduced internal resolution and are fast: Whitted about 29 milliseconds, path tracing 27, light tracing 45 by day. Surprisingly the raster EPIC frame is the slow one on this driver path, about 155 milliseconds, and hybrid inherits it; the ray-traced pass itself adds only 14 to 21.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backtick key freezes the current frame and replays how it was made, in sixteen stages, from the scene graph to the final thermal and computer vision view. Every stage is a real buffer of that frame, with a caption, the key formula and a probe pixel that every card follows. Arrows step through stages and layers, W wipes against the previous stage, I inspects a pixel in every buffer, and P opens an image processing lab.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five shows colour interpolation, the heart of rasterisation. A checkerboard on every surface makes the difference visible: blending vertex attributes linearly in screen space bends the squares, while dividing by w before blending and multiplying back keeps them straight. The cards zoom into one probe triangle, and a coarse sphere compares Gouraud, which lights the vertices, with Phong, which lights every pixel.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ten explains reflection. The reflected ray leaves at the angle it arrived. Screen-space reflection marches that ray through the depth buffer and reuses colour already on screen, so it is cheap but cannot see anything off-screen or hidden. The same frame with ray-traced reflections follows the ray through the BVH instead. The split view and the difference image show exactly where the two disagree.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All 289 automated tests pass, covering primitives, vision, tracking, soldiers, the day cycle, the game camera, ray tracing and the explorer. Six hundred second traces are deterministic per seed, no rover spawns by day, and every kill comes from a round aimed at a vision track. The night preset still matches the version five figures. The Windows executable and the WSL window both build without administrator rights.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the demonstration, recorded in the program itself with its procedural sound. The version seven director cut runs about two and a half minutes: the night attack and combined strike, dawn, the soldiers by day, jumps into a soldier, a rover, a drone and a missile, the five render modes with the ray debugger, and the Frame Explorer stepping through a frame. Thank you; questions are welcome afterwards.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 Id="rId7"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jpg"/><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2.jpg"/><Relationship Id="rId4" Type="http://schemas.openxmlformats.org/officeDocument/2006/relationships/image" Target="../media/image3.jpg"/><Relationship Id="rId5" Type="http://schemas.openxmlformats.org/officeDocument/2006/relationships/image" Target="../media/image23.jpg"/><Relationship Id="rId6" Type="http://schemas.openxmlformats.org/officeDocument/2006/relationships/image" Target="../media/image24.jpg"/><Relationship Id="rId7" Type="http://schemas.openxmlformats.org/officeDocument/2006/relationships/image" Target="../media/image2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0.jpg"/><Relationship Id="rId4" Type="http://schemas.openxmlformats.org/officeDocument/2006/relationships/image" Target="../media/image3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5.jpg"/><Relationship Id="rId4" Type="http://schemas.openxmlformats.org/officeDocument/2006/relationships/image" Target="../media/image36.jpg"/><Relationship Id="rId5" Type="http://schemas.openxmlformats.org/officeDocument/2006/relationships/image" Target="../media/image3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1.jpg"/><Relationship Id="rId4" Type="http://schemas.openxmlformats.org/officeDocument/2006/relationships/image" Target="../media/image42.jpg"/><Relationship Id="rId5" Type="http://schemas.openxmlformats.org/officeDocument/2006/relationships/image" Target="../media/image4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4.jpg"/><Relationship Id="rId4" Type="http://schemas.openxmlformats.org/officeDocument/2006/relationships/image" Target="../media/image4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7.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pic>
        <p:nvPicPr>
          <p:cNvPr id="2" name="Picture 1" descr="img0.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3383280"/>
            <a:ext cx="12191695" cy="3474720"/>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11880"/>
            <a:ext cx="1280160" cy="64008"/>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49039"/>
            <a:ext cx="10972800" cy="914400"/>
          </a:xfrm>
          <a:prstGeom prst="rect">
            <a:avLst/>
          </a:prstGeom>
          <a:noFill/>
        </p:spPr>
        <p:txBody>
          <a:bodyPr wrap="square" anchor="t" lIns="45720" rIns="45720">
            <a:spAutoFit/>
          </a:bodyPr>
          <a:lstStyle/>
          <a:p>
            <a:pPr algn="l">
              <a:spcAft>
                <a:spcPts val="1889"/>
              </a:spcAft>
            </a:pPr>
            <a:r>
              <a:rPr sz="5400" b="1">
                <a:solidFill>
                  <a:srgbClr val="FFFFFF"/>
                </a:solidFill>
                <a:latin typeface="Calibri"/>
              </a:rPr>
              <a:t>ThermalSense</a:t>
            </a:r>
          </a:p>
        </p:txBody>
      </p:sp>
      <p:sp>
        <p:nvSpPr>
          <p:cNvPr id="6" name="TextBox 5"/>
          <p:cNvSpPr txBox="1"/>
          <p:nvPr/>
        </p:nvSpPr>
        <p:spPr>
          <a:xfrm>
            <a:off x="548640" y="4572000"/>
            <a:ext cx="10972800" cy="640080"/>
          </a:xfrm>
          <a:prstGeom prst="rect">
            <a:avLst/>
          </a:prstGeom>
          <a:noFill/>
        </p:spPr>
        <p:txBody>
          <a:bodyPr wrap="square" anchor="t" lIns="45720" rIns="45720">
            <a:spAutoFit/>
          </a:bodyPr>
          <a:lstStyle/>
          <a:p>
            <a:pPr algn="l">
              <a:spcAft>
                <a:spcPts val="979"/>
              </a:spcAft>
            </a:pPr>
            <a:r>
              <a:rPr sz="2800" b="0">
                <a:solidFill>
                  <a:srgbClr val="FF9E1F"/>
                </a:solidFill>
                <a:latin typeface="Calibri"/>
              </a:rPr>
              <a:t>Autonomous UAV Patrol of a Military Base</a:t>
            </a:r>
          </a:p>
        </p:txBody>
      </p:sp>
      <p:sp>
        <p:nvSpPr>
          <p:cNvPr id="7" name="TextBox 6"/>
          <p:cNvSpPr txBox="1"/>
          <p:nvPr/>
        </p:nvSpPr>
        <p:spPr>
          <a:xfrm>
            <a:off x="548640" y="5440680"/>
            <a:ext cx="10972800" cy="457200"/>
          </a:xfrm>
          <a:prstGeom prst="rect">
            <a:avLst/>
          </a:prstGeom>
          <a:noFill/>
        </p:spPr>
        <p:txBody>
          <a:bodyPr wrap="square" anchor="t" lIns="45720" rIns="45720">
            <a:spAutoFit/>
          </a:bodyPr>
          <a:lstStyle/>
          <a:p>
            <a:pPr algn="l">
              <a:spcAft>
                <a:spcPts val="700"/>
              </a:spcAft>
            </a:pPr>
            <a:r>
              <a:rPr sz="2000" b="0">
                <a:solidFill>
                  <a:srgbClr val="FFFFFF"/>
                </a:solidFill>
                <a:latin typeface="Calibri"/>
              </a:rPr>
              <a:t>Md. Shakhoyat Rahman Shujon  |  Roll 2107104</a:t>
            </a:r>
          </a:p>
        </p:txBody>
      </p:sp>
      <p:sp>
        <p:nvSpPr>
          <p:cNvPr id="8" name="TextBox 7"/>
          <p:cNvSpPr txBox="1"/>
          <p:nvPr/>
        </p:nvSpPr>
        <p:spPr>
          <a:xfrm>
            <a:off x="548640" y="5852160"/>
            <a:ext cx="10972800" cy="457200"/>
          </a:xfrm>
          <a:prstGeom prst="rect">
            <a:avLst/>
          </a:prstGeom>
          <a:noFill/>
        </p:spPr>
        <p:txBody>
          <a:bodyPr wrap="square" anchor="t" lIns="45720" rIns="45720">
            <a:spAutoFit/>
          </a:bodyPr>
          <a:lstStyle/>
          <a:p>
            <a:pPr algn="l">
              <a:spcAft>
                <a:spcPts val="630"/>
              </a:spcAft>
            </a:pPr>
            <a:r>
              <a:rPr sz="1800" b="0">
                <a:solidFill>
                  <a:srgbClr val="A8B0BA"/>
                </a:solidFill>
                <a:latin typeface="Calibri"/>
              </a:rPr>
              <a:t>Computer Graphics Lab  |  C++17, OpenGL 3.3 (+ 4.3 compute for ray tracing)  |  v7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THERMALSENSE</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Outline</a:t>
            </a:r>
          </a:p>
        </p:txBody>
      </p:sp>
      <p:sp>
        <p:nvSpPr>
          <p:cNvPr id="5" name="Rectangle 4"/>
          <p:cNvSpPr/>
          <p:nvPr/>
        </p:nvSpPr>
        <p:spPr>
          <a:xfrm>
            <a:off x="457200" y="1463040"/>
            <a:ext cx="3611880" cy="5486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72768"/>
            <a:ext cx="3611880" cy="411480"/>
          </a:xfrm>
          <a:prstGeom prst="rect">
            <a:avLst/>
          </a:prstGeom>
          <a:noFill/>
        </p:spPr>
        <p:txBody>
          <a:bodyPr wrap="square" anchor="t" lIns="45720" rIns="45720">
            <a:spAutoFit/>
          </a:bodyPr>
          <a:lstStyle/>
          <a:p>
            <a:pPr algn="l">
              <a:spcAft>
                <a:spcPts val="700"/>
              </a:spcAft>
            </a:pPr>
            <a:r>
              <a:rPr sz="2000" b="1">
                <a:solidFill>
                  <a:srgbClr val="FF9E1F"/>
                </a:solidFill>
                <a:latin typeface="Calibri"/>
              </a:rPr>
              <a:t>Foundations (v1-v5)</a:t>
            </a:r>
          </a:p>
        </p:txBody>
      </p:sp>
      <p:sp>
        <p:nvSpPr>
          <p:cNvPr id="7" name="TextBox 6"/>
          <p:cNvSpPr txBox="1"/>
          <p:nvPr/>
        </p:nvSpPr>
        <p:spPr>
          <a:xfrm>
            <a:off x="457200" y="2103120"/>
            <a:ext cx="548640" cy="411480"/>
          </a:xfrm>
          <a:prstGeom prst="rect">
            <a:avLst/>
          </a:prstGeom>
          <a:noFill/>
        </p:spPr>
        <p:txBody>
          <a:bodyPr wrap="square" anchor="t" lIns="45720" rIns="45720">
            <a:spAutoFit/>
          </a:bodyPr>
          <a:lstStyle/>
          <a:p>
            <a:pPr algn="l">
              <a:spcAft>
                <a:spcPts val="594"/>
              </a:spcAft>
            </a:pPr>
            <a:r>
              <a:rPr sz="1700" b="1">
                <a:solidFill>
                  <a:srgbClr val="A8B0BA"/>
                </a:solidFill>
                <a:latin typeface="Calibri"/>
              </a:rPr>
              <a:t>3</a:t>
            </a:r>
          </a:p>
        </p:txBody>
      </p:sp>
      <p:sp>
        <p:nvSpPr>
          <p:cNvPr id="8" name="TextBox 7"/>
          <p:cNvSpPr txBox="1"/>
          <p:nvPr/>
        </p:nvSpPr>
        <p:spPr>
          <a:xfrm>
            <a:off x="1005840" y="2103120"/>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Goal and history</a:t>
            </a:r>
          </a:p>
        </p:txBody>
      </p:sp>
      <p:sp>
        <p:nvSpPr>
          <p:cNvPr id="9" name="TextBox 8"/>
          <p:cNvSpPr txBox="1"/>
          <p:nvPr/>
        </p:nvSpPr>
        <p:spPr>
          <a:xfrm>
            <a:off x="457200" y="2551176"/>
            <a:ext cx="548640" cy="411480"/>
          </a:xfrm>
          <a:prstGeom prst="rect">
            <a:avLst/>
          </a:prstGeom>
          <a:noFill/>
        </p:spPr>
        <p:txBody>
          <a:bodyPr wrap="square" anchor="t" lIns="45720" rIns="45720">
            <a:spAutoFit/>
          </a:bodyPr>
          <a:lstStyle/>
          <a:p>
            <a:pPr algn="l">
              <a:spcAft>
                <a:spcPts val="594"/>
              </a:spcAft>
            </a:pPr>
            <a:r>
              <a:rPr sz="1700" b="1">
                <a:solidFill>
                  <a:srgbClr val="A8B0BA"/>
                </a:solidFill>
                <a:latin typeface="Calibri"/>
              </a:rPr>
              <a:t>4</a:t>
            </a:r>
          </a:p>
        </p:txBody>
      </p:sp>
      <p:sp>
        <p:nvSpPr>
          <p:cNvPr id="10" name="TextBox 9"/>
          <p:cNvSpPr txBox="1"/>
          <p:nvPr/>
        </p:nvSpPr>
        <p:spPr>
          <a:xfrm>
            <a:off x="1005840" y="2551176"/>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Building with primitives</a:t>
            </a:r>
          </a:p>
        </p:txBody>
      </p:sp>
      <p:sp>
        <p:nvSpPr>
          <p:cNvPr id="11" name="TextBox 10"/>
          <p:cNvSpPr txBox="1"/>
          <p:nvPr/>
        </p:nvSpPr>
        <p:spPr>
          <a:xfrm>
            <a:off x="457200" y="2999232"/>
            <a:ext cx="548640" cy="411480"/>
          </a:xfrm>
          <a:prstGeom prst="rect">
            <a:avLst/>
          </a:prstGeom>
          <a:noFill/>
        </p:spPr>
        <p:txBody>
          <a:bodyPr wrap="square" anchor="t" lIns="45720" rIns="45720">
            <a:spAutoFit/>
          </a:bodyPr>
          <a:lstStyle/>
          <a:p>
            <a:pPr algn="l">
              <a:spcAft>
                <a:spcPts val="594"/>
              </a:spcAft>
            </a:pPr>
            <a:r>
              <a:rPr sz="1700" b="1">
                <a:solidFill>
                  <a:srgbClr val="A8B0BA"/>
                </a:solidFill>
                <a:latin typeface="Calibri"/>
              </a:rPr>
              <a:t>5</a:t>
            </a:r>
          </a:p>
        </p:txBody>
      </p:sp>
      <p:sp>
        <p:nvSpPr>
          <p:cNvPr id="12" name="TextBox 11"/>
          <p:cNvSpPr txBox="1"/>
          <p:nvPr/>
        </p:nvSpPr>
        <p:spPr>
          <a:xfrm>
            <a:off x="1005840" y="2999232"/>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Camp and bunker</a:t>
            </a:r>
          </a:p>
        </p:txBody>
      </p:sp>
      <p:sp>
        <p:nvSpPr>
          <p:cNvPr id="13" name="TextBox 12"/>
          <p:cNvSpPr txBox="1"/>
          <p:nvPr/>
        </p:nvSpPr>
        <p:spPr>
          <a:xfrm>
            <a:off x="457200" y="3447287"/>
            <a:ext cx="548640" cy="411480"/>
          </a:xfrm>
          <a:prstGeom prst="rect">
            <a:avLst/>
          </a:prstGeom>
          <a:noFill/>
        </p:spPr>
        <p:txBody>
          <a:bodyPr wrap="square" anchor="t" lIns="45720" rIns="45720">
            <a:spAutoFit/>
          </a:bodyPr>
          <a:lstStyle/>
          <a:p>
            <a:pPr algn="l">
              <a:spcAft>
                <a:spcPts val="594"/>
              </a:spcAft>
            </a:pPr>
            <a:r>
              <a:rPr sz="1700" b="1">
                <a:solidFill>
                  <a:srgbClr val="A8B0BA"/>
                </a:solidFill>
                <a:latin typeface="Calibri"/>
              </a:rPr>
              <a:t>6</a:t>
            </a:r>
          </a:p>
        </p:txBody>
      </p:sp>
      <p:sp>
        <p:nvSpPr>
          <p:cNvPr id="14" name="TextBox 13"/>
          <p:cNvSpPr txBox="1"/>
          <p:nvPr/>
        </p:nvSpPr>
        <p:spPr>
          <a:xfrm>
            <a:off x="1005840" y="3447287"/>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Controllable objects</a:t>
            </a:r>
          </a:p>
        </p:txBody>
      </p:sp>
      <p:sp>
        <p:nvSpPr>
          <p:cNvPr id="15" name="TextBox 14"/>
          <p:cNvSpPr txBox="1"/>
          <p:nvPr/>
        </p:nvSpPr>
        <p:spPr>
          <a:xfrm>
            <a:off x="457200" y="3895344"/>
            <a:ext cx="548640" cy="411480"/>
          </a:xfrm>
          <a:prstGeom prst="rect">
            <a:avLst/>
          </a:prstGeom>
          <a:noFill/>
        </p:spPr>
        <p:txBody>
          <a:bodyPr wrap="square" anchor="t" lIns="45720" rIns="45720">
            <a:spAutoFit/>
          </a:bodyPr>
          <a:lstStyle/>
          <a:p>
            <a:pPr algn="l">
              <a:spcAft>
                <a:spcPts val="594"/>
              </a:spcAft>
            </a:pPr>
            <a:r>
              <a:rPr sz="1700" b="1">
                <a:solidFill>
                  <a:srgbClr val="A8B0BA"/>
                </a:solidFill>
                <a:latin typeface="Calibri"/>
              </a:rPr>
              <a:t>7</a:t>
            </a:r>
          </a:p>
        </p:txBody>
      </p:sp>
      <p:sp>
        <p:nvSpPr>
          <p:cNvPr id="16" name="TextBox 15"/>
          <p:cNvSpPr txBox="1"/>
          <p:nvPr/>
        </p:nvSpPr>
        <p:spPr>
          <a:xfrm>
            <a:off x="1005840" y="3895344"/>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Rendering pipeline</a:t>
            </a:r>
          </a:p>
        </p:txBody>
      </p:sp>
      <p:sp>
        <p:nvSpPr>
          <p:cNvPr id="17" name="TextBox 16"/>
          <p:cNvSpPr txBox="1"/>
          <p:nvPr/>
        </p:nvSpPr>
        <p:spPr>
          <a:xfrm>
            <a:off x="457200" y="4343400"/>
            <a:ext cx="548640" cy="411480"/>
          </a:xfrm>
          <a:prstGeom prst="rect">
            <a:avLst/>
          </a:prstGeom>
          <a:noFill/>
        </p:spPr>
        <p:txBody>
          <a:bodyPr wrap="square" anchor="t" lIns="45720" rIns="45720">
            <a:spAutoFit/>
          </a:bodyPr>
          <a:lstStyle/>
          <a:p>
            <a:pPr algn="l">
              <a:spcAft>
                <a:spcPts val="594"/>
              </a:spcAft>
            </a:pPr>
            <a:r>
              <a:rPr sz="1700" b="1">
                <a:solidFill>
                  <a:srgbClr val="A8B0BA"/>
                </a:solidFill>
                <a:latin typeface="Calibri"/>
              </a:rPr>
              <a:t>8</a:t>
            </a:r>
          </a:p>
        </p:txBody>
      </p:sp>
      <p:sp>
        <p:nvSpPr>
          <p:cNvPr id="18" name="TextBox 17"/>
          <p:cNvSpPr txBox="1"/>
          <p:nvPr/>
        </p:nvSpPr>
        <p:spPr>
          <a:xfrm>
            <a:off x="1005840" y="4343400"/>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Autonomy, game loop</a:t>
            </a:r>
          </a:p>
        </p:txBody>
      </p:sp>
      <p:sp>
        <p:nvSpPr>
          <p:cNvPr id="19" name="Rectangle 18"/>
          <p:cNvSpPr/>
          <p:nvPr/>
        </p:nvSpPr>
        <p:spPr>
          <a:xfrm>
            <a:off x="4343400" y="1463040"/>
            <a:ext cx="3611880" cy="5486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1572768"/>
            <a:ext cx="3611880" cy="411480"/>
          </a:xfrm>
          <a:prstGeom prst="rect">
            <a:avLst/>
          </a:prstGeom>
          <a:noFill/>
        </p:spPr>
        <p:txBody>
          <a:bodyPr wrap="square" anchor="t" lIns="45720" rIns="45720">
            <a:spAutoFit/>
          </a:bodyPr>
          <a:lstStyle/>
          <a:p>
            <a:pPr algn="l">
              <a:spcAft>
                <a:spcPts val="700"/>
              </a:spcAft>
            </a:pPr>
            <a:r>
              <a:rPr sz="2000" b="1">
                <a:solidFill>
                  <a:srgbClr val="FF9E1F"/>
                </a:solidFill>
                <a:latin typeface="Calibri"/>
              </a:rPr>
              <a:t>v6: a living base</a:t>
            </a:r>
          </a:p>
        </p:txBody>
      </p:sp>
      <p:sp>
        <p:nvSpPr>
          <p:cNvPr id="21" name="TextBox 20"/>
          <p:cNvSpPr txBox="1"/>
          <p:nvPr/>
        </p:nvSpPr>
        <p:spPr>
          <a:xfrm>
            <a:off x="4343400" y="2103120"/>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9</a:t>
            </a:r>
          </a:p>
        </p:txBody>
      </p:sp>
      <p:sp>
        <p:nvSpPr>
          <p:cNvPr id="22" name="TextBox 21"/>
          <p:cNvSpPr txBox="1"/>
          <p:nvPr/>
        </p:nvSpPr>
        <p:spPr>
          <a:xfrm>
            <a:off x="4892040" y="2103120"/>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Day and night cycle</a:t>
            </a:r>
          </a:p>
        </p:txBody>
      </p:sp>
      <p:sp>
        <p:nvSpPr>
          <p:cNvPr id="23" name="TextBox 22"/>
          <p:cNvSpPr txBox="1"/>
          <p:nvPr/>
        </p:nvSpPr>
        <p:spPr>
          <a:xfrm>
            <a:off x="4343400" y="2551176"/>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10</a:t>
            </a:r>
          </a:p>
        </p:txBody>
      </p:sp>
      <p:sp>
        <p:nvSpPr>
          <p:cNvPr id="24" name="TextBox 23"/>
          <p:cNvSpPr txBox="1"/>
          <p:nvPr/>
        </p:nvSpPr>
        <p:spPr>
          <a:xfrm>
            <a:off x="4892040" y="2551176"/>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Soldiers and IK gait</a:t>
            </a:r>
          </a:p>
        </p:txBody>
      </p:sp>
      <p:sp>
        <p:nvSpPr>
          <p:cNvPr id="25" name="TextBox 24"/>
          <p:cNvSpPr txBox="1"/>
          <p:nvPr/>
        </p:nvSpPr>
        <p:spPr>
          <a:xfrm>
            <a:off x="4343400" y="2999232"/>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11</a:t>
            </a:r>
          </a:p>
        </p:txBody>
      </p:sp>
      <p:sp>
        <p:nvSpPr>
          <p:cNvPr id="26" name="TextBox 25"/>
          <p:cNvSpPr txBox="1"/>
          <p:nvPr/>
        </p:nvSpPr>
        <p:spPr>
          <a:xfrm>
            <a:off x="4892040" y="2999232"/>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Random rover routes</a:t>
            </a:r>
          </a:p>
        </p:txBody>
      </p:sp>
      <p:sp>
        <p:nvSpPr>
          <p:cNvPr id="27" name="TextBox 26"/>
          <p:cNvSpPr txBox="1"/>
          <p:nvPr/>
        </p:nvSpPr>
        <p:spPr>
          <a:xfrm>
            <a:off x="4343400" y="3447287"/>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12</a:t>
            </a:r>
          </a:p>
        </p:txBody>
      </p:sp>
      <p:sp>
        <p:nvSpPr>
          <p:cNvPr id="28" name="TextBox 27"/>
          <p:cNvSpPr txBox="1"/>
          <p:nvPr/>
        </p:nvSpPr>
        <p:spPr>
          <a:xfrm>
            <a:off x="4892040" y="3447287"/>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Vision under noise</a:t>
            </a:r>
          </a:p>
        </p:txBody>
      </p:sp>
      <p:sp>
        <p:nvSpPr>
          <p:cNvPr id="29" name="Rectangle 28"/>
          <p:cNvSpPr/>
          <p:nvPr/>
        </p:nvSpPr>
        <p:spPr>
          <a:xfrm>
            <a:off x="8229600" y="1463040"/>
            <a:ext cx="3611880" cy="5486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1572768"/>
            <a:ext cx="3611880" cy="411480"/>
          </a:xfrm>
          <a:prstGeom prst="rect">
            <a:avLst/>
          </a:prstGeom>
          <a:noFill/>
        </p:spPr>
        <p:txBody>
          <a:bodyPr wrap="square" anchor="t" lIns="45720" rIns="45720">
            <a:spAutoFit/>
          </a:bodyPr>
          <a:lstStyle/>
          <a:p>
            <a:pPr algn="l">
              <a:spcAft>
                <a:spcPts val="700"/>
              </a:spcAft>
            </a:pPr>
            <a:r>
              <a:rPr sz="2000" b="1">
                <a:solidFill>
                  <a:srgbClr val="FF9E1F"/>
                </a:solidFill>
                <a:latin typeface="Calibri"/>
              </a:rPr>
              <a:t>v7: play, rays, frames</a:t>
            </a:r>
          </a:p>
        </p:txBody>
      </p:sp>
      <p:sp>
        <p:nvSpPr>
          <p:cNvPr id="31" name="TextBox 30"/>
          <p:cNvSpPr txBox="1"/>
          <p:nvPr/>
        </p:nvSpPr>
        <p:spPr>
          <a:xfrm>
            <a:off x="8229600" y="2103120"/>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13</a:t>
            </a:r>
          </a:p>
        </p:txBody>
      </p:sp>
      <p:sp>
        <p:nvSpPr>
          <p:cNvPr id="32" name="TextBox 31"/>
          <p:cNvSpPr txBox="1"/>
          <p:nvPr/>
        </p:nvSpPr>
        <p:spPr>
          <a:xfrm>
            <a:off x="8778240" y="2103120"/>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Game camera, possession</a:t>
            </a:r>
          </a:p>
        </p:txBody>
      </p:sp>
      <p:sp>
        <p:nvSpPr>
          <p:cNvPr id="33" name="TextBox 32"/>
          <p:cNvSpPr txBox="1"/>
          <p:nvPr/>
        </p:nvSpPr>
        <p:spPr>
          <a:xfrm>
            <a:off x="8229600" y="2551176"/>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14</a:t>
            </a:r>
          </a:p>
        </p:txBody>
      </p:sp>
      <p:sp>
        <p:nvSpPr>
          <p:cNvPr id="34" name="TextBox 33"/>
          <p:cNvSpPr txBox="1"/>
          <p:nvPr/>
        </p:nvSpPr>
        <p:spPr>
          <a:xfrm>
            <a:off x="8778240" y="2551176"/>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Whitted, path, light tracing</a:t>
            </a:r>
          </a:p>
        </p:txBody>
      </p:sp>
      <p:sp>
        <p:nvSpPr>
          <p:cNvPr id="35" name="TextBox 34"/>
          <p:cNvSpPr txBox="1"/>
          <p:nvPr/>
        </p:nvSpPr>
        <p:spPr>
          <a:xfrm>
            <a:off x="8229600" y="2999232"/>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15</a:t>
            </a:r>
          </a:p>
        </p:txBody>
      </p:sp>
      <p:sp>
        <p:nvSpPr>
          <p:cNvPr id="36" name="TextBox 35"/>
          <p:cNvSpPr txBox="1"/>
          <p:nvPr/>
        </p:nvSpPr>
        <p:spPr>
          <a:xfrm>
            <a:off x="8778240" y="2999232"/>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BVH and SAH</a:t>
            </a:r>
          </a:p>
        </p:txBody>
      </p:sp>
      <p:sp>
        <p:nvSpPr>
          <p:cNvPr id="37" name="TextBox 36"/>
          <p:cNvSpPr txBox="1"/>
          <p:nvPr/>
        </p:nvSpPr>
        <p:spPr>
          <a:xfrm>
            <a:off x="8229600" y="3447287"/>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16</a:t>
            </a:r>
          </a:p>
        </p:txBody>
      </p:sp>
      <p:sp>
        <p:nvSpPr>
          <p:cNvPr id="38" name="TextBox 37"/>
          <p:cNvSpPr txBox="1"/>
          <p:nvPr/>
        </p:nvSpPr>
        <p:spPr>
          <a:xfrm>
            <a:off x="8778240" y="3447287"/>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Ray-tree debugger</a:t>
            </a:r>
          </a:p>
        </p:txBody>
      </p:sp>
      <p:sp>
        <p:nvSpPr>
          <p:cNvPr id="39" name="TextBox 38"/>
          <p:cNvSpPr txBox="1"/>
          <p:nvPr/>
        </p:nvSpPr>
        <p:spPr>
          <a:xfrm>
            <a:off x="8229600" y="3895344"/>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17</a:t>
            </a:r>
          </a:p>
        </p:txBody>
      </p:sp>
      <p:sp>
        <p:nvSpPr>
          <p:cNvPr id="40" name="TextBox 39"/>
          <p:cNvSpPr txBox="1"/>
          <p:nvPr/>
        </p:nvSpPr>
        <p:spPr>
          <a:xfrm>
            <a:off x="8778240" y="3895344"/>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Ray tracing timings</a:t>
            </a:r>
          </a:p>
        </p:txBody>
      </p:sp>
      <p:sp>
        <p:nvSpPr>
          <p:cNvPr id="41" name="TextBox 40"/>
          <p:cNvSpPr txBox="1"/>
          <p:nvPr/>
        </p:nvSpPr>
        <p:spPr>
          <a:xfrm>
            <a:off x="8229600" y="4343400"/>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18</a:t>
            </a:r>
          </a:p>
        </p:txBody>
      </p:sp>
      <p:sp>
        <p:nvSpPr>
          <p:cNvPr id="42" name="TextBox 41"/>
          <p:cNvSpPr txBox="1"/>
          <p:nvPr/>
        </p:nvSpPr>
        <p:spPr>
          <a:xfrm>
            <a:off x="8778240" y="4343400"/>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Frame Explorer: 16 stages</a:t>
            </a:r>
          </a:p>
        </p:txBody>
      </p:sp>
      <p:sp>
        <p:nvSpPr>
          <p:cNvPr id="43" name="TextBox 42"/>
          <p:cNvSpPr txBox="1"/>
          <p:nvPr/>
        </p:nvSpPr>
        <p:spPr>
          <a:xfrm>
            <a:off x="8229600" y="4791456"/>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19</a:t>
            </a:r>
          </a:p>
        </p:txBody>
      </p:sp>
      <p:sp>
        <p:nvSpPr>
          <p:cNvPr id="44" name="TextBox 43"/>
          <p:cNvSpPr txBox="1"/>
          <p:nvPr/>
        </p:nvSpPr>
        <p:spPr>
          <a:xfrm>
            <a:off x="8778240" y="4791456"/>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Colour interpolation</a:t>
            </a:r>
          </a:p>
        </p:txBody>
      </p:sp>
      <p:sp>
        <p:nvSpPr>
          <p:cNvPr id="45" name="TextBox 44"/>
          <p:cNvSpPr txBox="1"/>
          <p:nvPr/>
        </p:nvSpPr>
        <p:spPr>
          <a:xfrm>
            <a:off x="8229600" y="5239512"/>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20</a:t>
            </a:r>
          </a:p>
        </p:txBody>
      </p:sp>
      <p:sp>
        <p:nvSpPr>
          <p:cNvPr id="46" name="TextBox 45"/>
          <p:cNvSpPr txBox="1"/>
          <p:nvPr/>
        </p:nvSpPr>
        <p:spPr>
          <a:xfrm>
            <a:off x="8778240" y="5239512"/>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Reflection: SSR vs RT</a:t>
            </a:r>
          </a:p>
        </p:txBody>
      </p:sp>
      <p:sp>
        <p:nvSpPr>
          <p:cNvPr id="47" name="TextBox 46"/>
          <p:cNvSpPr txBox="1"/>
          <p:nvPr/>
        </p:nvSpPr>
        <p:spPr>
          <a:xfrm>
            <a:off x="8229600" y="5687568"/>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21</a:t>
            </a:r>
          </a:p>
        </p:txBody>
      </p:sp>
      <p:sp>
        <p:nvSpPr>
          <p:cNvPr id="48" name="TextBox 47"/>
          <p:cNvSpPr txBox="1"/>
          <p:nvPr/>
        </p:nvSpPr>
        <p:spPr>
          <a:xfrm>
            <a:off x="8778240" y="5687568"/>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Results</a:t>
            </a:r>
          </a:p>
        </p:txBody>
      </p:sp>
      <p:sp>
        <p:nvSpPr>
          <p:cNvPr id="49" name="TextBox 48"/>
          <p:cNvSpPr txBox="1"/>
          <p:nvPr/>
        </p:nvSpPr>
        <p:spPr>
          <a:xfrm>
            <a:off x="8229600" y="6135624"/>
            <a:ext cx="548640" cy="41148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22</a:t>
            </a:r>
          </a:p>
        </p:txBody>
      </p:sp>
      <p:sp>
        <p:nvSpPr>
          <p:cNvPr id="50" name="TextBox 49"/>
          <p:cNvSpPr txBox="1"/>
          <p:nvPr/>
        </p:nvSpPr>
        <p:spPr>
          <a:xfrm>
            <a:off x="8778240" y="6135624"/>
            <a:ext cx="3063240" cy="411480"/>
          </a:xfrm>
          <a:prstGeom prst="rect">
            <a:avLst/>
          </a:prstGeom>
          <a:noFill/>
        </p:spPr>
        <p:txBody>
          <a:bodyPr wrap="square" anchor="t" lIns="45720" rIns="45720">
            <a:spAutoFit/>
          </a:bodyPr>
          <a:lstStyle/>
          <a:p>
            <a:pPr algn="l">
              <a:spcAft>
                <a:spcPts val="594"/>
              </a:spcAft>
            </a:pPr>
            <a:r>
              <a:rPr sz="1700" b="0">
                <a:solidFill>
                  <a:srgbClr val="FFFFFF"/>
                </a:solidFill>
                <a:latin typeface="Calibri"/>
              </a:rPr>
              <a:t>Demo video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3  |  GOAL</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Goal and requirements history</a:t>
            </a:r>
          </a:p>
        </p:txBody>
      </p:sp>
      <p:sp>
        <p:nvSpPr>
          <p:cNvPr id="5" name="Rectangle 4"/>
          <p:cNvSpPr/>
          <p:nvPr/>
        </p:nvSpPr>
        <p:spPr>
          <a:xfrm>
            <a:off x="457200" y="1600200"/>
            <a:ext cx="1316736" cy="73152"/>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37360"/>
            <a:ext cx="1316736" cy="457200"/>
          </a:xfrm>
          <a:prstGeom prst="rect">
            <a:avLst/>
          </a:prstGeom>
          <a:noFill/>
        </p:spPr>
        <p:txBody>
          <a:bodyPr wrap="square" anchor="t" lIns="45720" rIns="45720">
            <a:spAutoFit/>
          </a:bodyPr>
          <a:lstStyle/>
          <a:p>
            <a:pPr algn="l">
              <a:spcAft>
                <a:spcPts val="630"/>
              </a:spcAft>
            </a:pPr>
            <a:r>
              <a:rPr sz="1800" b="1">
                <a:solidFill>
                  <a:srgbClr val="FFFFFF"/>
                </a:solidFill>
                <a:latin typeface="Calibri"/>
              </a:rPr>
              <a:t>Lab sheet</a:t>
            </a:r>
          </a:p>
        </p:txBody>
      </p:sp>
      <p:sp>
        <p:nvSpPr>
          <p:cNvPr id="7" name="TextBox 6"/>
          <p:cNvSpPr txBox="1"/>
          <p:nvPr/>
        </p:nvSpPr>
        <p:spPr>
          <a:xfrm>
            <a:off x="457200" y="2240280"/>
            <a:ext cx="1316736" cy="173736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Unit cube, sphere, cylinder; M = T·R·S; VAO/VBO/EBO</a:t>
            </a:r>
          </a:p>
        </p:txBody>
      </p:sp>
      <p:sp>
        <p:nvSpPr>
          <p:cNvPr id="8" name="Rectangle 7"/>
          <p:cNvSpPr/>
          <p:nvPr/>
        </p:nvSpPr>
        <p:spPr>
          <a:xfrm>
            <a:off x="1865376" y="1600200"/>
            <a:ext cx="1316736" cy="73152"/>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65376" y="1737360"/>
            <a:ext cx="1316736" cy="457200"/>
          </a:xfrm>
          <a:prstGeom prst="rect">
            <a:avLst/>
          </a:prstGeom>
          <a:noFill/>
        </p:spPr>
        <p:txBody>
          <a:bodyPr wrap="square" anchor="t" lIns="45720" rIns="45720">
            <a:spAutoFit/>
          </a:bodyPr>
          <a:lstStyle/>
          <a:p>
            <a:pPr algn="l">
              <a:spcAft>
                <a:spcPts val="630"/>
              </a:spcAft>
            </a:pPr>
            <a:r>
              <a:rPr sz="1800" b="1">
                <a:solidFill>
                  <a:srgbClr val="FFFFFF"/>
                </a:solidFill>
                <a:latin typeface="Calibri"/>
              </a:rPr>
              <a:t>Proposal</a:t>
            </a:r>
          </a:p>
        </p:txBody>
      </p:sp>
      <p:sp>
        <p:nvSpPr>
          <p:cNvPr id="10" name="TextBox 9"/>
          <p:cNvSpPr txBox="1"/>
          <p:nvPr/>
        </p:nvSpPr>
        <p:spPr>
          <a:xfrm>
            <a:off x="1865376" y="2240280"/>
            <a:ext cx="1316736" cy="173736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Flat / Gouraud / Phong, 3 lights, Z-buffer, thermal map</a:t>
            </a:r>
          </a:p>
        </p:txBody>
      </p:sp>
      <p:sp>
        <p:nvSpPr>
          <p:cNvPr id="11" name="Rectangle 10"/>
          <p:cNvSpPr/>
          <p:nvPr/>
        </p:nvSpPr>
        <p:spPr>
          <a:xfrm>
            <a:off x="3273552" y="1600200"/>
            <a:ext cx="1316736" cy="73152"/>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73552" y="1737360"/>
            <a:ext cx="1316736" cy="457200"/>
          </a:xfrm>
          <a:prstGeom prst="rect">
            <a:avLst/>
          </a:prstGeom>
          <a:noFill/>
        </p:spPr>
        <p:txBody>
          <a:bodyPr wrap="square" anchor="t" lIns="45720" rIns="45720">
            <a:spAutoFit/>
          </a:bodyPr>
          <a:lstStyle/>
          <a:p>
            <a:pPr algn="l">
              <a:spcAft>
                <a:spcPts val="630"/>
              </a:spcAft>
            </a:pPr>
            <a:r>
              <a:rPr sz="1800" b="1">
                <a:solidFill>
                  <a:srgbClr val="FFFFFF"/>
                </a:solidFill>
                <a:latin typeface="Calibri"/>
              </a:rPr>
              <a:t>v2</a:t>
            </a:r>
          </a:p>
        </p:txBody>
      </p:sp>
      <p:sp>
        <p:nvSpPr>
          <p:cNvPr id="13" name="TextBox 12"/>
          <p:cNvSpPr txBox="1"/>
          <p:nvPr/>
        </p:nvSpPr>
        <p:spPr>
          <a:xfrm>
            <a:off x="3273552" y="2240280"/>
            <a:ext cx="1316736" cy="173736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PBR, shadows, SSAO, fog; thermal tracker; MicroMouse rover</a:t>
            </a:r>
          </a:p>
        </p:txBody>
      </p:sp>
      <p:sp>
        <p:nvSpPr>
          <p:cNvPr id="14" name="Rectangle 13"/>
          <p:cNvSpPr/>
          <p:nvPr/>
        </p:nvSpPr>
        <p:spPr>
          <a:xfrm>
            <a:off x="4681728" y="1600200"/>
            <a:ext cx="1316736" cy="73152"/>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1737360"/>
            <a:ext cx="1316736" cy="457200"/>
          </a:xfrm>
          <a:prstGeom prst="rect">
            <a:avLst/>
          </a:prstGeom>
          <a:noFill/>
        </p:spPr>
        <p:txBody>
          <a:bodyPr wrap="square" anchor="t" lIns="45720" rIns="45720">
            <a:spAutoFit/>
          </a:bodyPr>
          <a:lstStyle/>
          <a:p>
            <a:pPr algn="l">
              <a:spcAft>
                <a:spcPts val="630"/>
              </a:spcAft>
            </a:pPr>
            <a:r>
              <a:rPr sz="1800" b="1">
                <a:solidFill>
                  <a:srgbClr val="FFFFFF"/>
                </a:solidFill>
                <a:latin typeface="Calibri"/>
              </a:rPr>
              <a:t>v3</a:t>
            </a:r>
          </a:p>
        </p:txBody>
      </p:sp>
      <p:sp>
        <p:nvSpPr>
          <p:cNvPr id="16" name="TextBox 15"/>
          <p:cNvSpPr txBox="1"/>
          <p:nvPr/>
        </p:nvSpPr>
        <p:spPr>
          <a:xfrm>
            <a:off x="4681728" y="2240280"/>
            <a:ext cx="1316736" cy="173736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RTX 4070 EPIC preset, first-person FLIR, TAA, SSR</a:t>
            </a:r>
          </a:p>
        </p:txBody>
      </p:sp>
      <p:sp>
        <p:nvSpPr>
          <p:cNvPr id="17" name="Rectangle 16"/>
          <p:cNvSpPr/>
          <p:nvPr/>
        </p:nvSpPr>
        <p:spPr>
          <a:xfrm>
            <a:off x="6089904" y="1600200"/>
            <a:ext cx="1316736" cy="73152"/>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9904" y="1737360"/>
            <a:ext cx="1316736" cy="457200"/>
          </a:xfrm>
          <a:prstGeom prst="rect">
            <a:avLst/>
          </a:prstGeom>
          <a:noFill/>
        </p:spPr>
        <p:txBody>
          <a:bodyPr wrap="square" anchor="t" lIns="45720" rIns="45720">
            <a:spAutoFit/>
          </a:bodyPr>
          <a:lstStyle/>
          <a:p>
            <a:pPr algn="l">
              <a:spcAft>
                <a:spcPts val="630"/>
              </a:spcAft>
            </a:pPr>
            <a:r>
              <a:rPr sz="1800" b="1">
                <a:solidFill>
                  <a:srgbClr val="FFFFFF"/>
                </a:solidFill>
                <a:latin typeface="Calibri"/>
              </a:rPr>
              <a:t>v4</a:t>
            </a:r>
          </a:p>
        </p:txBody>
      </p:sp>
      <p:sp>
        <p:nvSpPr>
          <p:cNvPr id="19" name="TextBox 18"/>
          <p:cNvSpPr txBox="1"/>
          <p:nvPr/>
        </p:nvSpPr>
        <p:spPr>
          <a:xfrm>
            <a:off x="6089904" y="2240280"/>
            <a:ext cx="1316736" cy="173736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Military base, walkable bunker, controllable vehicles</a:t>
            </a:r>
          </a:p>
        </p:txBody>
      </p:sp>
      <p:sp>
        <p:nvSpPr>
          <p:cNvPr id="20" name="Rectangle 19"/>
          <p:cNvSpPr/>
          <p:nvPr/>
        </p:nvSpPr>
        <p:spPr>
          <a:xfrm>
            <a:off x="7498079" y="1600200"/>
            <a:ext cx="1316736" cy="73152"/>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79" y="1737360"/>
            <a:ext cx="1316736" cy="457200"/>
          </a:xfrm>
          <a:prstGeom prst="rect">
            <a:avLst/>
          </a:prstGeom>
          <a:noFill/>
        </p:spPr>
        <p:txBody>
          <a:bodyPr wrap="square" anchor="t" lIns="45720" rIns="45720">
            <a:spAutoFit/>
          </a:bodyPr>
          <a:lstStyle/>
          <a:p>
            <a:pPr algn="l">
              <a:spcAft>
                <a:spcPts val="630"/>
              </a:spcAft>
            </a:pPr>
            <a:r>
              <a:rPr sz="1800" b="1">
                <a:solidFill>
                  <a:srgbClr val="FFFFFF"/>
                </a:solidFill>
                <a:latin typeface="Calibri"/>
              </a:rPr>
              <a:t>v5</a:t>
            </a:r>
          </a:p>
        </p:txBody>
      </p:sp>
      <p:sp>
        <p:nvSpPr>
          <p:cNvPr id="22" name="TextBox 21"/>
          <p:cNvSpPr txBox="1"/>
          <p:nvPr/>
        </p:nvSpPr>
        <p:spPr>
          <a:xfrm>
            <a:off x="7498079" y="2240280"/>
            <a:ext cx="1316736" cy="173736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Night Watch: 2 UAVs, CV tracker, waves, score, sound</a:t>
            </a:r>
          </a:p>
        </p:txBody>
      </p:sp>
      <p:sp>
        <p:nvSpPr>
          <p:cNvPr id="23" name="Rectangle 22"/>
          <p:cNvSpPr/>
          <p:nvPr/>
        </p:nvSpPr>
        <p:spPr>
          <a:xfrm>
            <a:off x="8906256" y="1600200"/>
            <a:ext cx="1316736" cy="73152"/>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06256" y="1737360"/>
            <a:ext cx="1316736" cy="457200"/>
          </a:xfrm>
          <a:prstGeom prst="rect">
            <a:avLst/>
          </a:prstGeom>
          <a:noFill/>
        </p:spPr>
        <p:txBody>
          <a:bodyPr wrap="square" anchor="t" lIns="45720" rIns="45720">
            <a:spAutoFit/>
          </a:bodyPr>
          <a:lstStyle/>
          <a:p>
            <a:pPr algn="l">
              <a:spcAft>
                <a:spcPts val="630"/>
              </a:spcAft>
            </a:pPr>
            <a:r>
              <a:rPr sz="1800" b="1">
                <a:solidFill>
                  <a:srgbClr val="FF9E1F"/>
                </a:solidFill>
                <a:latin typeface="Calibri"/>
              </a:rPr>
              <a:t>v6</a:t>
            </a:r>
          </a:p>
        </p:txBody>
      </p:sp>
      <p:sp>
        <p:nvSpPr>
          <p:cNvPr id="25" name="TextBox 24"/>
          <p:cNvSpPr txBox="1"/>
          <p:nvPr/>
        </p:nvSpPr>
        <p:spPr>
          <a:xfrm>
            <a:off x="8906256" y="2240280"/>
            <a:ext cx="1316736" cy="173736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Day/night cycle, 8 soldiers, random routes, sensor noise</a:t>
            </a:r>
          </a:p>
        </p:txBody>
      </p:sp>
      <p:sp>
        <p:nvSpPr>
          <p:cNvPr id="26" name="Rectangle 25"/>
          <p:cNvSpPr/>
          <p:nvPr/>
        </p:nvSpPr>
        <p:spPr>
          <a:xfrm>
            <a:off x="10314432" y="1600200"/>
            <a:ext cx="1316736" cy="73152"/>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14432" y="1737360"/>
            <a:ext cx="1316736" cy="457200"/>
          </a:xfrm>
          <a:prstGeom prst="rect">
            <a:avLst/>
          </a:prstGeom>
          <a:noFill/>
        </p:spPr>
        <p:txBody>
          <a:bodyPr wrap="square" anchor="t" lIns="45720" rIns="45720">
            <a:spAutoFit/>
          </a:bodyPr>
          <a:lstStyle/>
          <a:p>
            <a:pPr algn="l">
              <a:spcAft>
                <a:spcPts val="630"/>
              </a:spcAft>
            </a:pPr>
            <a:r>
              <a:rPr sz="1800" b="1">
                <a:solidFill>
                  <a:srgbClr val="FF9E1F"/>
                </a:solidFill>
                <a:latin typeface="Calibri"/>
              </a:rPr>
              <a:t>v7</a:t>
            </a:r>
          </a:p>
        </p:txBody>
      </p:sp>
      <p:sp>
        <p:nvSpPr>
          <p:cNvPr id="28" name="TextBox 27"/>
          <p:cNvSpPr txBox="1"/>
          <p:nvPr/>
        </p:nvSpPr>
        <p:spPr>
          <a:xfrm>
            <a:off x="10314432" y="2240280"/>
            <a:ext cx="1316736" cy="173736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First person anywhere, ray tracing, Frame Explorer</a:t>
            </a:r>
          </a:p>
        </p:txBody>
      </p:sp>
      <p:pic>
        <p:nvPicPr>
          <p:cNvPr id="29" name="Picture 28" descr="img1.jpg"/>
          <p:cNvPicPr>
            <a:picLocks noChangeAspect="1"/>
          </p:cNvPicPr>
          <p:nvPr/>
        </p:nvPicPr>
        <p:blipFill>
          <a:blip r:embed="rId3"/>
          <a:srcRect t="8519" b="8519"/>
          <a:stretch>
            <a:fillRect/>
          </a:stretch>
        </p:blipFill>
        <p:spPr>
          <a:xfrm>
            <a:off x="457200" y="4069080"/>
            <a:ext cx="5486400" cy="2560320"/>
          </a:xfrm>
          <a:prstGeom prst="rect">
            <a:avLst/>
          </a:prstGeom>
        </p:spPr>
      </p:pic>
      <p:sp>
        <p:nvSpPr>
          <p:cNvPr id="30" name="Rectangle 29"/>
          <p:cNvSpPr/>
          <p:nvPr/>
        </p:nvSpPr>
        <p:spPr>
          <a:xfrm>
            <a:off x="457200" y="6281928"/>
            <a:ext cx="54864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281928"/>
            <a:ext cx="54864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v5: top-down plan, night</a:t>
            </a:r>
          </a:p>
        </p:txBody>
      </p:sp>
      <p:pic>
        <p:nvPicPr>
          <p:cNvPr id="32" name="Picture 31" descr="img2.jpg"/>
          <p:cNvPicPr>
            <a:picLocks noChangeAspect="1"/>
          </p:cNvPicPr>
          <p:nvPr/>
        </p:nvPicPr>
        <p:blipFill>
          <a:blip r:embed="rId4"/>
          <a:srcRect t="8519" b="8519"/>
          <a:stretch>
            <a:fillRect/>
          </a:stretch>
        </p:blipFill>
        <p:spPr>
          <a:xfrm>
            <a:off x="6245352" y="4069080"/>
            <a:ext cx="5486400" cy="2560320"/>
          </a:xfrm>
          <a:prstGeom prst="rect">
            <a:avLst/>
          </a:prstGeom>
        </p:spPr>
      </p:pic>
      <p:sp>
        <p:nvSpPr>
          <p:cNvPr id="33" name="Rectangle 32"/>
          <p:cNvSpPr/>
          <p:nvPr/>
        </p:nvSpPr>
        <p:spPr>
          <a:xfrm>
            <a:off x="6245352" y="6281928"/>
            <a:ext cx="54864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5352" y="6281928"/>
            <a:ext cx="54864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v6: the same camp by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4  |  CONSTRUCTION</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Building with primitives</a:t>
            </a:r>
          </a:p>
        </p:txBody>
      </p:sp>
      <p:pic>
        <p:nvPicPr>
          <p:cNvPr id="5" name="Picture 4" descr="img3.jpg"/>
          <p:cNvPicPr>
            <a:picLocks noChangeAspect="1"/>
          </p:cNvPicPr>
          <p:nvPr/>
        </p:nvPicPr>
        <p:blipFill>
          <a:blip r:embed="rId3"/>
          <a:srcRect t="12295" b="12295"/>
          <a:stretch>
            <a:fillRect/>
          </a:stretch>
        </p:blipFill>
        <p:spPr>
          <a:xfrm>
            <a:off x="457200" y="1554480"/>
            <a:ext cx="5577840" cy="2103120"/>
          </a:xfrm>
          <a:prstGeom prst="rect">
            <a:avLst/>
          </a:prstGeom>
        </p:spPr>
      </p:pic>
      <p:pic>
        <p:nvPicPr>
          <p:cNvPr id="6" name="Picture 5" descr="img4.jpg"/>
          <p:cNvPicPr>
            <a:picLocks noChangeAspect="1"/>
          </p:cNvPicPr>
          <p:nvPr/>
        </p:nvPicPr>
        <p:blipFill>
          <a:blip r:embed="rId4"/>
          <a:srcRect l="12500" r="12500"/>
          <a:stretch>
            <a:fillRect/>
          </a:stretch>
        </p:blipFill>
        <p:spPr>
          <a:xfrm>
            <a:off x="457200" y="3794760"/>
            <a:ext cx="2743200" cy="2743200"/>
          </a:xfrm>
          <a:prstGeom prst="rect">
            <a:avLst/>
          </a:prstGeom>
        </p:spPr>
      </p:pic>
      <p:pic>
        <p:nvPicPr>
          <p:cNvPr id="7" name="Picture 6" descr="img5.jpg"/>
          <p:cNvPicPr>
            <a:picLocks noChangeAspect="1"/>
          </p:cNvPicPr>
          <p:nvPr/>
        </p:nvPicPr>
        <p:blipFill>
          <a:blip r:embed="rId5"/>
          <a:srcRect l="10000" r="10000"/>
          <a:stretch>
            <a:fillRect/>
          </a:stretch>
        </p:blipFill>
        <p:spPr>
          <a:xfrm>
            <a:off x="3291840" y="3794760"/>
            <a:ext cx="2743200" cy="2743200"/>
          </a:xfrm>
          <a:prstGeom prst="rect">
            <a:avLst/>
          </a:prstGeom>
        </p:spPr>
      </p:pic>
      <p:sp>
        <p:nvSpPr>
          <p:cNvPr id="8" name="TextBox 7"/>
          <p:cNvSpPr txBox="1"/>
          <p:nvPr/>
        </p:nvSpPr>
        <p:spPr>
          <a:xfrm>
            <a:off x="6400800" y="1600200"/>
            <a:ext cx="5303520" cy="548640"/>
          </a:xfrm>
          <a:prstGeom prst="rect">
            <a:avLst/>
          </a:prstGeom>
          <a:noFill/>
        </p:spPr>
        <p:txBody>
          <a:bodyPr wrap="square" anchor="t" lIns="45720" rIns="45720">
            <a:spAutoFit/>
          </a:bodyPr>
          <a:lstStyle/>
          <a:p>
            <a:pPr algn="l">
              <a:spcAft>
                <a:spcPts val="700"/>
              </a:spcAft>
            </a:pPr>
            <a:r>
              <a:rPr sz="2000" b="1">
                <a:solidFill>
                  <a:srgbClr val="FF9E1F"/>
                </a:solidFill>
                <a:latin typeface="Calibri"/>
              </a:rPr>
              <a:t>cube + sphere + cylinder → objects</a:t>
            </a:r>
          </a:p>
        </p:txBody>
      </p:sp>
      <p:sp>
        <p:nvSpPr>
          <p:cNvPr id="9" name="TextBox 8"/>
          <p:cNvSpPr txBox="1"/>
          <p:nvPr/>
        </p:nvSpPr>
        <p:spPr>
          <a:xfrm>
            <a:off x="6400800" y="2148840"/>
            <a:ext cx="5303520" cy="548640"/>
          </a:xfrm>
          <a:prstGeom prst="rect">
            <a:avLst/>
          </a:prstGeom>
          <a:noFill/>
        </p:spPr>
        <p:txBody>
          <a:bodyPr wrap="square" anchor="t" lIns="45720" rIns="45720">
            <a:spAutoFit/>
          </a:bodyPr>
          <a:lstStyle/>
          <a:p>
            <a:pPr algn="l">
              <a:spcAft>
                <a:spcPts val="700"/>
              </a:spcAft>
            </a:pPr>
            <a:r>
              <a:rPr sz="2000" b="0">
                <a:solidFill>
                  <a:srgbClr val="FFFFFF"/>
                </a:solidFill>
                <a:latin typeface="Calibri"/>
              </a:rPr>
              <a:t>M = T · R · S per part, parent × child</a:t>
            </a:r>
          </a:p>
        </p:txBody>
      </p:sp>
      <p:sp>
        <p:nvSpPr>
          <p:cNvPr id="10" name="Rectangle 9"/>
          <p:cNvSpPr/>
          <p:nvPr/>
        </p:nvSpPr>
        <p:spPr>
          <a:xfrm>
            <a:off x="6400800" y="2926080"/>
            <a:ext cx="256032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944368"/>
            <a:ext cx="256032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5,414</a:t>
            </a:r>
          </a:p>
        </p:txBody>
      </p:sp>
      <p:sp>
        <p:nvSpPr>
          <p:cNvPr id="12" name="TextBox 11"/>
          <p:cNvSpPr txBox="1"/>
          <p:nvPr/>
        </p:nvSpPr>
        <p:spPr>
          <a:xfrm>
            <a:off x="6400800" y="3546500"/>
            <a:ext cx="256032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primitive leaves</a:t>
            </a:r>
          </a:p>
        </p:txBody>
      </p:sp>
      <p:sp>
        <p:nvSpPr>
          <p:cNvPr id="13" name="Rectangle 12"/>
          <p:cNvSpPr/>
          <p:nvPr/>
        </p:nvSpPr>
        <p:spPr>
          <a:xfrm>
            <a:off x="9098280" y="2926080"/>
            <a:ext cx="256032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944368"/>
            <a:ext cx="256032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400</a:t>
            </a:r>
          </a:p>
        </p:txBody>
      </p:sp>
      <p:sp>
        <p:nvSpPr>
          <p:cNvPr id="15" name="TextBox 14"/>
          <p:cNvSpPr txBox="1"/>
          <p:nvPr/>
        </p:nvSpPr>
        <p:spPr>
          <a:xfrm>
            <a:off x="9098280" y="3546500"/>
            <a:ext cx="256032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bunker parts</a:t>
            </a:r>
          </a:p>
        </p:txBody>
      </p:sp>
      <p:sp>
        <p:nvSpPr>
          <p:cNvPr id="16" name="Rectangle 15"/>
          <p:cNvSpPr/>
          <p:nvPr/>
        </p:nvSpPr>
        <p:spPr>
          <a:xfrm>
            <a:off x="6400800" y="4114800"/>
            <a:ext cx="256032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133087"/>
            <a:ext cx="256032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255</a:t>
            </a:r>
          </a:p>
        </p:txBody>
      </p:sp>
      <p:sp>
        <p:nvSpPr>
          <p:cNvPr id="18" name="TextBox 17"/>
          <p:cNvSpPr txBox="1"/>
          <p:nvPr/>
        </p:nvSpPr>
        <p:spPr>
          <a:xfrm>
            <a:off x="6400800" y="4735220"/>
            <a:ext cx="256032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tank parts</a:t>
            </a:r>
          </a:p>
        </p:txBody>
      </p:sp>
      <p:sp>
        <p:nvSpPr>
          <p:cNvPr id="19" name="Rectangle 18"/>
          <p:cNvSpPr/>
          <p:nvPr/>
        </p:nvSpPr>
        <p:spPr>
          <a:xfrm>
            <a:off x="9098280" y="4114800"/>
            <a:ext cx="256032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4133087"/>
            <a:ext cx="256032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75</a:t>
            </a:r>
          </a:p>
        </p:txBody>
      </p:sp>
      <p:sp>
        <p:nvSpPr>
          <p:cNvPr id="21" name="TextBox 20"/>
          <p:cNvSpPr txBox="1"/>
          <p:nvPr/>
        </p:nvSpPr>
        <p:spPr>
          <a:xfrm>
            <a:off x="9098280" y="4735220"/>
            <a:ext cx="256032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parts per soldier</a:t>
            </a:r>
          </a:p>
        </p:txBody>
      </p:sp>
      <p:sp>
        <p:nvSpPr>
          <p:cNvPr id="22" name="Rectangle 21"/>
          <p:cNvSpPr/>
          <p:nvPr/>
        </p:nvSpPr>
        <p:spPr>
          <a:xfrm>
            <a:off x="6400800" y="5303520"/>
            <a:ext cx="256032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5321808"/>
            <a:ext cx="256032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158</a:t>
            </a:r>
          </a:p>
        </p:txBody>
      </p:sp>
      <p:sp>
        <p:nvSpPr>
          <p:cNvPr id="24" name="TextBox 23"/>
          <p:cNvSpPr txBox="1"/>
          <p:nvPr/>
        </p:nvSpPr>
        <p:spPr>
          <a:xfrm>
            <a:off x="6400800" y="5923940"/>
            <a:ext cx="256032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UAV parts</a:t>
            </a:r>
          </a:p>
        </p:txBody>
      </p:sp>
      <p:sp>
        <p:nvSpPr>
          <p:cNvPr id="25" name="Rectangle 24"/>
          <p:cNvSpPr/>
          <p:nvPr/>
        </p:nvSpPr>
        <p:spPr>
          <a:xfrm>
            <a:off x="9098280" y="5303520"/>
            <a:ext cx="256032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5321808"/>
            <a:ext cx="256032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1253</a:t>
            </a:r>
          </a:p>
        </p:txBody>
      </p:sp>
      <p:sp>
        <p:nvSpPr>
          <p:cNvPr id="27" name="TextBox 26"/>
          <p:cNvSpPr txBox="1"/>
          <p:nvPr/>
        </p:nvSpPr>
        <p:spPr>
          <a:xfrm>
            <a:off x="9098280" y="5923940"/>
            <a:ext cx="256032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base apron parts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5  |  ENVIRONMENT</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Hidden army camp and underground bunker</a:t>
            </a:r>
          </a:p>
        </p:txBody>
      </p:sp>
      <p:pic>
        <p:nvPicPr>
          <p:cNvPr id="5" name="Picture 4" descr="img6.jpg"/>
          <p:cNvPicPr>
            <a:picLocks noChangeAspect="1"/>
          </p:cNvPicPr>
          <p:nvPr/>
        </p:nvPicPr>
        <p:blipFill>
          <a:blip r:embed="rId3"/>
          <a:srcRect t="455" b="455"/>
          <a:stretch>
            <a:fillRect/>
          </a:stretch>
        </p:blipFill>
        <p:spPr>
          <a:xfrm>
            <a:off x="457200" y="1463040"/>
            <a:ext cx="5577840" cy="3108960"/>
          </a:xfrm>
          <a:prstGeom prst="rect">
            <a:avLst/>
          </a:prstGeom>
        </p:spPr>
      </p:pic>
      <p:sp>
        <p:nvSpPr>
          <p:cNvPr id="6" name="Rectangle 5"/>
          <p:cNvSpPr/>
          <p:nvPr/>
        </p:nvSpPr>
        <p:spPr>
          <a:xfrm>
            <a:off x="457200" y="4224528"/>
            <a:ext cx="55778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224528"/>
            <a:ext cx="55778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Camp under camo nets, light discipline</a:t>
            </a:r>
          </a:p>
        </p:txBody>
      </p:sp>
      <p:pic>
        <p:nvPicPr>
          <p:cNvPr id="8" name="Picture 7" descr="img7.jpg"/>
          <p:cNvPicPr>
            <a:picLocks noChangeAspect="1"/>
          </p:cNvPicPr>
          <p:nvPr/>
        </p:nvPicPr>
        <p:blipFill>
          <a:blip r:embed="rId4"/>
          <a:srcRect l="25184" r="25184"/>
          <a:stretch>
            <a:fillRect/>
          </a:stretch>
        </p:blipFill>
        <p:spPr>
          <a:xfrm>
            <a:off x="6153912" y="1463040"/>
            <a:ext cx="2743200" cy="3108960"/>
          </a:xfrm>
          <a:prstGeom prst="rect">
            <a:avLst/>
          </a:prstGeom>
        </p:spPr>
      </p:pic>
      <p:sp>
        <p:nvSpPr>
          <p:cNvPr id="9" name="Rectangle 8"/>
          <p:cNvSpPr/>
          <p:nvPr/>
        </p:nvSpPr>
        <p:spPr>
          <a:xfrm>
            <a:off x="6153912" y="4224528"/>
            <a:ext cx="27432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53912" y="4224528"/>
            <a:ext cx="27432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SAM launcher</a:t>
            </a:r>
          </a:p>
        </p:txBody>
      </p:sp>
      <p:pic>
        <p:nvPicPr>
          <p:cNvPr id="11" name="Picture 10" descr="img8.jpg"/>
          <p:cNvPicPr>
            <a:picLocks noChangeAspect="1"/>
          </p:cNvPicPr>
          <p:nvPr/>
        </p:nvPicPr>
        <p:blipFill>
          <a:blip r:embed="rId5"/>
          <a:srcRect l="25184" r="25184"/>
          <a:stretch>
            <a:fillRect/>
          </a:stretch>
        </p:blipFill>
        <p:spPr>
          <a:xfrm>
            <a:off x="8988552" y="1463040"/>
            <a:ext cx="2743200" cy="3108960"/>
          </a:xfrm>
          <a:prstGeom prst="rect">
            <a:avLst/>
          </a:prstGeom>
        </p:spPr>
      </p:pic>
      <p:sp>
        <p:nvSpPr>
          <p:cNvPr id="12" name="Rectangle 11"/>
          <p:cNvSpPr/>
          <p:nvPr/>
        </p:nvSpPr>
        <p:spPr>
          <a:xfrm>
            <a:off x="8988552" y="4224528"/>
            <a:ext cx="27432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88552" y="4224528"/>
            <a:ext cx="27432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MLRS truck</a:t>
            </a:r>
          </a:p>
        </p:txBody>
      </p:sp>
      <p:pic>
        <p:nvPicPr>
          <p:cNvPr id="14" name="Picture 13" descr="img9.jpg"/>
          <p:cNvPicPr>
            <a:picLocks noChangeAspect="1"/>
          </p:cNvPicPr>
          <p:nvPr/>
        </p:nvPicPr>
        <p:blipFill>
          <a:blip r:embed="rId6"/>
          <a:srcRect t="3333" b="3333"/>
          <a:stretch>
            <a:fillRect/>
          </a:stretch>
        </p:blipFill>
        <p:spPr>
          <a:xfrm>
            <a:off x="457200" y="4709160"/>
            <a:ext cx="3657600" cy="1920240"/>
          </a:xfrm>
          <a:prstGeom prst="rect">
            <a:avLst/>
          </a:prstGeom>
        </p:spPr>
      </p:pic>
      <p:sp>
        <p:nvSpPr>
          <p:cNvPr id="15" name="Rectangle 14"/>
          <p:cNvSpPr/>
          <p:nvPr/>
        </p:nvSpPr>
        <p:spPr>
          <a:xfrm>
            <a:off x="457200" y="628192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28192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Command room (walkable)</a:t>
            </a:r>
          </a:p>
        </p:txBody>
      </p:sp>
      <p:pic>
        <p:nvPicPr>
          <p:cNvPr id="17" name="Picture 16" descr="img10.jpg"/>
          <p:cNvPicPr>
            <a:picLocks noChangeAspect="1"/>
          </p:cNvPicPr>
          <p:nvPr/>
        </p:nvPicPr>
        <p:blipFill>
          <a:blip r:embed="rId7"/>
          <a:srcRect t="3333" b="3333"/>
          <a:stretch>
            <a:fillRect/>
          </a:stretch>
        </p:blipFill>
        <p:spPr>
          <a:xfrm>
            <a:off x="4251960" y="4709160"/>
            <a:ext cx="3657600" cy="1920240"/>
          </a:xfrm>
          <a:prstGeom prst="rect">
            <a:avLst/>
          </a:prstGeom>
        </p:spPr>
      </p:pic>
      <p:sp>
        <p:nvSpPr>
          <p:cNvPr id="18" name="Rectangle 17"/>
          <p:cNvSpPr/>
          <p:nvPr/>
        </p:nvSpPr>
        <p:spPr>
          <a:xfrm>
            <a:off x="4251960" y="628192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628192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Tunnel and blast door</a:t>
            </a:r>
          </a:p>
        </p:txBody>
      </p:sp>
      <p:sp>
        <p:nvSpPr>
          <p:cNvPr id="20" name="Rectangle 19"/>
          <p:cNvSpPr/>
          <p:nvPr/>
        </p:nvSpPr>
        <p:spPr>
          <a:xfrm>
            <a:off x="8074152" y="4709160"/>
            <a:ext cx="178308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4152" y="4727448"/>
            <a:ext cx="178308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1253</a:t>
            </a:r>
          </a:p>
        </p:txBody>
      </p:sp>
      <p:sp>
        <p:nvSpPr>
          <p:cNvPr id="22" name="TextBox 21"/>
          <p:cNvSpPr txBox="1"/>
          <p:nvPr/>
        </p:nvSpPr>
        <p:spPr>
          <a:xfrm>
            <a:off x="8074152" y="5329580"/>
            <a:ext cx="178308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base parts</a:t>
            </a:r>
          </a:p>
        </p:txBody>
      </p:sp>
      <p:sp>
        <p:nvSpPr>
          <p:cNvPr id="23" name="Rectangle 22"/>
          <p:cNvSpPr/>
          <p:nvPr/>
        </p:nvSpPr>
        <p:spPr>
          <a:xfrm>
            <a:off x="9948672" y="4709160"/>
            <a:ext cx="178308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48672" y="4727448"/>
            <a:ext cx="178308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400</a:t>
            </a:r>
          </a:p>
        </p:txBody>
      </p:sp>
      <p:sp>
        <p:nvSpPr>
          <p:cNvPr id="25" name="TextBox 24"/>
          <p:cNvSpPr txBox="1"/>
          <p:nvPr/>
        </p:nvSpPr>
        <p:spPr>
          <a:xfrm>
            <a:off x="9948672" y="5329580"/>
            <a:ext cx="178308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bunker parts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6  |  CONTROL</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Controllable objects and complex motion</a:t>
            </a:r>
          </a:p>
        </p:txBody>
      </p:sp>
      <p:pic>
        <p:nvPicPr>
          <p:cNvPr id="5" name="Picture 4" descr="img11.jpg"/>
          <p:cNvPicPr>
            <a:picLocks noChangeAspect="1"/>
          </p:cNvPicPr>
          <p:nvPr/>
        </p:nvPicPr>
        <p:blipFill>
          <a:blip r:embed="rId3"/>
          <a:srcRect l="5882" r="5882"/>
          <a:stretch>
            <a:fillRect/>
          </a:stretch>
        </p:blipFill>
        <p:spPr>
          <a:xfrm>
            <a:off x="457200" y="1463040"/>
            <a:ext cx="3657600" cy="2331720"/>
          </a:xfrm>
          <a:prstGeom prst="rect">
            <a:avLst/>
          </a:prstGeom>
        </p:spPr>
      </p:pic>
      <p:sp>
        <p:nvSpPr>
          <p:cNvPr id="6" name="Rectangle 5"/>
          <p:cNvSpPr/>
          <p:nvPr/>
        </p:nvSpPr>
        <p:spPr>
          <a:xfrm>
            <a:off x="457200" y="344728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44728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Tank: 80 track links, turret</a:t>
            </a:r>
          </a:p>
        </p:txBody>
      </p:sp>
      <p:pic>
        <p:nvPicPr>
          <p:cNvPr id="8" name="Picture 7" descr="img12.jpg"/>
          <p:cNvPicPr>
            <a:picLocks noChangeAspect="1"/>
          </p:cNvPicPr>
          <p:nvPr/>
        </p:nvPicPr>
        <p:blipFill>
          <a:blip r:embed="rId4"/>
          <a:srcRect l="5882" r="5882"/>
          <a:stretch>
            <a:fillRect/>
          </a:stretch>
        </p:blipFill>
        <p:spPr>
          <a:xfrm>
            <a:off x="4251960" y="1463040"/>
            <a:ext cx="3657600" cy="2331720"/>
          </a:xfrm>
          <a:prstGeom prst="rect">
            <a:avLst/>
          </a:prstGeom>
        </p:spPr>
      </p:pic>
      <p:sp>
        <p:nvSpPr>
          <p:cNvPr id="9" name="Rectangle 8"/>
          <p:cNvSpPr/>
          <p:nvPr/>
        </p:nvSpPr>
        <p:spPr>
          <a:xfrm>
            <a:off x="4251960" y="344728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344728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Helicopter: rotor flapping</a:t>
            </a:r>
          </a:p>
        </p:txBody>
      </p:sp>
      <p:pic>
        <p:nvPicPr>
          <p:cNvPr id="11" name="Picture 10" descr="img13.jpg"/>
          <p:cNvPicPr>
            <a:picLocks noChangeAspect="1"/>
          </p:cNvPicPr>
          <p:nvPr/>
        </p:nvPicPr>
        <p:blipFill>
          <a:blip r:embed="rId5"/>
          <a:srcRect l="5882" r="5882"/>
          <a:stretch>
            <a:fillRect/>
          </a:stretch>
        </p:blipFill>
        <p:spPr>
          <a:xfrm>
            <a:off x="8046720" y="1463040"/>
            <a:ext cx="3657600" cy="2331720"/>
          </a:xfrm>
          <a:prstGeom prst="rect">
            <a:avLst/>
          </a:prstGeom>
        </p:spPr>
      </p:pic>
      <p:sp>
        <p:nvSpPr>
          <p:cNvPr id="12" name="Rectangle 11"/>
          <p:cNvSpPr/>
          <p:nvPr/>
        </p:nvSpPr>
        <p:spPr>
          <a:xfrm>
            <a:off x="8046720" y="344728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344728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SAM: turntable + canisters</a:t>
            </a:r>
          </a:p>
        </p:txBody>
      </p:sp>
      <p:pic>
        <p:nvPicPr>
          <p:cNvPr id="14" name="Picture 13" descr="img14.jpg"/>
          <p:cNvPicPr>
            <a:picLocks noChangeAspect="1"/>
          </p:cNvPicPr>
          <p:nvPr/>
        </p:nvPicPr>
        <p:blipFill>
          <a:blip r:embed="rId6"/>
          <a:srcRect t="5556" b="5556"/>
          <a:stretch>
            <a:fillRect/>
          </a:stretch>
        </p:blipFill>
        <p:spPr>
          <a:xfrm>
            <a:off x="457200" y="3931920"/>
            <a:ext cx="3657600" cy="1828800"/>
          </a:xfrm>
          <a:prstGeom prst="rect">
            <a:avLst/>
          </a:prstGeom>
        </p:spPr>
      </p:pic>
      <p:sp>
        <p:nvSpPr>
          <p:cNvPr id="15" name="Rectangle 14"/>
          <p:cNvSpPr/>
          <p:nvPr/>
        </p:nvSpPr>
        <p:spPr>
          <a:xfrm>
            <a:off x="457200" y="541324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541324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MLRS: 6x2 tube pod</a:t>
            </a:r>
          </a:p>
        </p:txBody>
      </p:sp>
      <p:pic>
        <p:nvPicPr>
          <p:cNvPr id="17" name="Picture 16" descr="img15.jpg"/>
          <p:cNvPicPr>
            <a:picLocks noChangeAspect="1"/>
          </p:cNvPicPr>
          <p:nvPr/>
        </p:nvPicPr>
        <p:blipFill>
          <a:blip r:embed="rId7"/>
          <a:srcRect t="5556" b="5556"/>
          <a:stretch>
            <a:fillRect/>
          </a:stretch>
        </p:blipFill>
        <p:spPr>
          <a:xfrm>
            <a:off x="4251960" y="3931920"/>
            <a:ext cx="3657600" cy="1828800"/>
          </a:xfrm>
          <a:prstGeom prst="rect">
            <a:avLst/>
          </a:prstGeom>
        </p:spPr>
      </p:pic>
      <p:sp>
        <p:nvSpPr>
          <p:cNvPr id="18" name="Rectangle 17"/>
          <p:cNvSpPr/>
          <p:nvPr/>
        </p:nvSpPr>
        <p:spPr>
          <a:xfrm>
            <a:off x="4251960" y="541324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541324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Radar, AA gun, doors, barrier</a:t>
            </a:r>
          </a:p>
        </p:txBody>
      </p:sp>
      <p:sp>
        <p:nvSpPr>
          <p:cNvPr id="20" name="Rectangle 19"/>
          <p:cNvSpPr/>
          <p:nvPr/>
        </p:nvSpPr>
        <p:spPr>
          <a:xfrm>
            <a:off x="8046720" y="3931920"/>
            <a:ext cx="3657600" cy="182880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977639"/>
            <a:ext cx="3474720" cy="1737360"/>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Key map</a:t>
            </a:r>
          </a:p>
          <a:p>
            <a:pPr algn="l">
              <a:spcAft>
                <a:spcPts val="525"/>
              </a:spcAft>
            </a:pPr>
            <a:r>
              <a:rPr sz="1500" b="0">
                <a:solidFill>
                  <a:srgbClr val="FFFFFF"/>
                </a:solidFill>
                <a:latin typeface="Calibri"/>
              </a:rPr>
              <a:t>5 tank  6 heli  7 AA gun  8 radar</a:t>
            </a:r>
          </a:p>
          <a:p>
            <a:pPr algn="l">
              <a:spcAft>
                <a:spcPts val="525"/>
              </a:spcAft>
            </a:pPr>
            <a:r>
              <a:rPr sz="1500" b="0">
                <a:solidFill>
                  <a:srgbClr val="FFFFFF"/>
                </a:solidFill>
                <a:latin typeface="Calibri"/>
              </a:rPr>
              <a:t>9 doors  0 UAV   [ ] SAM / MLRS / gate</a:t>
            </a:r>
          </a:p>
          <a:p>
            <a:pPr algn="l">
              <a:spcAft>
                <a:spcPts val="525"/>
              </a:spcAft>
            </a:pPr>
            <a:r>
              <a:rPr sz="1500" b="0">
                <a:solidFill>
                  <a:srgbClr val="FFFFFF"/>
                </a:solidFill>
                <a:latin typeface="Calibri"/>
              </a:rPr>
              <a:t>F3 soldier   Backspace release</a:t>
            </a:r>
          </a:p>
          <a:p>
            <a:pPr algn="l">
              <a:spcAft>
                <a:spcPts val="525"/>
              </a:spcAft>
            </a:pPr>
            <a:r>
              <a:rPr sz="1500" b="0">
                <a:solidFill>
                  <a:srgbClr val="FFFFFF"/>
                </a:solidFill>
                <a:latin typeface="Calibri"/>
              </a:rPr>
              <a:t>WASD move  arrows aim  Enter fire</a:t>
            </a:r>
          </a:p>
        </p:txBody>
      </p:sp>
      <p:sp>
        <p:nvSpPr>
          <p:cNvPr id="22" name="TextBox 21"/>
          <p:cNvSpPr txBox="1"/>
          <p:nvPr/>
        </p:nvSpPr>
        <p:spPr>
          <a:xfrm>
            <a:off x="457200" y="5943600"/>
            <a:ext cx="11247120" cy="548640"/>
          </a:xfrm>
          <a:prstGeom prst="rect">
            <a:avLst/>
          </a:prstGeom>
          <a:noFill/>
        </p:spPr>
        <p:txBody>
          <a:bodyPr wrap="square" anchor="t" lIns="45720" rIns="45720">
            <a:spAutoFit/>
          </a:bodyPr>
          <a:lstStyle/>
          <a:p>
            <a:pPr algn="l">
              <a:spcAft>
                <a:spcPts val="630"/>
              </a:spcAft>
            </a:pPr>
            <a:r>
              <a:rPr sz="1800" b="0">
                <a:solidFill>
                  <a:srgbClr val="FF9E1F"/>
                </a:solidFill>
                <a:latin typeface="Calibri"/>
              </a:rPr>
              <a:t>18 possessable: 9 vehicles and devices + 8 soldiers + the SKY clock (v6)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7  |  RENDERING</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Rendering pipeline</a:t>
            </a:r>
          </a:p>
        </p:txBody>
      </p:sp>
      <p:pic>
        <p:nvPicPr>
          <p:cNvPr id="5" name="Picture 4" descr="img16.jpg"/>
          <p:cNvPicPr>
            <a:picLocks noChangeAspect="1"/>
          </p:cNvPicPr>
          <p:nvPr/>
        </p:nvPicPr>
        <p:blipFill>
          <a:blip r:embed="rId3"/>
          <a:srcRect t="1913" b="1913"/>
          <a:stretch>
            <a:fillRect/>
          </a:stretch>
        </p:blipFill>
        <p:spPr>
          <a:xfrm>
            <a:off x="457200" y="1463040"/>
            <a:ext cx="5577840" cy="3017520"/>
          </a:xfrm>
          <a:prstGeom prst="rect">
            <a:avLst/>
          </a:prstGeom>
        </p:spPr>
      </p:pic>
      <p:sp>
        <p:nvSpPr>
          <p:cNvPr id="6" name="Rectangle 5"/>
          <p:cNvSpPr/>
          <p:nvPr/>
        </p:nvSpPr>
        <p:spPr>
          <a:xfrm>
            <a:off x="457200" y="4133088"/>
            <a:ext cx="55778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133088"/>
            <a:ext cx="55778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Visible: PBR, shadows, fog</a:t>
            </a:r>
          </a:p>
        </p:txBody>
      </p:sp>
      <p:pic>
        <p:nvPicPr>
          <p:cNvPr id="8" name="Picture 7" descr="img17.jpg"/>
          <p:cNvPicPr>
            <a:picLocks noChangeAspect="1"/>
          </p:cNvPicPr>
          <p:nvPr/>
        </p:nvPicPr>
        <p:blipFill>
          <a:blip r:embed="rId4"/>
          <a:srcRect t="1913" b="1913"/>
          <a:stretch>
            <a:fillRect/>
          </a:stretch>
        </p:blipFill>
        <p:spPr>
          <a:xfrm>
            <a:off x="6153912" y="1463040"/>
            <a:ext cx="5577840" cy="3017520"/>
          </a:xfrm>
          <a:prstGeom prst="rect">
            <a:avLst/>
          </a:prstGeom>
        </p:spPr>
      </p:pic>
      <p:sp>
        <p:nvSpPr>
          <p:cNvPr id="9" name="Rectangle 8"/>
          <p:cNvSpPr/>
          <p:nvPr/>
        </p:nvSpPr>
        <p:spPr>
          <a:xfrm>
            <a:off x="6153912" y="4133088"/>
            <a:ext cx="55778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53912" y="4133088"/>
            <a:ext cx="55778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Thermal sensor view</a:t>
            </a:r>
          </a:p>
        </p:txBody>
      </p:sp>
      <p:sp>
        <p:nvSpPr>
          <p:cNvPr id="11" name="Rectangle 10"/>
          <p:cNvSpPr/>
          <p:nvPr/>
        </p:nvSpPr>
        <p:spPr>
          <a:xfrm>
            <a:off x="457200" y="47548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7548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PBR GGX</a:t>
            </a:r>
          </a:p>
        </p:txBody>
      </p:sp>
      <p:sp>
        <p:nvSpPr>
          <p:cNvPr id="13" name="Rectangle 12"/>
          <p:cNvSpPr/>
          <p:nvPr/>
        </p:nvSpPr>
        <p:spPr>
          <a:xfrm>
            <a:off x="3291840" y="47548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47548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Shadows</a:t>
            </a:r>
          </a:p>
        </p:txBody>
      </p:sp>
      <p:sp>
        <p:nvSpPr>
          <p:cNvPr id="15" name="Rectangle 14"/>
          <p:cNvSpPr/>
          <p:nvPr/>
        </p:nvSpPr>
        <p:spPr>
          <a:xfrm>
            <a:off x="6126480" y="47548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47548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SSAO</a:t>
            </a:r>
          </a:p>
        </p:txBody>
      </p:sp>
      <p:sp>
        <p:nvSpPr>
          <p:cNvPr id="17" name="Rectangle 16"/>
          <p:cNvSpPr/>
          <p:nvPr/>
        </p:nvSpPr>
        <p:spPr>
          <a:xfrm>
            <a:off x="8961120" y="47548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0" y="47548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Fog</a:t>
            </a:r>
          </a:p>
        </p:txBody>
      </p:sp>
      <p:sp>
        <p:nvSpPr>
          <p:cNvPr id="19" name="Rectangle 18"/>
          <p:cNvSpPr/>
          <p:nvPr/>
        </p:nvSpPr>
        <p:spPr>
          <a:xfrm>
            <a:off x="457200" y="56692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6692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TAA</a:t>
            </a:r>
          </a:p>
        </p:txBody>
      </p:sp>
      <p:sp>
        <p:nvSpPr>
          <p:cNvPr id="21" name="Rectangle 20"/>
          <p:cNvSpPr/>
          <p:nvPr/>
        </p:nvSpPr>
        <p:spPr>
          <a:xfrm>
            <a:off x="3291840" y="56692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56692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SSR</a:t>
            </a:r>
          </a:p>
        </p:txBody>
      </p:sp>
      <p:sp>
        <p:nvSpPr>
          <p:cNvPr id="23" name="Rectangle 22"/>
          <p:cNvSpPr/>
          <p:nvPr/>
        </p:nvSpPr>
        <p:spPr>
          <a:xfrm>
            <a:off x="6126480" y="56692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56692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Bloom</a:t>
            </a:r>
          </a:p>
        </p:txBody>
      </p:sp>
      <p:sp>
        <p:nvSpPr>
          <p:cNvPr id="25" name="Rectangle 24"/>
          <p:cNvSpPr/>
          <p:nvPr/>
        </p:nvSpPr>
        <p:spPr>
          <a:xfrm>
            <a:off x="8961120" y="5669280"/>
            <a:ext cx="2697480" cy="73152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0" y="5669280"/>
            <a:ext cx="2697480" cy="731520"/>
          </a:xfrm>
          <a:prstGeom prst="rect">
            <a:avLst/>
          </a:prstGeom>
          <a:noFill/>
        </p:spPr>
        <p:txBody>
          <a:bodyPr wrap="square" anchor="ctr" lIns="45720" rIns="45720">
            <a:spAutoFit/>
          </a:bodyPr>
          <a:lstStyle/>
          <a:p>
            <a:pPr algn="ctr">
              <a:spcAft>
                <a:spcPts val="769"/>
              </a:spcAft>
            </a:pPr>
            <a:r>
              <a:rPr sz="2200" b="1">
                <a:solidFill>
                  <a:srgbClr val="FFFFFF"/>
                </a:solidFill>
                <a:latin typeface="Calibri"/>
              </a:rPr>
              <a:t>Thermal sensor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8  |  SIMULATION</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Autonomy and the game loop</a:t>
            </a:r>
          </a:p>
        </p:txBody>
      </p:sp>
      <p:pic>
        <p:nvPicPr>
          <p:cNvPr id="5" name="Picture 4" descr="img18.jpg"/>
          <p:cNvPicPr>
            <a:picLocks noChangeAspect="1"/>
          </p:cNvPicPr>
          <p:nvPr/>
        </p:nvPicPr>
        <p:blipFill>
          <a:blip r:embed="rId3"/>
          <a:srcRect t="3333" b="3333"/>
          <a:stretch>
            <a:fillRect/>
          </a:stretch>
        </p:blipFill>
        <p:spPr>
          <a:xfrm>
            <a:off x="457200" y="1371600"/>
            <a:ext cx="3657600" cy="1920240"/>
          </a:xfrm>
          <a:prstGeom prst="rect">
            <a:avLst/>
          </a:prstGeom>
        </p:spPr>
      </p:pic>
      <p:sp>
        <p:nvSpPr>
          <p:cNvPr id="6" name="Rectangle 5"/>
          <p:cNvSpPr/>
          <p:nvPr/>
        </p:nvSpPr>
        <p:spPr>
          <a:xfrm>
            <a:off x="457200" y="294436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94436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CV tracks, IDs, LOCK</a:t>
            </a:r>
          </a:p>
        </p:txBody>
      </p:sp>
      <p:pic>
        <p:nvPicPr>
          <p:cNvPr id="8" name="Picture 7" descr="img19.jpg"/>
          <p:cNvPicPr>
            <a:picLocks noChangeAspect="1"/>
          </p:cNvPicPr>
          <p:nvPr/>
        </p:nvPicPr>
        <p:blipFill>
          <a:blip r:embed="rId4"/>
          <a:srcRect t="3333" b="3333"/>
          <a:stretch>
            <a:fillRect/>
          </a:stretch>
        </p:blipFill>
        <p:spPr>
          <a:xfrm>
            <a:off x="4251960" y="1371600"/>
            <a:ext cx="3657600" cy="1920240"/>
          </a:xfrm>
          <a:prstGeom prst="rect">
            <a:avLst/>
          </a:prstGeom>
        </p:spPr>
      </p:pic>
      <p:sp>
        <p:nvSpPr>
          <p:cNvPr id="9" name="Rectangle 8"/>
          <p:cNvSpPr/>
          <p:nvPr/>
        </p:nvSpPr>
        <p:spPr>
          <a:xfrm>
            <a:off x="4251960" y="294436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294436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Combined strike</a:t>
            </a:r>
          </a:p>
        </p:txBody>
      </p:sp>
      <p:pic>
        <p:nvPicPr>
          <p:cNvPr id="11" name="Picture 10" descr="img20.jpg"/>
          <p:cNvPicPr>
            <a:picLocks noChangeAspect="1"/>
          </p:cNvPicPr>
          <p:nvPr/>
        </p:nvPicPr>
        <p:blipFill>
          <a:blip r:embed="rId5"/>
          <a:srcRect t="3333" b="3333"/>
          <a:stretch>
            <a:fillRect/>
          </a:stretch>
        </p:blipFill>
        <p:spPr>
          <a:xfrm>
            <a:off x="8046720" y="1371600"/>
            <a:ext cx="3657600" cy="1920240"/>
          </a:xfrm>
          <a:prstGeom prst="rect">
            <a:avLst/>
          </a:prstGeom>
        </p:spPr>
      </p:pic>
      <p:sp>
        <p:nvSpPr>
          <p:cNvPr id="12" name="Rectangle 11"/>
          <p:cNvSpPr/>
          <p:nvPr/>
        </p:nvSpPr>
        <p:spPr>
          <a:xfrm>
            <a:off x="8046720" y="2944368"/>
            <a:ext cx="365760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44368"/>
            <a:ext cx="365760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Tactical map / kill banner</a:t>
            </a:r>
          </a:p>
        </p:txBody>
      </p:sp>
      <p:sp>
        <p:nvSpPr>
          <p:cNvPr id="14" name="Rectangle 13"/>
          <p:cNvSpPr/>
          <p:nvPr/>
        </p:nvSpPr>
        <p:spPr>
          <a:xfrm>
            <a:off x="457200" y="3520440"/>
            <a:ext cx="2560320" cy="1097280"/>
          </a:xfrm>
          <a:prstGeom prst="rect">
            <a:avLst/>
          </a:prstGeom>
          <a:solidFill>
            <a:srgbClr val="14181E"/>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61188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2 UAVs</a:t>
            </a:r>
          </a:p>
        </p:txBody>
      </p:sp>
      <p:sp>
        <p:nvSpPr>
          <p:cNvPr id="16" name="TextBox 15"/>
          <p:cNvSpPr txBox="1"/>
          <p:nvPr/>
        </p:nvSpPr>
        <p:spPr>
          <a:xfrm>
            <a:off x="457200" y="408736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thermal cameras</a:t>
            </a:r>
          </a:p>
        </p:txBody>
      </p:sp>
      <p:sp>
        <p:nvSpPr>
          <p:cNvPr id="17" name="Right Arrow 16"/>
          <p:cNvSpPr/>
          <p:nvPr/>
        </p:nvSpPr>
        <p:spPr>
          <a:xfrm>
            <a:off x="3054096" y="3931920"/>
            <a:ext cx="265176" cy="274320"/>
          </a:xfrm>
          <a:prstGeom prst="rightArrow">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55848" y="3520440"/>
            <a:ext cx="2560320" cy="109728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55848" y="361188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CV pipeline</a:t>
            </a:r>
          </a:p>
        </p:txBody>
      </p:sp>
      <p:sp>
        <p:nvSpPr>
          <p:cNvPr id="20" name="TextBox 19"/>
          <p:cNvSpPr txBox="1"/>
          <p:nvPr/>
        </p:nvSpPr>
        <p:spPr>
          <a:xfrm>
            <a:off x="3355848" y="408736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threshold, despeckle, union-find, moments</a:t>
            </a:r>
          </a:p>
        </p:txBody>
      </p:sp>
      <p:sp>
        <p:nvSpPr>
          <p:cNvPr id="21" name="Right Arrow 20"/>
          <p:cNvSpPr/>
          <p:nvPr/>
        </p:nvSpPr>
        <p:spPr>
          <a:xfrm>
            <a:off x="5952744" y="3931920"/>
            <a:ext cx="265176" cy="274320"/>
          </a:xfrm>
          <a:prstGeom prst="rightArrow">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54496" y="3520440"/>
            <a:ext cx="2560320" cy="1097280"/>
          </a:xfrm>
          <a:prstGeom prst="rect">
            <a:avLst/>
          </a:prstGeom>
          <a:solidFill>
            <a:srgbClr val="14181E"/>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4496" y="361188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Shared tracker</a:t>
            </a:r>
          </a:p>
        </p:txBody>
      </p:sp>
      <p:sp>
        <p:nvSpPr>
          <p:cNvPr id="24" name="TextBox 23"/>
          <p:cNvSpPr txBox="1"/>
          <p:nvPr/>
        </p:nvSpPr>
        <p:spPr>
          <a:xfrm>
            <a:off x="6254496" y="408736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Kalman + Hungarian</a:t>
            </a:r>
          </a:p>
        </p:txBody>
      </p:sp>
      <p:sp>
        <p:nvSpPr>
          <p:cNvPr id="25" name="Right Arrow 24"/>
          <p:cNvSpPr/>
          <p:nvPr/>
        </p:nvSpPr>
        <p:spPr>
          <a:xfrm>
            <a:off x="8851392" y="3931920"/>
            <a:ext cx="265176" cy="274320"/>
          </a:xfrm>
          <a:prstGeom prst="rightArrow">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53144" y="3520440"/>
            <a:ext cx="2560320" cy="1097280"/>
          </a:xfrm>
          <a:prstGeom prst="rect">
            <a:avLst/>
          </a:prstGeom>
          <a:solidFill>
            <a:srgbClr val="14181E"/>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53144" y="361188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Two-view triangulation</a:t>
            </a:r>
          </a:p>
        </p:txBody>
      </p:sp>
      <p:sp>
        <p:nvSpPr>
          <p:cNvPr id="28" name="TextBox 27"/>
          <p:cNvSpPr txBox="1"/>
          <p:nvPr/>
        </p:nvSpPr>
        <p:spPr>
          <a:xfrm>
            <a:off x="9153144" y="408736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ray midpoint</a:t>
            </a:r>
          </a:p>
        </p:txBody>
      </p:sp>
      <p:sp>
        <p:nvSpPr>
          <p:cNvPr id="29" name="Rectangle 28"/>
          <p:cNvSpPr/>
          <p:nvPr/>
        </p:nvSpPr>
        <p:spPr>
          <a:xfrm>
            <a:off x="457200" y="5029200"/>
            <a:ext cx="2560320" cy="1097280"/>
          </a:xfrm>
          <a:prstGeom prst="rect">
            <a:avLst/>
          </a:prstGeom>
          <a:solidFill>
            <a:srgbClr val="14181E"/>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12064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Lead / wing</a:t>
            </a:r>
          </a:p>
        </p:txBody>
      </p:sp>
      <p:sp>
        <p:nvSpPr>
          <p:cNvPr id="31" name="TextBox 30"/>
          <p:cNvSpPr txBox="1"/>
          <p:nvPr/>
        </p:nvSpPr>
        <p:spPr>
          <a:xfrm>
            <a:off x="457200" y="559612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roles, 90 deg geometry</a:t>
            </a:r>
          </a:p>
        </p:txBody>
      </p:sp>
      <p:sp>
        <p:nvSpPr>
          <p:cNvPr id="32" name="Right Arrow 31"/>
          <p:cNvSpPr/>
          <p:nvPr/>
        </p:nvSpPr>
        <p:spPr>
          <a:xfrm>
            <a:off x="3054096" y="5440680"/>
            <a:ext cx="265176" cy="274320"/>
          </a:xfrm>
          <a:prstGeom prst="rightArrow">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55848" y="5029200"/>
            <a:ext cx="2560320" cy="1097280"/>
          </a:xfrm>
          <a:prstGeom prst="rect">
            <a:avLst/>
          </a:prstGeom>
          <a:solidFill>
            <a:srgbClr val="14181E"/>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55848" y="512064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Time-on-target</a:t>
            </a:r>
          </a:p>
        </p:txBody>
      </p:sp>
      <p:sp>
        <p:nvSpPr>
          <p:cNvPr id="35" name="TextBox 34"/>
          <p:cNvSpPr txBox="1"/>
          <p:nvPr/>
        </p:nvSpPr>
        <p:spPr>
          <a:xfrm>
            <a:off x="3355848" y="559612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combined strike</a:t>
            </a:r>
          </a:p>
        </p:txBody>
      </p:sp>
      <p:sp>
        <p:nvSpPr>
          <p:cNvPr id="36" name="Right Arrow 35"/>
          <p:cNvSpPr/>
          <p:nvPr/>
        </p:nvSpPr>
        <p:spPr>
          <a:xfrm>
            <a:off x="5952744" y="5440680"/>
            <a:ext cx="265176" cy="274320"/>
          </a:xfrm>
          <a:prstGeom prst="rightArrow">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54496" y="5029200"/>
            <a:ext cx="2560320" cy="1097280"/>
          </a:xfrm>
          <a:prstGeom prst="rect">
            <a:avLst/>
          </a:prstGeom>
          <a:solidFill>
            <a:srgbClr val="14181E"/>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54496" y="512064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4-5 hits = 1 kill</a:t>
            </a:r>
          </a:p>
        </p:txBody>
      </p:sp>
      <p:sp>
        <p:nvSpPr>
          <p:cNvPr id="39" name="TextBox 38"/>
          <p:cNvSpPr txBox="1"/>
          <p:nvPr/>
        </p:nvSpPr>
        <p:spPr>
          <a:xfrm>
            <a:off x="6254496" y="559612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armoured rovers</a:t>
            </a:r>
          </a:p>
        </p:txBody>
      </p:sp>
      <p:sp>
        <p:nvSpPr>
          <p:cNvPr id="40" name="Right Arrow 39"/>
          <p:cNvSpPr/>
          <p:nvPr/>
        </p:nvSpPr>
        <p:spPr>
          <a:xfrm>
            <a:off x="8851392" y="5440680"/>
            <a:ext cx="265176" cy="274320"/>
          </a:xfrm>
          <a:prstGeom prst="rightArrow">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53144" y="5029200"/>
            <a:ext cx="2560320" cy="1097280"/>
          </a:xfrm>
          <a:prstGeom prst="rect">
            <a:avLst/>
          </a:prstGeom>
          <a:solidFill>
            <a:srgbClr val="14181E"/>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53144" y="5120640"/>
            <a:ext cx="2560320" cy="457200"/>
          </a:xfrm>
          <a:prstGeom prst="rect">
            <a:avLst/>
          </a:prstGeom>
          <a:noFill/>
        </p:spPr>
        <p:txBody>
          <a:bodyPr wrap="square" anchor="t" lIns="45720" rIns="45720">
            <a:spAutoFit/>
          </a:bodyPr>
          <a:lstStyle/>
          <a:p>
            <a:pPr algn="ctr">
              <a:spcAft>
                <a:spcPts val="560"/>
              </a:spcAft>
            </a:pPr>
            <a:r>
              <a:rPr sz="1600" b="1">
                <a:solidFill>
                  <a:srgbClr val="FFFFFF"/>
                </a:solidFill>
                <a:latin typeface="Calibri"/>
              </a:rPr>
              <a:t>Waves, score, base</a:t>
            </a:r>
          </a:p>
        </p:txBody>
      </p:sp>
      <p:sp>
        <p:nvSpPr>
          <p:cNvPr id="43" name="TextBox 42"/>
          <p:cNvSpPr txBox="1"/>
          <p:nvPr/>
        </p:nvSpPr>
        <p:spPr>
          <a:xfrm>
            <a:off x="9153144" y="5596128"/>
            <a:ext cx="2560320" cy="502920"/>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integrity: the game loop</a:t>
            </a:r>
          </a:p>
        </p:txBody>
      </p:sp>
      <p:sp>
        <p:nvSpPr>
          <p:cNvPr id="44" name="Down Arrow 43"/>
          <p:cNvSpPr/>
          <p:nvPr/>
        </p:nvSpPr>
        <p:spPr>
          <a:xfrm>
            <a:off x="10241280" y="4645152"/>
            <a:ext cx="365760" cy="347472"/>
          </a:xfrm>
          <a:prstGeom prst="downArrow">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400800"/>
            <a:ext cx="11247120" cy="365760"/>
          </a:xfrm>
          <a:prstGeom prst="rect">
            <a:avLst/>
          </a:prstGeom>
          <a:noFill/>
        </p:spPr>
        <p:txBody>
          <a:bodyPr wrap="square" anchor="t" lIns="45720" rIns="45720">
            <a:spAutoFit/>
          </a:bodyPr>
          <a:lstStyle/>
          <a:p>
            <a:pPr algn="l">
              <a:spcAft>
                <a:spcPts val="455"/>
              </a:spcAft>
            </a:pPr>
            <a:r>
              <a:rPr sz="1300" b="0">
                <a:solidFill>
                  <a:srgbClr val="A8B0BA"/>
                </a:solidFill>
                <a:latin typeface="Calibri"/>
              </a:rPr>
              <a:t>Rovers: MicroMouse flood fill on a cost map (distance + exposure + noise) so paths are random each wave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9  |  V6  |  TIME OF DAY</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Day and night cycle</a:t>
            </a:r>
          </a:p>
        </p:txBody>
      </p:sp>
      <p:pic>
        <p:nvPicPr>
          <p:cNvPr id="5" name="Picture 4" descr="img21.jpg"/>
          <p:cNvPicPr>
            <a:picLocks noChangeAspect="1"/>
          </p:cNvPicPr>
          <p:nvPr/>
        </p:nvPicPr>
        <p:blipFill>
          <a:blip r:embed="rId3"/>
          <a:srcRect l="685" r="685"/>
          <a:stretch>
            <a:fillRect/>
          </a:stretch>
        </p:blipFill>
        <p:spPr>
          <a:xfrm>
            <a:off x="457200" y="1463040"/>
            <a:ext cx="5852160" cy="3337560"/>
          </a:xfrm>
          <a:prstGeom prst="rect">
            <a:avLst/>
          </a:prstGeom>
        </p:spPr>
      </p:pic>
      <p:sp>
        <p:nvSpPr>
          <p:cNvPr id="6" name="Rectangle 5"/>
          <p:cNvSpPr/>
          <p:nvPr/>
        </p:nvSpPr>
        <p:spPr>
          <a:xfrm>
            <a:off x="457200" y="4453128"/>
            <a:ext cx="585216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453128"/>
            <a:ext cx="585216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Sunset: air-mass reddened sun, twilight sky</a:t>
            </a:r>
          </a:p>
        </p:txBody>
      </p:sp>
      <p:sp>
        <p:nvSpPr>
          <p:cNvPr id="8" name="Rectangle 7"/>
          <p:cNvSpPr/>
          <p:nvPr/>
        </p:nvSpPr>
        <p:spPr>
          <a:xfrm>
            <a:off x="6492240" y="1463040"/>
            <a:ext cx="5239512" cy="86868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92240" y="1463040"/>
            <a:ext cx="54864" cy="868680"/>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536192"/>
            <a:ext cx="5056632" cy="749807"/>
          </a:xfrm>
          <a:prstGeom prst="rect">
            <a:avLst/>
          </a:prstGeom>
          <a:noFill/>
        </p:spPr>
        <p:txBody>
          <a:bodyPr wrap="square" anchor="t" lIns="45720" rIns="45720">
            <a:spAutoFit/>
          </a:bodyPr>
          <a:lstStyle/>
          <a:p>
            <a:pPr algn="l">
              <a:spcAft>
                <a:spcPts val="525"/>
              </a:spcAft>
            </a:pPr>
            <a:r>
              <a:rPr sz="1500" b="0">
                <a:solidFill>
                  <a:srgbClr val="6FD6E8"/>
                </a:solidFill>
                <a:latin typeface="Consolas"/>
              </a:rPr>
              <a:t>sin e = sin φ sin δ + cos φ cos δ cos H</a:t>
            </a:r>
          </a:p>
          <a:p>
            <a:pPr algn="l">
              <a:spcAft>
                <a:spcPts val="525"/>
              </a:spcAft>
            </a:pPr>
            <a:r>
              <a:rPr sz="1500" b="0">
                <a:solidFill>
                  <a:srgbClr val="6FD6E8"/>
                </a:solidFill>
                <a:latin typeface="Consolas"/>
              </a:rPr>
              <a:t>φ = 22.8°   δ = -4.6°   H = 15° × (t − 12 h)</a:t>
            </a:r>
          </a:p>
        </p:txBody>
      </p:sp>
      <p:sp>
        <p:nvSpPr>
          <p:cNvPr id="11" name="Rectangle 10"/>
          <p:cNvSpPr/>
          <p:nvPr/>
        </p:nvSpPr>
        <p:spPr>
          <a:xfrm>
            <a:off x="6492240" y="2548890"/>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2468880"/>
            <a:ext cx="5010912" cy="457200"/>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Key light: sun (e &gt; −1°) or the v5 moon; night preset = v5 bit for bit</a:t>
            </a:r>
          </a:p>
        </p:txBody>
      </p:sp>
      <p:sp>
        <p:nvSpPr>
          <p:cNvPr id="13" name="Rectangle 12"/>
          <p:cNvSpPr/>
          <p:nvPr/>
        </p:nvSpPr>
        <p:spPr>
          <a:xfrm>
            <a:off x="6492240" y="3006090"/>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2926080"/>
            <a:ext cx="5010912" cy="457200"/>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Lamps fade by day; searchlights below −2°; cloud shadows sweep the camp</a:t>
            </a:r>
          </a:p>
        </p:txBody>
      </p:sp>
      <p:sp>
        <p:nvSpPr>
          <p:cNvPr id="15" name="Rectangle 14"/>
          <p:cNvSpPr/>
          <p:nvPr/>
        </p:nvSpPr>
        <p:spPr>
          <a:xfrm>
            <a:off x="6492240" y="3463290"/>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3383280"/>
            <a:ext cx="5010912" cy="457200"/>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F2 auto / manual   , . scrub   / next phase</a:t>
            </a:r>
          </a:p>
        </p:txBody>
      </p:sp>
      <p:sp>
        <p:nvSpPr>
          <p:cNvPr id="17" name="Rectangle 16"/>
          <p:cNvSpPr/>
          <p:nvPr/>
        </p:nvSpPr>
        <p:spPr>
          <a:xfrm>
            <a:off x="6492240" y="3840480"/>
            <a:ext cx="1234440" cy="96012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858768"/>
            <a:ext cx="1234440" cy="54726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06:08</a:t>
            </a:r>
          </a:p>
        </p:txBody>
      </p:sp>
      <p:sp>
        <p:nvSpPr>
          <p:cNvPr id="19" name="TextBox 18"/>
          <p:cNvSpPr txBox="1"/>
          <p:nvPr/>
        </p:nvSpPr>
        <p:spPr>
          <a:xfrm>
            <a:off x="6492240" y="4406950"/>
            <a:ext cx="1234440" cy="364845"/>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sunrise</a:t>
            </a:r>
          </a:p>
        </p:txBody>
      </p:sp>
      <p:sp>
        <p:nvSpPr>
          <p:cNvPr id="20" name="Rectangle 19"/>
          <p:cNvSpPr/>
          <p:nvPr/>
        </p:nvSpPr>
        <p:spPr>
          <a:xfrm>
            <a:off x="7827263" y="3840480"/>
            <a:ext cx="1234440" cy="96012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27263" y="3858768"/>
            <a:ext cx="1234440" cy="54726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17:52</a:t>
            </a:r>
          </a:p>
        </p:txBody>
      </p:sp>
      <p:sp>
        <p:nvSpPr>
          <p:cNvPr id="22" name="TextBox 21"/>
          <p:cNvSpPr txBox="1"/>
          <p:nvPr/>
        </p:nvSpPr>
        <p:spPr>
          <a:xfrm>
            <a:off x="7827263" y="4406950"/>
            <a:ext cx="1234440" cy="364845"/>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sunset</a:t>
            </a:r>
          </a:p>
        </p:txBody>
      </p:sp>
      <p:sp>
        <p:nvSpPr>
          <p:cNvPr id="23" name="Rectangle 22"/>
          <p:cNvSpPr/>
          <p:nvPr/>
        </p:nvSpPr>
        <p:spPr>
          <a:xfrm>
            <a:off x="9162288" y="3840480"/>
            <a:ext cx="1234440" cy="96012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62288" y="3858768"/>
            <a:ext cx="1234440" cy="54726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62.6°</a:t>
            </a:r>
          </a:p>
        </p:txBody>
      </p:sp>
      <p:sp>
        <p:nvSpPr>
          <p:cNvPr id="25" name="TextBox 24"/>
          <p:cNvSpPr txBox="1"/>
          <p:nvPr/>
        </p:nvSpPr>
        <p:spPr>
          <a:xfrm>
            <a:off x="9162288" y="4406950"/>
            <a:ext cx="1234440" cy="364845"/>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noon elevation</a:t>
            </a:r>
          </a:p>
        </p:txBody>
      </p:sp>
      <p:sp>
        <p:nvSpPr>
          <p:cNvPr id="26" name="Rectangle 25"/>
          <p:cNvSpPr/>
          <p:nvPr/>
        </p:nvSpPr>
        <p:spPr>
          <a:xfrm>
            <a:off x="10497312" y="3840480"/>
            <a:ext cx="1234440" cy="96012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7312" y="3858768"/>
            <a:ext cx="1234440" cy="54726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290 s</a:t>
            </a:r>
          </a:p>
        </p:txBody>
      </p:sp>
      <p:sp>
        <p:nvSpPr>
          <p:cNvPr id="28" name="TextBox 27"/>
          <p:cNvSpPr txBox="1"/>
          <p:nvPr/>
        </p:nvSpPr>
        <p:spPr>
          <a:xfrm>
            <a:off x="10497312" y="4406950"/>
            <a:ext cx="1234440" cy="364845"/>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auto cycle</a:t>
            </a:r>
          </a:p>
        </p:txBody>
      </p:sp>
      <p:pic>
        <p:nvPicPr>
          <p:cNvPr id="29" name="Picture 28" descr="img2.jpg"/>
          <p:cNvPicPr>
            <a:picLocks noChangeAspect="1"/>
          </p:cNvPicPr>
          <p:nvPr/>
        </p:nvPicPr>
        <p:blipFill>
          <a:blip r:embed="rId4"/>
          <a:srcRect l="4201" r="4201"/>
          <a:stretch>
            <a:fillRect/>
          </a:stretch>
        </p:blipFill>
        <p:spPr>
          <a:xfrm>
            <a:off x="457200" y="4956048"/>
            <a:ext cx="2724912" cy="1673352"/>
          </a:xfrm>
          <a:prstGeom prst="rect">
            <a:avLst/>
          </a:prstGeom>
        </p:spPr>
      </p:pic>
      <p:sp>
        <p:nvSpPr>
          <p:cNvPr id="30" name="Rectangle 29"/>
          <p:cNvSpPr/>
          <p:nvPr/>
        </p:nvSpPr>
        <p:spPr>
          <a:xfrm>
            <a:off x="457200" y="6281928"/>
            <a:ext cx="272491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281928"/>
            <a:ext cx="272491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Day: UAVs patrol, no waves</a:t>
            </a:r>
          </a:p>
        </p:txBody>
      </p:sp>
      <p:pic>
        <p:nvPicPr>
          <p:cNvPr id="32" name="Picture 31" descr="img22.jpg"/>
          <p:cNvPicPr>
            <a:picLocks noChangeAspect="1"/>
          </p:cNvPicPr>
          <p:nvPr/>
        </p:nvPicPr>
        <p:blipFill>
          <a:blip r:embed="rId5"/>
          <a:srcRect l="4201" r="4201"/>
          <a:stretch>
            <a:fillRect/>
          </a:stretch>
        </p:blipFill>
        <p:spPr>
          <a:xfrm>
            <a:off x="3300984" y="4956048"/>
            <a:ext cx="2724912" cy="1673352"/>
          </a:xfrm>
          <a:prstGeom prst="rect">
            <a:avLst/>
          </a:prstGeom>
        </p:spPr>
      </p:pic>
      <p:sp>
        <p:nvSpPr>
          <p:cNvPr id="33" name="Rectangle 32"/>
          <p:cNvSpPr/>
          <p:nvPr/>
        </p:nvSpPr>
        <p:spPr>
          <a:xfrm>
            <a:off x="3300984" y="6281928"/>
            <a:ext cx="272491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00984" y="6281928"/>
            <a:ext cx="272491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Dusk: shift change</a:t>
            </a:r>
          </a:p>
        </p:txBody>
      </p:sp>
      <p:pic>
        <p:nvPicPr>
          <p:cNvPr id="35" name="Picture 34" descr="img23.jpg"/>
          <p:cNvPicPr>
            <a:picLocks noChangeAspect="1"/>
          </p:cNvPicPr>
          <p:nvPr/>
        </p:nvPicPr>
        <p:blipFill>
          <a:blip r:embed="rId6"/>
          <a:srcRect l="4201" r="4201"/>
          <a:stretch>
            <a:fillRect/>
          </a:stretch>
        </p:blipFill>
        <p:spPr>
          <a:xfrm>
            <a:off x="6144768" y="4956048"/>
            <a:ext cx="2724912" cy="1673352"/>
          </a:xfrm>
          <a:prstGeom prst="rect">
            <a:avLst/>
          </a:prstGeom>
        </p:spPr>
      </p:pic>
      <p:sp>
        <p:nvSpPr>
          <p:cNvPr id="36" name="Rectangle 35"/>
          <p:cNvSpPr/>
          <p:nvPr/>
        </p:nvSpPr>
        <p:spPr>
          <a:xfrm>
            <a:off x="6144768" y="6281928"/>
            <a:ext cx="272491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44768" y="6281928"/>
            <a:ext cx="272491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Night: searchlights, waves</a:t>
            </a:r>
          </a:p>
        </p:txBody>
      </p:sp>
      <p:pic>
        <p:nvPicPr>
          <p:cNvPr id="38" name="Picture 37" descr="img24.jpg"/>
          <p:cNvPicPr>
            <a:picLocks noChangeAspect="1"/>
          </p:cNvPicPr>
          <p:nvPr/>
        </p:nvPicPr>
        <p:blipFill>
          <a:blip r:embed="rId7"/>
          <a:srcRect l="4201" r="4201"/>
          <a:stretch>
            <a:fillRect/>
          </a:stretch>
        </p:blipFill>
        <p:spPr>
          <a:xfrm>
            <a:off x="8988552" y="4956048"/>
            <a:ext cx="2724912" cy="1673352"/>
          </a:xfrm>
          <a:prstGeom prst="rect">
            <a:avLst/>
          </a:prstGeom>
        </p:spPr>
      </p:pic>
      <p:sp>
        <p:nvSpPr>
          <p:cNvPr id="39" name="Rectangle 38"/>
          <p:cNvSpPr/>
          <p:nvPr/>
        </p:nvSpPr>
        <p:spPr>
          <a:xfrm>
            <a:off x="8988552" y="6281928"/>
            <a:ext cx="272491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88552" y="6281928"/>
            <a:ext cx="272491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Dawn: intruders withdraw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10  |  V6  |  GARRISON</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Soldiers: Catmull-Rom paths and IK gait</a:t>
            </a:r>
          </a:p>
        </p:txBody>
      </p:sp>
      <p:pic>
        <p:nvPicPr>
          <p:cNvPr id="5" name="Picture 4" descr="img25.jpg"/>
          <p:cNvPicPr>
            <a:picLocks noChangeAspect="1"/>
          </p:cNvPicPr>
          <p:nvPr/>
        </p:nvPicPr>
        <p:blipFill>
          <a:blip r:embed="rId3"/>
          <a:srcRect l="32080" r="32080"/>
          <a:stretch>
            <a:fillRect/>
          </a:stretch>
        </p:blipFill>
        <p:spPr>
          <a:xfrm>
            <a:off x="457200" y="1463040"/>
            <a:ext cx="3291840" cy="5166360"/>
          </a:xfrm>
          <a:prstGeom prst="rect">
            <a:avLst/>
          </a:prstGeom>
        </p:spPr>
      </p:pic>
      <p:sp>
        <p:nvSpPr>
          <p:cNvPr id="6" name="Rectangle 5"/>
          <p:cNvSpPr/>
          <p:nvPr/>
        </p:nvSpPr>
        <p:spPr>
          <a:xfrm>
            <a:off x="457200" y="6281928"/>
            <a:ext cx="32918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281928"/>
            <a:ext cx="32918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Joint frames of the hierarchy</a:t>
            </a:r>
          </a:p>
        </p:txBody>
      </p:sp>
      <p:pic>
        <p:nvPicPr>
          <p:cNvPr id="8" name="Picture 7" descr="img26.jpg"/>
          <p:cNvPicPr>
            <a:picLocks noChangeAspect="1"/>
          </p:cNvPicPr>
          <p:nvPr/>
        </p:nvPicPr>
        <p:blipFill>
          <a:blip r:embed="rId4"/>
          <a:srcRect l="240" r="240"/>
          <a:stretch>
            <a:fillRect/>
          </a:stretch>
        </p:blipFill>
        <p:spPr>
          <a:xfrm>
            <a:off x="3886200" y="1463040"/>
            <a:ext cx="4206240" cy="2377440"/>
          </a:xfrm>
          <a:prstGeom prst="rect">
            <a:avLst/>
          </a:prstGeom>
        </p:spPr>
      </p:pic>
      <p:sp>
        <p:nvSpPr>
          <p:cNvPr id="9" name="Rectangle 8"/>
          <p:cNvSpPr/>
          <p:nvPr/>
        </p:nvSpPr>
        <p:spPr>
          <a:xfrm>
            <a:off x="3886200" y="3493008"/>
            <a:ext cx="42062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200" y="3493008"/>
            <a:ext cx="42062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Patrol splines through the camp</a:t>
            </a:r>
          </a:p>
        </p:txBody>
      </p:sp>
      <p:sp>
        <p:nvSpPr>
          <p:cNvPr id="11" name="Rectangle 10"/>
          <p:cNvSpPr/>
          <p:nvPr/>
        </p:nvSpPr>
        <p:spPr>
          <a:xfrm>
            <a:off x="3886200" y="3977639"/>
            <a:ext cx="4206240" cy="160020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86200" y="3977639"/>
            <a:ext cx="54864" cy="1600200"/>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0" y="4050791"/>
            <a:ext cx="4023359" cy="274320"/>
          </a:xfrm>
          <a:prstGeom prst="rect">
            <a:avLst/>
          </a:prstGeom>
          <a:noFill/>
        </p:spPr>
        <p:txBody>
          <a:bodyPr wrap="square" anchor="t" lIns="45720" rIns="45720">
            <a:spAutoFit/>
          </a:bodyPr>
          <a:lstStyle/>
          <a:p>
            <a:pPr algn="l">
              <a:spcAft>
                <a:spcPts val="384"/>
              </a:spcAft>
            </a:pPr>
            <a:r>
              <a:rPr sz="1100" b="1">
                <a:solidFill>
                  <a:srgbClr val="A8B0BA"/>
                </a:solidFill>
                <a:latin typeface="Calibri"/>
              </a:rPr>
              <a:t>KEY FORMULAS</a:t>
            </a:r>
          </a:p>
        </p:txBody>
      </p:sp>
      <p:sp>
        <p:nvSpPr>
          <p:cNvPr id="14" name="TextBox 13"/>
          <p:cNvSpPr txBox="1"/>
          <p:nvPr/>
        </p:nvSpPr>
        <p:spPr>
          <a:xfrm>
            <a:off x="4023360" y="4325112"/>
            <a:ext cx="4023359" cy="1207008"/>
          </a:xfrm>
          <a:prstGeom prst="rect">
            <a:avLst/>
          </a:prstGeom>
          <a:noFill/>
        </p:spPr>
        <p:txBody>
          <a:bodyPr wrap="square" anchor="t" lIns="45720" rIns="45720">
            <a:spAutoFit/>
          </a:bodyPr>
          <a:lstStyle/>
          <a:p>
            <a:pPr algn="l">
              <a:spcAft>
                <a:spcPts val="489"/>
              </a:spcAft>
            </a:pPr>
            <a:r>
              <a:rPr sz="1400" b="0">
                <a:solidFill>
                  <a:srgbClr val="6FD6E8"/>
                </a:solidFill>
                <a:latin typeface="Consolas"/>
              </a:rPr>
              <a:t>tᵢ₊₁ = tᵢ + |Pᵢ₊₁ − Pᵢ|^α,  α = 0.5</a:t>
            </a:r>
          </a:p>
          <a:p>
            <a:pPr algn="l">
              <a:spcAft>
                <a:spcPts val="489"/>
              </a:spcAft>
            </a:pPr>
            <a:r>
              <a:rPr sz="1400" b="0">
                <a:solidFill>
                  <a:srgbClr val="6FD6E8"/>
                </a:solidFill>
                <a:latin typeface="Consolas"/>
              </a:rPr>
              <a:t>v = v_max / (1 + 1.5 κ)</a:t>
            </a:r>
          </a:p>
          <a:p>
            <a:pPr algn="l">
              <a:spcAft>
                <a:spcPts val="489"/>
              </a:spcAft>
            </a:pPr>
            <a:r>
              <a:rPr sz="1400" b="0">
                <a:solidFill>
                  <a:srgbClr val="6FD6E8"/>
                </a:solidFill>
                <a:latin typeface="Consolas"/>
              </a:rPr>
              <a:t>cos θ_knee = (a² + b² − d²) / 2ab</a:t>
            </a:r>
          </a:p>
          <a:p>
            <a:pPr algn="l">
              <a:spcAft>
                <a:spcPts val="489"/>
              </a:spcAft>
            </a:pPr>
            <a:r>
              <a:rPr sz="1400" b="0">
                <a:solidFill>
                  <a:srgbClr val="6FD6E8"/>
                </a:solidFill>
                <a:latin typeface="Consolas"/>
              </a:rPr>
              <a:t>a = 0.46 m (thigh), b = 0.44 m (shin)</a:t>
            </a:r>
          </a:p>
        </p:txBody>
      </p:sp>
      <p:sp>
        <p:nvSpPr>
          <p:cNvPr id="15" name="Rectangle 14"/>
          <p:cNvSpPr/>
          <p:nvPr/>
        </p:nvSpPr>
        <p:spPr>
          <a:xfrm>
            <a:off x="3886200" y="578967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5715000"/>
            <a:ext cx="3977639" cy="4114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Planted stance foot, swing arc, arm swing</a:t>
            </a:r>
          </a:p>
        </p:txBody>
      </p:sp>
      <p:sp>
        <p:nvSpPr>
          <p:cNvPr id="17" name="Rectangle 16"/>
          <p:cNvSpPr/>
          <p:nvPr/>
        </p:nvSpPr>
        <p:spPr>
          <a:xfrm>
            <a:off x="3886200" y="620115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0" y="6126480"/>
            <a:ext cx="3977639" cy="4114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Shift change at dusk and daybreak</a:t>
            </a:r>
          </a:p>
        </p:txBody>
      </p:sp>
      <p:sp>
        <p:nvSpPr>
          <p:cNvPr id="19" name="Rectangle 18"/>
          <p:cNvSpPr/>
          <p:nvPr/>
        </p:nvSpPr>
        <p:spPr>
          <a:xfrm>
            <a:off x="8229600" y="1463040"/>
            <a:ext cx="1709928" cy="987552"/>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481328"/>
            <a:ext cx="1709928" cy="562904"/>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8</a:t>
            </a:r>
          </a:p>
        </p:txBody>
      </p:sp>
      <p:sp>
        <p:nvSpPr>
          <p:cNvPr id="21" name="TextBox 20"/>
          <p:cNvSpPr txBox="1"/>
          <p:nvPr/>
        </p:nvSpPr>
        <p:spPr>
          <a:xfrm>
            <a:off x="8229600" y="2045695"/>
            <a:ext cx="1709928" cy="37526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soldiers</a:t>
            </a:r>
          </a:p>
        </p:txBody>
      </p:sp>
      <p:sp>
        <p:nvSpPr>
          <p:cNvPr id="22" name="Rectangle 21"/>
          <p:cNvSpPr/>
          <p:nvPr/>
        </p:nvSpPr>
        <p:spPr>
          <a:xfrm>
            <a:off x="10021824" y="1463040"/>
            <a:ext cx="1709928" cy="987552"/>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21824" y="1481328"/>
            <a:ext cx="1709928" cy="562904"/>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75</a:t>
            </a:r>
          </a:p>
        </p:txBody>
      </p:sp>
      <p:sp>
        <p:nvSpPr>
          <p:cNvPr id="24" name="TextBox 23"/>
          <p:cNvSpPr txBox="1"/>
          <p:nvPr/>
        </p:nvSpPr>
        <p:spPr>
          <a:xfrm>
            <a:off x="10021824" y="2045695"/>
            <a:ext cx="1709928" cy="37526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parts each</a:t>
            </a:r>
          </a:p>
        </p:txBody>
      </p:sp>
      <p:sp>
        <p:nvSpPr>
          <p:cNvPr id="25" name="Rectangle 24"/>
          <p:cNvSpPr/>
          <p:nvPr/>
        </p:nvSpPr>
        <p:spPr>
          <a:xfrm>
            <a:off x="8229600" y="2560320"/>
            <a:ext cx="1709928" cy="987552"/>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2578608"/>
            <a:ext cx="1709928" cy="562904"/>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7</a:t>
            </a:r>
          </a:p>
        </p:txBody>
      </p:sp>
      <p:sp>
        <p:nvSpPr>
          <p:cNvPr id="27" name="TextBox 26"/>
          <p:cNvSpPr txBox="1"/>
          <p:nvPr/>
        </p:nvSpPr>
        <p:spPr>
          <a:xfrm>
            <a:off x="8229600" y="3142975"/>
            <a:ext cx="1709928" cy="37526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hierarchy levels</a:t>
            </a:r>
          </a:p>
        </p:txBody>
      </p:sp>
      <p:sp>
        <p:nvSpPr>
          <p:cNvPr id="28" name="Rectangle 27"/>
          <p:cNvSpPr/>
          <p:nvPr/>
        </p:nvSpPr>
        <p:spPr>
          <a:xfrm>
            <a:off x="10021824" y="2560320"/>
            <a:ext cx="1709928" cy="987552"/>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21824" y="2578608"/>
            <a:ext cx="1709928" cy="562904"/>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17</a:t>
            </a:r>
          </a:p>
        </p:txBody>
      </p:sp>
      <p:sp>
        <p:nvSpPr>
          <p:cNvPr id="30" name="TextBox 29"/>
          <p:cNvSpPr txBox="1"/>
          <p:nvPr/>
        </p:nvSpPr>
        <p:spPr>
          <a:xfrm>
            <a:off x="10021824" y="3142975"/>
            <a:ext cx="1709928" cy="37526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spline routes</a:t>
            </a:r>
          </a:p>
        </p:txBody>
      </p:sp>
      <p:pic>
        <p:nvPicPr>
          <p:cNvPr id="31" name="Picture 30" descr="img27.jpg"/>
          <p:cNvPicPr>
            <a:picLocks noChangeAspect="1"/>
          </p:cNvPicPr>
          <p:nvPr/>
        </p:nvPicPr>
        <p:blipFill>
          <a:blip r:embed="rId5"/>
          <a:srcRect l="15804" r="15804"/>
          <a:stretch>
            <a:fillRect/>
          </a:stretch>
        </p:blipFill>
        <p:spPr>
          <a:xfrm>
            <a:off x="8229600" y="3749039"/>
            <a:ext cx="3502152" cy="2880360"/>
          </a:xfrm>
          <a:prstGeom prst="rect">
            <a:avLst/>
          </a:prstGeom>
        </p:spPr>
      </p:pic>
      <p:sp>
        <p:nvSpPr>
          <p:cNvPr id="32" name="Rectangle 31"/>
          <p:cNvSpPr/>
          <p:nvPr/>
        </p:nvSpPr>
        <p:spPr>
          <a:xfrm>
            <a:off x="8229600" y="6281928"/>
            <a:ext cx="350215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6281928"/>
            <a:ext cx="350215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F3: possessed soldier, first person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11  |  V6  |  INTRUDERS</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Random rover routes</a:t>
            </a:r>
          </a:p>
        </p:txBody>
      </p:sp>
      <p:pic>
        <p:nvPicPr>
          <p:cNvPr id="5" name="Picture 4" descr="img28.jpg"/>
          <p:cNvPicPr>
            <a:picLocks noChangeAspect="1"/>
          </p:cNvPicPr>
          <p:nvPr/>
        </p:nvPicPr>
        <p:blipFill>
          <a:blip r:embed="rId3"/>
          <a:srcRect l="17146" r="17146"/>
          <a:stretch>
            <a:fillRect/>
          </a:stretch>
        </p:blipFill>
        <p:spPr>
          <a:xfrm>
            <a:off x="457200" y="1463040"/>
            <a:ext cx="6035040" cy="5166360"/>
          </a:xfrm>
          <a:prstGeom prst="rect">
            <a:avLst/>
          </a:prstGeom>
        </p:spPr>
      </p:pic>
      <p:sp>
        <p:nvSpPr>
          <p:cNvPr id="6" name="Rectangle 5"/>
          <p:cNvSpPr/>
          <p:nvPr/>
        </p:nvSpPr>
        <p:spPr>
          <a:xfrm>
            <a:off x="457200" y="6281928"/>
            <a:ext cx="60350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281928"/>
            <a:ext cx="60350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Planned routes on the thermal plan view</a:t>
            </a:r>
          </a:p>
        </p:txBody>
      </p:sp>
      <p:sp>
        <p:nvSpPr>
          <p:cNvPr id="8" name="Rectangle 7"/>
          <p:cNvSpPr/>
          <p:nvPr/>
        </p:nvSpPr>
        <p:spPr>
          <a:xfrm>
            <a:off x="6675120" y="1566672"/>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3720" y="1481328"/>
            <a:ext cx="4828032" cy="502920"/>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Spawn on a ring (±1.2 m), not within ±18° of the gate road</a:t>
            </a:r>
          </a:p>
        </p:txBody>
      </p:sp>
      <p:sp>
        <p:nvSpPr>
          <p:cNvPr id="10" name="Rectangle 9"/>
          <p:cNvSpPr/>
          <p:nvPr/>
        </p:nvSpPr>
        <p:spPr>
          <a:xfrm>
            <a:off x="6675120" y="2069591"/>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0" y="1984248"/>
            <a:ext cx="4828032" cy="502920"/>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0-3 via points in a ±70° sector, radius 4-15 m</a:t>
            </a:r>
          </a:p>
        </p:txBody>
      </p:sp>
      <p:sp>
        <p:nvSpPr>
          <p:cNvPr id="12" name="Rectangle 11"/>
          <p:cNvSpPr/>
          <p:nvPr/>
        </p:nvSpPr>
        <p:spPr>
          <a:xfrm>
            <a:off x="6675120" y="2572512"/>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2487168"/>
            <a:ext cx="4828032" cy="502920"/>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Objective switch with p = 0.3 after 8-22 s</a:t>
            </a:r>
          </a:p>
        </p:txBody>
      </p:sp>
      <p:sp>
        <p:nvSpPr>
          <p:cNvPr id="14" name="Rectangle 13"/>
          <p:cNvSpPr/>
          <p:nvPr/>
        </p:nvSpPr>
        <p:spPr>
          <a:xfrm>
            <a:off x="6675120" y="3075432"/>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0" y="2990088"/>
            <a:ext cx="4828032" cy="502920"/>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Personality: speed 0.8-1.25, noise and exposure weights, pauses in cover</a:t>
            </a:r>
          </a:p>
        </p:txBody>
      </p:sp>
      <p:sp>
        <p:nvSpPr>
          <p:cNvPr id="16" name="Rectangle 15"/>
          <p:cNvSpPr/>
          <p:nvPr/>
        </p:nvSpPr>
        <p:spPr>
          <a:xfrm>
            <a:off x="6675120" y="3578352"/>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3493008"/>
            <a:ext cx="4828032" cy="502920"/>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Seeded patrols for the UAVs too (seed 0 = the exact v5 run)</a:t>
            </a:r>
          </a:p>
        </p:txBody>
      </p:sp>
      <p:sp>
        <p:nvSpPr>
          <p:cNvPr id="18" name="Rectangle 17"/>
          <p:cNvSpPr/>
          <p:nvPr/>
        </p:nvSpPr>
        <p:spPr>
          <a:xfrm>
            <a:off x="6675120" y="4114800"/>
            <a:ext cx="1618488"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4133087"/>
            <a:ext cx="1618488" cy="573328"/>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0</a:t>
            </a:r>
          </a:p>
        </p:txBody>
      </p:sp>
      <p:sp>
        <p:nvSpPr>
          <p:cNvPr id="20" name="TextBox 19"/>
          <p:cNvSpPr txBox="1"/>
          <p:nvPr/>
        </p:nvSpPr>
        <p:spPr>
          <a:xfrm>
            <a:off x="6675120" y="4708245"/>
            <a:ext cx="1618488"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spawns by day</a:t>
            </a:r>
          </a:p>
        </p:txBody>
      </p:sp>
      <p:sp>
        <p:nvSpPr>
          <p:cNvPr id="21" name="Rectangle 20"/>
          <p:cNvSpPr/>
          <p:nvPr/>
        </p:nvSpPr>
        <p:spPr>
          <a:xfrm>
            <a:off x="8375904" y="4114800"/>
            <a:ext cx="1618488"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75904" y="4133087"/>
            <a:ext cx="1618488" cy="573328"/>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42 = 42</a:t>
            </a:r>
          </a:p>
        </p:txBody>
      </p:sp>
      <p:sp>
        <p:nvSpPr>
          <p:cNvPr id="23" name="TextBox 22"/>
          <p:cNvSpPr txBox="1"/>
          <p:nvPr/>
        </p:nvSpPr>
        <p:spPr>
          <a:xfrm>
            <a:off x="8375904" y="4708245"/>
            <a:ext cx="1618488"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seed 42 twice: identical</a:t>
            </a:r>
          </a:p>
        </p:txBody>
      </p:sp>
      <p:sp>
        <p:nvSpPr>
          <p:cNvPr id="24" name="Rectangle 23"/>
          <p:cNvSpPr/>
          <p:nvPr/>
        </p:nvSpPr>
        <p:spPr>
          <a:xfrm>
            <a:off x="10076688" y="4114800"/>
            <a:ext cx="1618488"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76688" y="4133087"/>
            <a:ext cx="1618488" cy="573328"/>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a:t>
            </a:r>
          </a:p>
        </p:txBody>
      </p:sp>
      <p:sp>
        <p:nvSpPr>
          <p:cNvPr id="26" name="TextBox 25"/>
          <p:cNvSpPr txBox="1"/>
          <p:nvPr/>
        </p:nvSpPr>
        <p:spPr>
          <a:xfrm>
            <a:off x="10076688" y="4708245"/>
            <a:ext cx="1618488"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seed 43: other run</a:t>
            </a:r>
          </a:p>
        </p:txBody>
      </p:sp>
      <p:sp>
        <p:nvSpPr>
          <p:cNvPr id="27" name="Rectangle 26"/>
          <p:cNvSpPr/>
          <p:nvPr/>
        </p:nvSpPr>
        <p:spPr>
          <a:xfrm>
            <a:off x="6675120" y="5303520"/>
            <a:ext cx="5056632" cy="132588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5303520"/>
            <a:ext cx="54864" cy="1325880"/>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12280" y="5376672"/>
            <a:ext cx="4873752" cy="274320"/>
          </a:xfrm>
          <a:prstGeom prst="rect">
            <a:avLst/>
          </a:prstGeom>
          <a:noFill/>
        </p:spPr>
        <p:txBody>
          <a:bodyPr wrap="square" anchor="t" lIns="45720" rIns="45720">
            <a:spAutoFit/>
          </a:bodyPr>
          <a:lstStyle/>
          <a:p>
            <a:pPr algn="l">
              <a:spcAft>
                <a:spcPts val="384"/>
              </a:spcAft>
            </a:pPr>
            <a:r>
              <a:rPr sz="1100" b="1">
                <a:solidFill>
                  <a:srgbClr val="A8B0BA"/>
                </a:solidFill>
                <a:latin typeface="Calibri"/>
              </a:rPr>
              <a:t>PER-ROVER PLANNER</a:t>
            </a:r>
          </a:p>
        </p:txBody>
      </p:sp>
      <p:sp>
        <p:nvSpPr>
          <p:cNvPr id="30" name="TextBox 29"/>
          <p:cNvSpPr txBox="1"/>
          <p:nvPr/>
        </p:nvSpPr>
        <p:spPr>
          <a:xfrm>
            <a:off x="6812280" y="5650992"/>
            <a:ext cx="4873752" cy="932688"/>
          </a:xfrm>
          <a:prstGeom prst="rect">
            <a:avLst/>
          </a:prstGeom>
          <a:noFill/>
        </p:spPr>
        <p:txBody>
          <a:bodyPr wrap="square" anchor="t" lIns="45720" rIns="45720">
            <a:spAutoFit/>
          </a:bodyPr>
          <a:lstStyle/>
          <a:p>
            <a:pPr algn="l">
              <a:spcAft>
                <a:spcPts val="489"/>
              </a:spcAft>
            </a:pPr>
            <a:r>
              <a:rPr sz="1400" b="0">
                <a:solidFill>
                  <a:srgbClr val="6FD6E8"/>
                </a:solidFill>
                <a:latin typeface="Consolas"/>
              </a:rPr>
              <a:t>cost = dist + w_e·exposure + w_n·noise</a:t>
            </a:r>
          </a:p>
          <a:p>
            <a:pPr algn="l">
              <a:spcAft>
                <a:spcPts val="489"/>
              </a:spcAft>
            </a:pPr>
            <a:r>
              <a:rPr sz="1400" b="0">
                <a:solidFill>
                  <a:srgbClr val="6FD6E8"/>
                </a:solidFill>
                <a:latin typeface="Consolas"/>
              </a:rPr>
              <a:t>flood fill on cost, line follower on path</a:t>
            </a:r>
          </a:p>
          <a:p>
            <a:pPr algn="l">
              <a:spcAft>
                <a:spcPts val="489"/>
              </a:spcAft>
            </a:pPr>
            <a:r>
              <a:rPr sz="1400" b="0">
                <a:solidFill>
                  <a:srgbClr val="6FD6E8"/>
                </a:solidFill>
                <a:latin typeface="Consolas"/>
              </a:rPr>
              <a:t>seed = deriveSeed(run seed, stream)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12  |  V6  |  VISION</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Real computer vision under sensor noise</a:t>
            </a:r>
          </a:p>
        </p:txBody>
      </p:sp>
      <p:pic>
        <p:nvPicPr>
          <p:cNvPr id="5" name="Picture 4" descr="img29.jpg"/>
          <p:cNvPicPr>
            <a:picLocks noChangeAspect="1"/>
          </p:cNvPicPr>
          <p:nvPr/>
        </p:nvPicPr>
        <p:blipFill>
          <a:blip r:embed="rId3"/>
          <a:stretch>
            <a:fillRect/>
          </a:stretch>
        </p:blipFill>
        <p:spPr>
          <a:xfrm>
            <a:off x="457200" y="1465325"/>
            <a:ext cx="5394960" cy="4046220"/>
          </a:xfrm>
          <a:prstGeom prst="rect">
            <a:avLst/>
          </a:prstGeom>
        </p:spPr>
      </p:pic>
      <p:sp>
        <p:nvSpPr>
          <p:cNvPr id="6" name="TextBox 5"/>
          <p:cNvSpPr txBox="1"/>
          <p:nvPr/>
        </p:nvSpPr>
        <p:spPr>
          <a:xfrm>
            <a:off x="457200" y="5596128"/>
            <a:ext cx="5394960" cy="100584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Ideal heat image | sensor model | difference ×5 | detectAll:</a:t>
            </a:r>
          </a:p>
          <a:p>
            <a:pPr algn="l">
              <a:spcAft>
                <a:spcPts val="489"/>
              </a:spcAft>
            </a:pPr>
            <a:r>
              <a:rPr sz="1400" b="0">
                <a:solidFill>
                  <a:srgbClr val="A8B0BA"/>
                </a:solidFill>
                <a:latin typeface="Calibri"/>
              </a:rPr>
              <a:t>threshold max(0.80, Otsu) → components → target / person / clutter</a:t>
            </a:r>
          </a:p>
        </p:txBody>
      </p:sp>
      <p:sp>
        <p:nvSpPr>
          <p:cNvPr id="7" name="Rectangle 6"/>
          <p:cNvSpPr/>
          <p:nvPr/>
        </p:nvSpPr>
        <p:spPr>
          <a:xfrm>
            <a:off x="6035040" y="1463040"/>
            <a:ext cx="5696712" cy="12344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35040" y="1463040"/>
            <a:ext cx="54864" cy="1234440"/>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536192"/>
            <a:ext cx="5513832" cy="274320"/>
          </a:xfrm>
          <a:prstGeom prst="rect">
            <a:avLst/>
          </a:prstGeom>
          <a:noFill/>
        </p:spPr>
        <p:txBody>
          <a:bodyPr wrap="square" anchor="t" lIns="45720" rIns="45720">
            <a:spAutoFit/>
          </a:bodyPr>
          <a:lstStyle/>
          <a:p>
            <a:pPr algn="l">
              <a:spcAft>
                <a:spcPts val="384"/>
              </a:spcAft>
            </a:pPr>
            <a:r>
              <a:rPr sz="1100" b="1">
                <a:solidFill>
                  <a:srgbClr val="A8B0BA"/>
                </a:solidFill>
                <a:latin typeface="Calibri"/>
              </a:rPr>
              <a:t>SENSOR MODEL</a:t>
            </a:r>
          </a:p>
        </p:txBody>
      </p:sp>
      <p:sp>
        <p:nvSpPr>
          <p:cNvPr id="10" name="TextBox 9"/>
          <p:cNvSpPr txBox="1"/>
          <p:nvPr/>
        </p:nvSpPr>
        <p:spPr>
          <a:xfrm>
            <a:off x="6172200" y="1810512"/>
            <a:ext cx="5513832" cy="841247"/>
          </a:xfrm>
          <a:prstGeom prst="rect">
            <a:avLst/>
          </a:prstGeom>
          <a:noFill/>
        </p:spPr>
        <p:txBody>
          <a:bodyPr wrap="square" anchor="t" lIns="45720" rIns="45720">
            <a:spAutoFit/>
          </a:bodyPr>
          <a:lstStyle/>
          <a:p>
            <a:pPr algn="l">
              <a:spcAft>
                <a:spcPts val="525"/>
              </a:spcAft>
            </a:pPr>
            <a:r>
              <a:rPr sz="1500" b="0">
                <a:solidFill>
                  <a:srgbClr val="6FD6E8"/>
                </a:solidFill>
                <a:latin typeface="Consolas"/>
              </a:rPr>
              <a:t>y = Q( g · (PSF * x) + o + c + n )</a:t>
            </a:r>
          </a:p>
          <a:p>
            <a:pPr algn="l">
              <a:spcAft>
                <a:spcPts val="525"/>
              </a:spcAft>
            </a:pPr>
            <a:r>
              <a:rPr sz="1500" b="0">
                <a:solidFill>
                  <a:srgbClr val="6FD6E8"/>
                </a:solidFill>
                <a:latin typeface="Consolas"/>
              </a:rPr>
              <a:t>g, o fixed pattern  c stripes  n NETD 2.0 DN</a:t>
            </a:r>
          </a:p>
        </p:txBody>
      </p:sp>
      <p:sp>
        <p:nvSpPr>
          <p:cNvPr id="11" name="Rectangle 10"/>
          <p:cNvSpPr/>
          <p:nvPr/>
        </p:nvSpPr>
        <p:spPr>
          <a:xfrm>
            <a:off x="6035040" y="2834640"/>
            <a:ext cx="1828800"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2852928"/>
            <a:ext cx="1828800" cy="573328"/>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0.990</a:t>
            </a:r>
          </a:p>
        </p:txBody>
      </p:sp>
      <p:sp>
        <p:nvSpPr>
          <p:cNvPr id="13" name="TextBox 12"/>
          <p:cNvSpPr txBox="1"/>
          <p:nvPr/>
        </p:nvSpPr>
        <p:spPr>
          <a:xfrm>
            <a:off x="6035040" y="3428085"/>
            <a:ext cx="1828800"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P_d, distant rover</a:t>
            </a:r>
          </a:p>
        </p:txBody>
      </p:sp>
      <p:sp>
        <p:nvSpPr>
          <p:cNvPr id="14" name="Rectangle 13"/>
          <p:cNvSpPr/>
          <p:nvPr/>
        </p:nvSpPr>
        <p:spPr>
          <a:xfrm>
            <a:off x="7955279" y="2834640"/>
            <a:ext cx="1828800"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2852928"/>
            <a:ext cx="1828800" cy="573328"/>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0.938</a:t>
            </a:r>
          </a:p>
        </p:txBody>
      </p:sp>
      <p:sp>
        <p:nvSpPr>
          <p:cNvPr id="16" name="TextBox 15"/>
          <p:cNvSpPr txBox="1"/>
          <p:nvPr/>
        </p:nvSpPr>
        <p:spPr>
          <a:xfrm>
            <a:off x="7955279" y="3428085"/>
            <a:ext cx="1828800"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P_d at NETD 8 DN</a:t>
            </a:r>
          </a:p>
        </p:txBody>
      </p:sp>
      <p:sp>
        <p:nvSpPr>
          <p:cNvPr id="17" name="Rectangle 16"/>
          <p:cNvSpPr/>
          <p:nvPr/>
        </p:nvSpPr>
        <p:spPr>
          <a:xfrm>
            <a:off x="9875520" y="2834640"/>
            <a:ext cx="1828800"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0" y="2852928"/>
            <a:ext cx="1828800" cy="573328"/>
          </a:xfrm>
          <a:prstGeom prst="rect">
            <a:avLst/>
          </a:prstGeom>
          <a:noFill/>
        </p:spPr>
        <p:txBody>
          <a:bodyPr wrap="square" anchor="t" lIns="45720" rIns="45720">
            <a:spAutoFit/>
          </a:bodyPr>
          <a:lstStyle/>
          <a:p>
            <a:pPr algn="ctr">
              <a:spcAft>
                <a:spcPts val="910"/>
              </a:spcAft>
            </a:pPr>
            <a:r>
              <a:rPr sz="2600" b="1">
                <a:solidFill>
                  <a:srgbClr val="FF9E1F"/>
                </a:solidFill>
                <a:latin typeface="Calibri"/>
              </a:rPr>
              <a:t>1 %</a:t>
            </a:r>
          </a:p>
        </p:txBody>
      </p:sp>
      <p:sp>
        <p:nvSpPr>
          <p:cNvPr id="19" name="TextBox 18"/>
          <p:cNvSpPr txBox="1"/>
          <p:nvPr/>
        </p:nvSpPr>
        <p:spPr>
          <a:xfrm>
            <a:off x="9875520" y="3428085"/>
            <a:ext cx="1828800"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frames dropped</a:t>
            </a:r>
          </a:p>
        </p:txBody>
      </p:sp>
      <p:pic>
        <p:nvPicPr>
          <p:cNvPr id="20" name="Picture 19" descr="img30.jpg"/>
          <p:cNvPicPr>
            <a:picLocks noChangeAspect="1"/>
          </p:cNvPicPr>
          <p:nvPr/>
        </p:nvPicPr>
        <p:blipFill>
          <a:blip r:embed="rId4"/>
          <a:srcRect l="9319" r="9319"/>
          <a:stretch>
            <a:fillRect/>
          </a:stretch>
        </p:blipFill>
        <p:spPr>
          <a:xfrm>
            <a:off x="6035040" y="4023360"/>
            <a:ext cx="3337560" cy="2606040"/>
          </a:xfrm>
          <a:prstGeom prst="rect">
            <a:avLst/>
          </a:prstGeom>
        </p:spPr>
      </p:pic>
      <p:sp>
        <p:nvSpPr>
          <p:cNvPr id="21" name="Rectangle 20"/>
          <p:cNvSpPr/>
          <p:nvPr/>
        </p:nvSpPr>
        <p:spPr>
          <a:xfrm>
            <a:off x="6035040" y="6281928"/>
            <a:ext cx="333756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6281928"/>
            <a:ext cx="333756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Day thermal: PERS bracket, not a target</a:t>
            </a:r>
          </a:p>
        </p:txBody>
      </p:sp>
      <p:sp>
        <p:nvSpPr>
          <p:cNvPr id="23" name="Rectangle 22"/>
          <p:cNvSpPr/>
          <p:nvPr/>
        </p:nvSpPr>
        <p:spPr>
          <a:xfrm>
            <a:off x="9509760" y="409803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4023360"/>
            <a:ext cx="1993392" cy="77724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Persons never become targets</a:t>
            </a:r>
          </a:p>
        </p:txBody>
      </p:sp>
      <p:sp>
        <p:nvSpPr>
          <p:cNvPr id="25" name="Rectangle 24"/>
          <p:cNvSpPr/>
          <p:nvPr/>
        </p:nvSpPr>
        <p:spPr>
          <a:xfrm>
            <a:off x="9509760" y="487527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8360" y="4800600"/>
            <a:ext cx="1993392" cy="77724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Blind squad never fires</a:t>
            </a:r>
          </a:p>
        </p:txBody>
      </p:sp>
      <p:sp>
        <p:nvSpPr>
          <p:cNvPr id="27" name="Rectangle 26"/>
          <p:cNvSpPr/>
          <p:nvPr/>
        </p:nvSpPr>
        <p:spPr>
          <a:xfrm>
            <a:off x="9509760" y="565251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8360" y="5577840"/>
            <a:ext cx="1993392" cy="77724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Seeded: same seed, same noise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13  |  V7  |  PLAY</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Game camera: jump into any point of view</a:t>
            </a:r>
          </a:p>
        </p:txBody>
      </p:sp>
      <p:pic>
        <p:nvPicPr>
          <p:cNvPr id="5" name="Picture 4" descr="img31.jpg"/>
          <p:cNvPicPr>
            <a:picLocks noChangeAspect="1"/>
          </p:cNvPicPr>
          <p:nvPr/>
        </p:nvPicPr>
        <p:blipFill>
          <a:blip r:embed="rId3"/>
          <a:srcRect t="58" b="58"/>
          <a:stretch>
            <a:fillRect/>
          </a:stretch>
        </p:blipFill>
        <p:spPr>
          <a:xfrm>
            <a:off x="457200" y="1463040"/>
            <a:ext cx="6949440" cy="3904487"/>
          </a:xfrm>
          <a:prstGeom prst="rect">
            <a:avLst/>
          </a:prstGeom>
        </p:spPr>
      </p:pic>
      <p:sp>
        <p:nvSpPr>
          <p:cNvPr id="6" name="Rectangle 5"/>
          <p:cNvSpPr/>
          <p:nvPr/>
        </p:nvSpPr>
        <p:spPr>
          <a:xfrm>
            <a:off x="457200" y="5020055"/>
            <a:ext cx="69494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020055"/>
            <a:ext cx="69494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Soldier first person: rifle, tracers, game HUD (F11)</a:t>
            </a:r>
          </a:p>
        </p:txBody>
      </p:sp>
      <p:pic>
        <p:nvPicPr>
          <p:cNvPr id="8" name="Picture 7" descr="img32.jpg"/>
          <p:cNvPicPr>
            <a:picLocks noChangeAspect="1"/>
          </p:cNvPicPr>
          <p:nvPr/>
        </p:nvPicPr>
        <p:blipFill>
          <a:blip r:embed="rId4"/>
          <a:srcRect t="10019" b="10019"/>
          <a:stretch>
            <a:fillRect/>
          </a:stretch>
        </p:blipFill>
        <p:spPr>
          <a:xfrm>
            <a:off x="7543800" y="1463040"/>
            <a:ext cx="4187952" cy="1883664"/>
          </a:xfrm>
          <a:prstGeom prst="rect">
            <a:avLst/>
          </a:prstGeom>
        </p:spPr>
      </p:pic>
      <p:sp>
        <p:nvSpPr>
          <p:cNvPr id="9" name="Rectangle 8"/>
          <p:cNvSpPr/>
          <p:nvPr/>
        </p:nvSpPr>
        <p:spPr>
          <a:xfrm>
            <a:off x="7543800" y="2999232"/>
            <a:ext cx="418795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2999232"/>
            <a:ext cx="418795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F4: POV picker, every moving object</a:t>
            </a:r>
          </a:p>
        </p:txBody>
      </p:sp>
      <p:pic>
        <p:nvPicPr>
          <p:cNvPr id="11" name="Picture 10" descr="img33.jpg"/>
          <p:cNvPicPr>
            <a:picLocks noChangeAspect="1"/>
          </p:cNvPicPr>
          <p:nvPr/>
        </p:nvPicPr>
        <p:blipFill>
          <a:blip r:embed="rId5"/>
          <a:srcRect t="10019" b="10019"/>
          <a:stretch>
            <a:fillRect/>
          </a:stretch>
        </p:blipFill>
        <p:spPr>
          <a:xfrm>
            <a:off x="7543800" y="3483864"/>
            <a:ext cx="4187952" cy="1883664"/>
          </a:xfrm>
          <a:prstGeom prst="rect">
            <a:avLst/>
          </a:prstGeom>
        </p:spPr>
      </p:pic>
      <p:sp>
        <p:nvSpPr>
          <p:cNvPr id="12" name="Rectangle 11"/>
          <p:cNvSpPr/>
          <p:nvPr/>
        </p:nvSpPr>
        <p:spPr>
          <a:xfrm>
            <a:off x="7543800" y="5020056"/>
            <a:ext cx="418795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5020056"/>
            <a:ext cx="418795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Helicopter cockpit</a:t>
            </a:r>
          </a:p>
        </p:txBody>
      </p:sp>
      <p:sp>
        <p:nvSpPr>
          <p:cNvPr id="14" name="Rectangle 13"/>
          <p:cNvSpPr/>
          <p:nvPr/>
        </p:nvSpPr>
        <p:spPr>
          <a:xfrm>
            <a:off x="457200" y="5504688"/>
            <a:ext cx="1805940" cy="1124712"/>
          </a:xfrm>
          <a:prstGeom prst="rect">
            <a:avLst/>
          </a:prstGeom>
          <a:solidFill>
            <a:srgbClr val="14181E"/>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559551"/>
            <a:ext cx="1805940" cy="384048"/>
          </a:xfrm>
          <a:prstGeom prst="rect">
            <a:avLst/>
          </a:prstGeom>
          <a:noFill/>
        </p:spPr>
        <p:txBody>
          <a:bodyPr wrap="square" anchor="t" lIns="45720" rIns="45720">
            <a:spAutoFit/>
          </a:bodyPr>
          <a:lstStyle/>
          <a:p>
            <a:pPr algn="ctr">
              <a:spcAft>
                <a:spcPts val="594"/>
              </a:spcAft>
            </a:pPr>
            <a:r>
              <a:rPr sz="1700" b="1">
                <a:solidFill>
                  <a:srgbClr val="FF9E1F"/>
                </a:solidFill>
                <a:latin typeface="Calibri"/>
              </a:rPr>
              <a:t>F4</a:t>
            </a:r>
          </a:p>
        </p:txBody>
      </p:sp>
      <p:sp>
        <p:nvSpPr>
          <p:cNvPr id="16" name="TextBox 15"/>
          <p:cNvSpPr txBox="1"/>
          <p:nvPr/>
        </p:nvSpPr>
        <p:spPr>
          <a:xfrm>
            <a:off x="502920" y="5961888"/>
            <a:ext cx="1714500" cy="649224"/>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POV picker</a:t>
            </a:r>
          </a:p>
        </p:txBody>
      </p:sp>
      <p:sp>
        <p:nvSpPr>
          <p:cNvPr id="17" name="Rectangle 16"/>
          <p:cNvSpPr/>
          <p:nvPr/>
        </p:nvSpPr>
        <p:spPr>
          <a:xfrm>
            <a:off x="2354580" y="5504688"/>
            <a:ext cx="1805940" cy="1124712"/>
          </a:xfrm>
          <a:prstGeom prst="rect">
            <a:avLst/>
          </a:prstGeom>
          <a:solidFill>
            <a:srgbClr val="14181E"/>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54580" y="5559551"/>
            <a:ext cx="1805940" cy="384048"/>
          </a:xfrm>
          <a:prstGeom prst="rect">
            <a:avLst/>
          </a:prstGeom>
          <a:noFill/>
        </p:spPr>
        <p:txBody>
          <a:bodyPr wrap="square" anchor="t" lIns="45720" rIns="45720">
            <a:spAutoFit/>
          </a:bodyPr>
          <a:lstStyle/>
          <a:p>
            <a:pPr algn="ctr">
              <a:spcAft>
                <a:spcPts val="594"/>
              </a:spcAft>
            </a:pPr>
            <a:r>
              <a:rPr sz="1700" b="1">
                <a:solidFill>
                  <a:srgbClr val="FF9E1F"/>
                </a:solidFill>
                <a:latin typeface="Calibri"/>
              </a:rPr>
              <a:t>Ins / Del</a:t>
            </a:r>
          </a:p>
        </p:txBody>
      </p:sp>
      <p:sp>
        <p:nvSpPr>
          <p:cNvPr id="19" name="TextBox 18"/>
          <p:cNvSpPr txBox="1"/>
          <p:nvPr/>
        </p:nvSpPr>
        <p:spPr>
          <a:xfrm>
            <a:off x="2400300" y="5961888"/>
            <a:ext cx="1714500" cy="649224"/>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next / previous POV</a:t>
            </a:r>
          </a:p>
        </p:txBody>
      </p:sp>
      <p:sp>
        <p:nvSpPr>
          <p:cNvPr id="20" name="Rectangle 19"/>
          <p:cNvSpPr/>
          <p:nvPr/>
        </p:nvSpPr>
        <p:spPr>
          <a:xfrm>
            <a:off x="4251960" y="5504688"/>
            <a:ext cx="1805940" cy="1124712"/>
          </a:xfrm>
          <a:prstGeom prst="rect">
            <a:avLst/>
          </a:prstGeom>
          <a:solidFill>
            <a:srgbClr val="14181E"/>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60" y="5559551"/>
            <a:ext cx="1805940" cy="384048"/>
          </a:xfrm>
          <a:prstGeom prst="rect">
            <a:avLst/>
          </a:prstGeom>
          <a:noFill/>
        </p:spPr>
        <p:txBody>
          <a:bodyPr wrap="square" anchor="t" lIns="45720" rIns="45720">
            <a:spAutoFit/>
          </a:bodyPr>
          <a:lstStyle/>
          <a:p>
            <a:pPr algn="ctr">
              <a:spcAft>
                <a:spcPts val="594"/>
              </a:spcAft>
            </a:pPr>
            <a:r>
              <a:rPr sz="1700" b="1">
                <a:solidFill>
                  <a:srgbClr val="FF9E1F"/>
                </a:solidFill>
                <a:latin typeface="Calibri"/>
              </a:rPr>
              <a:t>Middle click</a:t>
            </a:r>
          </a:p>
        </p:txBody>
      </p:sp>
      <p:sp>
        <p:nvSpPr>
          <p:cNvPr id="22" name="TextBox 21"/>
          <p:cNvSpPr txBox="1"/>
          <p:nvPr/>
        </p:nvSpPr>
        <p:spPr>
          <a:xfrm>
            <a:off x="4297680" y="5961888"/>
            <a:ext cx="1714500" cy="649224"/>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jump into it</a:t>
            </a:r>
          </a:p>
        </p:txBody>
      </p:sp>
      <p:sp>
        <p:nvSpPr>
          <p:cNvPr id="23" name="Rectangle 22"/>
          <p:cNvSpPr/>
          <p:nvPr/>
        </p:nvSpPr>
        <p:spPr>
          <a:xfrm>
            <a:off x="6149340" y="5504688"/>
            <a:ext cx="1805940" cy="1124712"/>
          </a:xfrm>
          <a:prstGeom prst="rect">
            <a:avLst/>
          </a:prstGeom>
          <a:solidFill>
            <a:srgbClr val="14181E"/>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49340" y="5559551"/>
            <a:ext cx="1805940" cy="384048"/>
          </a:xfrm>
          <a:prstGeom prst="rect">
            <a:avLst/>
          </a:prstGeom>
          <a:noFill/>
        </p:spPr>
        <p:txBody>
          <a:bodyPr wrap="square" anchor="t" lIns="45720" rIns="45720">
            <a:spAutoFit/>
          </a:bodyPr>
          <a:lstStyle/>
          <a:p>
            <a:pPr algn="ctr">
              <a:spcAft>
                <a:spcPts val="594"/>
              </a:spcAft>
            </a:pPr>
            <a:r>
              <a:rPr sz="1700" b="1">
                <a:solidFill>
                  <a:srgbClr val="FF9E1F"/>
                </a:solidFill>
                <a:latin typeface="Calibri"/>
              </a:rPr>
              <a:t>Home / End</a:t>
            </a:r>
          </a:p>
        </p:txBody>
      </p:sp>
      <p:sp>
        <p:nvSpPr>
          <p:cNvPr id="25" name="TextBox 24"/>
          <p:cNvSpPr txBox="1"/>
          <p:nvPr/>
        </p:nvSpPr>
        <p:spPr>
          <a:xfrm>
            <a:off x="6195060" y="5961888"/>
            <a:ext cx="1714500" cy="649224"/>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free fly / back</a:t>
            </a:r>
          </a:p>
        </p:txBody>
      </p:sp>
      <p:sp>
        <p:nvSpPr>
          <p:cNvPr id="26" name="Rectangle 25"/>
          <p:cNvSpPr/>
          <p:nvPr/>
        </p:nvSpPr>
        <p:spPr>
          <a:xfrm>
            <a:off x="8046720" y="5504688"/>
            <a:ext cx="1805940" cy="1124712"/>
          </a:xfrm>
          <a:prstGeom prst="rect">
            <a:avLst/>
          </a:prstGeom>
          <a:solidFill>
            <a:srgbClr val="14181E"/>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0" y="5559551"/>
            <a:ext cx="1805940" cy="384048"/>
          </a:xfrm>
          <a:prstGeom prst="rect">
            <a:avLst/>
          </a:prstGeom>
          <a:noFill/>
        </p:spPr>
        <p:txBody>
          <a:bodyPr wrap="square" anchor="t" lIns="45720" rIns="45720">
            <a:spAutoFit/>
          </a:bodyPr>
          <a:lstStyle/>
          <a:p>
            <a:pPr algn="ctr">
              <a:spcAft>
                <a:spcPts val="594"/>
              </a:spcAft>
            </a:pPr>
            <a:r>
              <a:rPr sz="1700" b="1">
                <a:solidFill>
                  <a:srgbClr val="FF9E1F"/>
                </a:solidFill>
                <a:latin typeface="Calibri"/>
              </a:rPr>
              <a:t>F11</a:t>
            </a:r>
          </a:p>
        </p:txBody>
      </p:sp>
      <p:sp>
        <p:nvSpPr>
          <p:cNvPr id="28" name="TextBox 27"/>
          <p:cNvSpPr txBox="1"/>
          <p:nvPr/>
        </p:nvSpPr>
        <p:spPr>
          <a:xfrm>
            <a:off x="8092440" y="5961888"/>
            <a:ext cx="1714500" cy="649224"/>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game mode HUD</a:t>
            </a:r>
          </a:p>
        </p:txBody>
      </p:sp>
      <p:sp>
        <p:nvSpPr>
          <p:cNvPr id="29" name="Rectangle 28"/>
          <p:cNvSpPr/>
          <p:nvPr/>
        </p:nvSpPr>
        <p:spPr>
          <a:xfrm>
            <a:off x="9944100" y="5504688"/>
            <a:ext cx="1805940" cy="1124712"/>
          </a:xfrm>
          <a:prstGeom prst="rect">
            <a:avLst/>
          </a:prstGeom>
          <a:solidFill>
            <a:srgbClr val="14181E"/>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44100" y="5559551"/>
            <a:ext cx="1805940" cy="384048"/>
          </a:xfrm>
          <a:prstGeom prst="rect">
            <a:avLst/>
          </a:prstGeom>
          <a:noFill/>
        </p:spPr>
        <p:txBody>
          <a:bodyPr wrap="square" anchor="t" lIns="45720" rIns="45720">
            <a:spAutoFit/>
          </a:bodyPr>
          <a:lstStyle/>
          <a:p>
            <a:pPr algn="ctr">
              <a:spcAft>
                <a:spcPts val="594"/>
              </a:spcAft>
            </a:pPr>
            <a:r>
              <a:rPr sz="1700" b="1">
                <a:solidFill>
                  <a:srgbClr val="FF9E1F"/>
                </a:solidFill>
                <a:latin typeface="Calibri"/>
              </a:rPr>
              <a:t>L-Ctrl / L-Alt</a:t>
            </a:r>
          </a:p>
        </p:txBody>
      </p:sp>
      <p:sp>
        <p:nvSpPr>
          <p:cNvPr id="31" name="TextBox 30"/>
          <p:cNvSpPr txBox="1"/>
          <p:nvPr/>
        </p:nvSpPr>
        <p:spPr>
          <a:xfrm>
            <a:off x="9989820" y="5961888"/>
            <a:ext cx="1714500" cy="649224"/>
          </a:xfrm>
          <a:prstGeom prst="rect">
            <a:avLst/>
          </a:prstGeom>
          <a:noFill/>
        </p:spPr>
        <p:txBody>
          <a:bodyPr wrap="square" anchor="t" lIns="45720" rIns="45720">
            <a:spAutoFit/>
          </a:bodyPr>
          <a:lstStyle/>
          <a:p>
            <a:pPr algn="ctr">
              <a:spcAft>
                <a:spcPts val="419"/>
              </a:spcAft>
            </a:pPr>
            <a:r>
              <a:rPr sz="1200" b="0">
                <a:solidFill>
                  <a:srgbClr val="A8B0BA"/>
                </a:solidFill>
                <a:latin typeface="Calibri"/>
              </a:rPr>
              <a:t>soldier: fire / crouch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14  |  V7  |  RAY TRACING</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Three ways to trace light</a:t>
            </a:r>
          </a:p>
        </p:txBody>
      </p:sp>
      <p:pic>
        <p:nvPicPr>
          <p:cNvPr id="5" name="Picture 4" descr="img34.jpg"/>
          <p:cNvPicPr>
            <a:picLocks noChangeAspect="1"/>
          </p:cNvPicPr>
          <p:nvPr/>
        </p:nvPicPr>
        <p:blipFill>
          <a:blip r:embed="rId3"/>
          <a:srcRect l="6103" r="6103"/>
          <a:stretch>
            <a:fillRect/>
          </a:stretch>
        </p:blipFill>
        <p:spPr>
          <a:xfrm>
            <a:off x="457200" y="1463040"/>
            <a:ext cx="3639312" cy="2331720"/>
          </a:xfrm>
          <a:prstGeom prst="rect">
            <a:avLst/>
          </a:prstGeom>
        </p:spPr>
      </p:pic>
      <p:sp>
        <p:nvSpPr>
          <p:cNvPr id="6" name="TextBox 5"/>
          <p:cNvSpPr txBox="1"/>
          <p:nvPr/>
        </p:nvSpPr>
        <p:spPr>
          <a:xfrm>
            <a:off x="457200" y="3886200"/>
            <a:ext cx="3639312" cy="411480"/>
          </a:xfrm>
          <a:prstGeom prst="rect">
            <a:avLst/>
          </a:prstGeom>
          <a:noFill/>
        </p:spPr>
        <p:txBody>
          <a:bodyPr wrap="square" anchor="t" lIns="45720" rIns="45720">
            <a:spAutoFit/>
          </a:bodyPr>
          <a:lstStyle/>
          <a:p>
            <a:pPr algn="l">
              <a:spcAft>
                <a:spcPts val="700"/>
              </a:spcAft>
            </a:pPr>
            <a:r>
              <a:rPr sz="2000" b="1">
                <a:solidFill>
                  <a:srgbClr val="FF9E1F"/>
                </a:solidFill>
                <a:latin typeface="Calibri"/>
              </a:rPr>
              <a:t>Whitted (recursive)</a:t>
            </a:r>
          </a:p>
        </p:txBody>
      </p:sp>
      <p:sp>
        <p:nvSpPr>
          <p:cNvPr id="7" name="Rectangle 6"/>
          <p:cNvSpPr/>
          <p:nvPr/>
        </p:nvSpPr>
        <p:spPr>
          <a:xfrm>
            <a:off x="457200" y="441807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343400"/>
            <a:ext cx="3410712" cy="6400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Shadow rays, mirror reflection, Snell refraction with exact Fresnel</a:t>
            </a:r>
          </a:p>
        </p:txBody>
      </p:sp>
      <p:sp>
        <p:nvSpPr>
          <p:cNvPr id="9" name="Rectangle 8"/>
          <p:cNvSpPr/>
          <p:nvPr/>
        </p:nvSpPr>
        <p:spPr>
          <a:xfrm>
            <a:off x="457200" y="505815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983480"/>
            <a:ext cx="3410712" cy="6400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Converges softly while the camera is still</a:t>
            </a:r>
          </a:p>
        </p:txBody>
      </p:sp>
      <p:sp>
        <p:nvSpPr>
          <p:cNvPr id="11" name="Rectangle 10"/>
          <p:cNvSpPr/>
          <p:nvPr/>
        </p:nvSpPr>
        <p:spPr>
          <a:xfrm>
            <a:off x="457200" y="5669280"/>
            <a:ext cx="3639312" cy="45720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669280"/>
            <a:ext cx="3456432" cy="457200"/>
          </a:xfrm>
          <a:prstGeom prst="rect">
            <a:avLst/>
          </a:prstGeom>
          <a:noFill/>
        </p:spPr>
        <p:txBody>
          <a:bodyPr wrap="square" anchor="ctr" lIns="45720" rIns="45720">
            <a:spAutoFit/>
          </a:bodyPr>
          <a:lstStyle/>
          <a:p>
            <a:pPr algn="l">
              <a:spcAft>
                <a:spcPts val="525"/>
              </a:spcAft>
            </a:pPr>
            <a:r>
              <a:rPr sz="1500" b="0">
                <a:solidFill>
                  <a:srgbClr val="6FD6E8"/>
                </a:solidFill>
                <a:latin typeface="Consolas"/>
              </a:rPr>
              <a:t>η₁ sin θ₁ = η₂ sin θ₂</a:t>
            </a:r>
          </a:p>
        </p:txBody>
      </p:sp>
      <p:pic>
        <p:nvPicPr>
          <p:cNvPr id="13" name="Picture 12" descr="img35.jpg"/>
          <p:cNvPicPr>
            <a:picLocks noChangeAspect="1"/>
          </p:cNvPicPr>
          <p:nvPr/>
        </p:nvPicPr>
        <p:blipFill>
          <a:blip r:embed="rId4"/>
          <a:srcRect l="6103" r="6103"/>
          <a:stretch>
            <a:fillRect/>
          </a:stretch>
        </p:blipFill>
        <p:spPr>
          <a:xfrm>
            <a:off x="4274820" y="1463040"/>
            <a:ext cx="3639312" cy="2331720"/>
          </a:xfrm>
          <a:prstGeom prst="rect">
            <a:avLst/>
          </a:prstGeom>
        </p:spPr>
      </p:pic>
      <p:sp>
        <p:nvSpPr>
          <p:cNvPr id="14" name="TextBox 13"/>
          <p:cNvSpPr txBox="1"/>
          <p:nvPr/>
        </p:nvSpPr>
        <p:spPr>
          <a:xfrm>
            <a:off x="4274820" y="3886200"/>
            <a:ext cx="3639312" cy="411480"/>
          </a:xfrm>
          <a:prstGeom prst="rect">
            <a:avLst/>
          </a:prstGeom>
          <a:noFill/>
        </p:spPr>
        <p:txBody>
          <a:bodyPr wrap="square" anchor="t" lIns="45720" rIns="45720">
            <a:spAutoFit/>
          </a:bodyPr>
          <a:lstStyle/>
          <a:p>
            <a:pPr algn="l">
              <a:spcAft>
                <a:spcPts val="700"/>
              </a:spcAft>
            </a:pPr>
            <a:r>
              <a:rPr sz="2000" b="1">
                <a:solidFill>
                  <a:srgbClr val="FF9E1F"/>
                </a:solidFill>
                <a:latin typeface="Calibri"/>
              </a:rPr>
              <a:t>Path tracing</a:t>
            </a:r>
          </a:p>
        </p:txBody>
      </p:sp>
      <p:sp>
        <p:nvSpPr>
          <p:cNvPr id="15" name="Rectangle 14"/>
          <p:cNvSpPr/>
          <p:nvPr/>
        </p:nvSpPr>
        <p:spPr>
          <a:xfrm>
            <a:off x="4274820" y="441807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3420" y="4343400"/>
            <a:ext cx="3410712" cy="6400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Next event estimation, cosine + GGX sampling, Russian roulette</a:t>
            </a:r>
          </a:p>
        </p:txBody>
      </p:sp>
      <p:sp>
        <p:nvSpPr>
          <p:cNvPr id="17" name="Rectangle 16"/>
          <p:cNvSpPr/>
          <p:nvPr/>
        </p:nvSpPr>
        <p:spPr>
          <a:xfrm>
            <a:off x="4274820" y="505815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3420" y="4983480"/>
            <a:ext cx="3410712" cy="6400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1 sample / frame, accumulated, à-trous denoise</a:t>
            </a:r>
          </a:p>
        </p:txBody>
      </p:sp>
      <p:sp>
        <p:nvSpPr>
          <p:cNvPr id="19" name="Rectangle 18"/>
          <p:cNvSpPr/>
          <p:nvPr/>
        </p:nvSpPr>
        <p:spPr>
          <a:xfrm>
            <a:off x="4274820" y="5669280"/>
            <a:ext cx="3639312" cy="45720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6259" y="5669280"/>
            <a:ext cx="3456432" cy="457200"/>
          </a:xfrm>
          <a:prstGeom prst="rect">
            <a:avLst/>
          </a:prstGeom>
          <a:noFill/>
        </p:spPr>
        <p:txBody>
          <a:bodyPr wrap="square" anchor="ctr" lIns="45720" rIns="45720">
            <a:spAutoFit/>
          </a:bodyPr>
          <a:lstStyle/>
          <a:p>
            <a:pPr algn="l">
              <a:spcAft>
                <a:spcPts val="525"/>
              </a:spcAft>
            </a:pPr>
            <a:r>
              <a:rPr sz="1500" b="0">
                <a:solidFill>
                  <a:srgbClr val="6FD6E8"/>
                </a:solidFill>
                <a:latin typeface="Consolas"/>
              </a:rPr>
              <a:t>L = Le + ∫ f · L · cos θ dω</a:t>
            </a:r>
          </a:p>
        </p:txBody>
      </p:sp>
      <p:pic>
        <p:nvPicPr>
          <p:cNvPr id="21" name="Picture 20" descr="img36.jpg"/>
          <p:cNvPicPr>
            <a:picLocks noChangeAspect="1"/>
          </p:cNvPicPr>
          <p:nvPr/>
        </p:nvPicPr>
        <p:blipFill>
          <a:blip r:embed="rId5"/>
          <a:srcRect l="6103" r="6103"/>
          <a:stretch>
            <a:fillRect/>
          </a:stretch>
        </p:blipFill>
        <p:spPr>
          <a:xfrm>
            <a:off x="8092440" y="1463040"/>
            <a:ext cx="3639312" cy="2331720"/>
          </a:xfrm>
          <a:prstGeom prst="rect">
            <a:avLst/>
          </a:prstGeom>
        </p:spPr>
      </p:pic>
      <p:sp>
        <p:nvSpPr>
          <p:cNvPr id="22" name="TextBox 21"/>
          <p:cNvSpPr txBox="1"/>
          <p:nvPr/>
        </p:nvSpPr>
        <p:spPr>
          <a:xfrm>
            <a:off x="8092440" y="3886200"/>
            <a:ext cx="3639312" cy="411480"/>
          </a:xfrm>
          <a:prstGeom prst="rect">
            <a:avLst/>
          </a:prstGeom>
          <a:noFill/>
        </p:spPr>
        <p:txBody>
          <a:bodyPr wrap="square" anchor="t" lIns="45720" rIns="45720">
            <a:spAutoFit/>
          </a:bodyPr>
          <a:lstStyle/>
          <a:p>
            <a:pPr algn="l">
              <a:spcAft>
                <a:spcPts val="700"/>
              </a:spcAft>
            </a:pPr>
            <a:r>
              <a:rPr sz="2000" b="1">
                <a:solidFill>
                  <a:srgbClr val="FF9E1F"/>
                </a:solidFill>
                <a:latin typeface="Calibri"/>
              </a:rPr>
              <a:t>Light tracing (reverse)</a:t>
            </a:r>
          </a:p>
        </p:txBody>
      </p:sp>
      <p:sp>
        <p:nvSpPr>
          <p:cNvPr id="23" name="Rectangle 22"/>
          <p:cNvSpPr/>
          <p:nvPr/>
        </p:nvSpPr>
        <p:spPr>
          <a:xfrm>
            <a:off x="8092440" y="441807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343400"/>
            <a:ext cx="3410712" cy="6400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256K paths / frame from sun, moon, searchlight, lamps</a:t>
            </a:r>
          </a:p>
        </p:txBody>
      </p:sp>
      <p:sp>
        <p:nvSpPr>
          <p:cNvPr id="25" name="Rectangle 24"/>
          <p:cNvSpPr/>
          <p:nvPr/>
        </p:nvSpPr>
        <p:spPr>
          <a:xfrm>
            <a:off x="8092440" y="505815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4983480"/>
            <a:ext cx="3410712" cy="640080"/>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Each vertex splatted to the camera: caustics (cyan)</a:t>
            </a:r>
          </a:p>
        </p:txBody>
      </p:sp>
      <p:sp>
        <p:nvSpPr>
          <p:cNvPr id="27" name="Rectangle 26"/>
          <p:cNvSpPr/>
          <p:nvPr/>
        </p:nvSpPr>
        <p:spPr>
          <a:xfrm>
            <a:off x="8092440" y="5669280"/>
            <a:ext cx="3639312" cy="45720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79" y="5669280"/>
            <a:ext cx="3456432" cy="457200"/>
          </a:xfrm>
          <a:prstGeom prst="rect">
            <a:avLst/>
          </a:prstGeom>
          <a:noFill/>
        </p:spPr>
        <p:txBody>
          <a:bodyPr wrap="square" anchor="ctr" lIns="45720" rIns="45720">
            <a:spAutoFit/>
          </a:bodyPr>
          <a:lstStyle/>
          <a:p>
            <a:pPr algn="l">
              <a:spcAft>
                <a:spcPts val="525"/>
              </a:spcAft>
            </a:pPr>
            <a:r>
              <a:rPr sz="1500" b="0">
                <a:solidFill>
                  <a:srgbClr val="6FD6E8"/>
                </a:solidFill>
                <a:latin typeface="Consolas"/>
              </a:rPr>
              <a:t>W = Npix / (A cos⁴ θ)</a:t>
            </a:r>
          </a:p>
        </p:txBody>
      </p:sp>
      <p:sp>
        <p:nvSpPr>
          <p:cNvPr id="29" name="TextBox 28"/>
          <p:cNvSpPr txBox="1"/>
          <p:nvPr/>
        </p:nvSpPr>
        <p:spPr>
          <a:xfrm>
            <a:off x="457200" y="6236208"/>
            <a:ext cx="11274552" cy="411480"/>
          </a:xfrm>
          <a:prstGeom prst="rect">
            <a:avLst/>
          </a:prstGeom>
          <a:noFill/>
        </p:spPr>
        <p:txBody>
          <a:bodyPr wrap="square" anchor="t" lIns="45720" rIns="45720">
            <a:spAutoFit/>
          </a:bodyPr>
          <a:lstStyle/>
          <a:p>
            <a:pPr algn="l">
              <a:spcAft>
                <a:spcPts val="525"/>
              </a:spcAft>
            </a:pPr>
            <a:r>
              <a:rPr sz="1500" b="0">
                <a:solidFill>
                  <a:srgbClr val="A8B0BA"/>
                </a:solidFill>
                <a:latin typeface="Calibri"/>
              </a:rPr>
              <a:t>One scene, one BVH, exact intersectors: only spheres, boxes, cylinders and cones, no triangles.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15  |  V7  |  RAY TRACING</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BVH with the surface area heuristic</a:t>
            </a:r>
          </a:p>
        </p:txBody>
      </p:sp>
      <p:sp>
        <p:nvSpPr>
          <p:cNvPr id="5" name="Rectangle 4"/>
          <p:cNvSpPr/>
          <p:nvPr/>
        </p:nvSpPr>
        <p:spPr>
          <a:xfrm>
            <a:off x="457200" y="1463040"/>
            <a:ext cx="5394960" cy="91440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63040"/>
            <a:ext cx="54864" cy="914400"/>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36192"/>
            <a:ext cx="5212080" cy="274320"/>
          </a:xfrm>
          <a:prstGeom prst="rect">
            <a:avLst/>
          </a:prstGeom>
          <a:noFill/>
        </p:spPr>
        <p:txBody>
          <a:bodyPr wrap="square" anchor="t" lIns="45720" rIns="45720">
            <a:spAutoFit/>
          </a:bodyPr>
          <a:lstStyle/>
          <a:p>
            <a:pPr algn="l">
              <a:spcAft>
                <a:spcPts val="384"/>
              </a:spcAft>
            </a:pPr>
            <a:r>
              <a:rPr sz="1100" b="1">
                <a:solidFill>
                  <a:srgbClr val="A8B0BA"/>
                </a:solidFill>
                <a:latin typeface="Calibri"/>
              </a:rPr>
              <a:t>SAH SPLIT COST</a:t>
            </a:r>
          </a:p>
        </p:txBody>
      </p:sp>
      <p:sp>
        <p:nvSpPr>
          <p:cNvPr id="8" name="TextBox 7"/>
          <p:cNvSpPr txBox="1"/>
          <p:nvPr/>
        </p:nvSpPr>
        <p:spPr>
          <a:xfrm>
            <a:off x="594360" y="1810512"/>
            <a:ext cx="5212080" cy="521207"/>
          </a:xfrm>
          <a:prstGeom prst="rect">
            <a:avLst/>
          </a:prstGeom>
          <a:noFill/>
        </p:spPr>
        <p:txBody>
          <a:bodyPr wrap="square" anchor="t" lIns="45720" rIns="45720">
            <a:spAutoFit/>
          </a:bodyPr>
          <a:lstStyle/>
          <a:p>
            <a:pPr algn="l">
              <a:spcAft>
                <a:spcPts val="489"/>
              </a:spcAft>
            </a:pPr>
            <a:r>
              <a:rPr sz="1400" b="0">
                <a:solidFill>
                  <a:srgbClr val="6FD6E8"/>
                </a:solidFill>
                <a:latin typeface="Consolas"/>
              </a:rPr>
              <a:t>C = C_trav + (A_L/A)·N_L·C_isect</a:t>
            </a:r>
          </a:p>
          <a:p>
            <a:pPr algn="l">
              <a:spcAft>
                <a:spcPts val="489"/>
              </a:spcAft>
            </a:pPr>
            <a:r>
              <a:rPr sz="1400" b="0">
                <a:solidFill>
                  <a:srgbClr val="6FD6E8"/>
                </a:solidFill>
                <a:latin typeface="Consolas"/>
              </a:rPr>
              <a:t>          + (A_R/A)·N_R·C_isect</a:t>
            </a:r>
          </a:p>
        </p:txBody>
      </p:sp>
      <p:sp>
        <p:nvSpPr>
          <p:cNvPr id="9" name="Rectangle 8"/>
          <p:cNvSpPr/>
          <p:nvPr/>
        </p:nvSpPr>
        <p:spPr>
          <a:xfrm>
            <a:off x="457200" y="2594610"/>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14600"/>
            <a:ext cx="5166360" cy="530352"/>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Exact unit shapes: ray to local space with M⁻¹, normal with M⁻ᵀ</a:t>
            </a:r>
          </a:p>
        </p:txBody>
      </p:sp>
      <p:sp>
        <p:nvSpPr>
          <p:cNvPr id="11" name="Rectangle 10"/>
          <p:cNvSpPr/>
          <p:nvPr/>
        </p:nvSpPr>
        <p:spPr>
          <a:xfrm>
            <a:off x="457200" y="3124962"/>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44952"/>
            <a:ext cx="5166360" cy="530352"/>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Binned SAH, 16 bins; leaves of up to 16 primitives</a:t>
            </a:r>
          </a:p>
        </p:txBody>
      </p:sp>
      <p:sp>
        <p:nvSpPr>
          <p:cNvPr id="13" name="Rectangle 12"/>
          <p:cNvSpPr/>
          <p:nvPr/>
        </p:nvSpPr>
        <p:spPr>
          <a:xfrm>
            <a:off x="457200" y="3655314"/>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575304"/>
            <a:ext cx="5166360" cy="530352"/>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Refit per frame (one reverse sweep); rebuild when the cost exceeds 1.6×</a:t>
            </a:r>
          </a:p>
        </p:txBody>
      </p:sp>
      <p:sp>
        <p:nvSpPr>
          <p:cNvPr id="15" name="Rectangle 14"/>
          <p:cNvSpPr/>
          <p:nvPr/>
        </p:nvSpPr>
        <p:spPr>
          <a:xfrm>
            <a:off x="457200" y="418566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105656"/>
            <a:ext cx="5166360" cy="530352"/>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Terrain: 289² height field, 8×8-cell min/max blocks skip empty space</a:t>
            </a:r>
          </a:p>
        </p:txBody>
      </p:sp>
      <p:sp>
        <p:nvSpPr>
          <p:cNvPr id="17" name="Rectangle 16"/>
          <p:cNvSpPr/>
          <p:nvPr/>
        </p:nvSpPr>
        <p:spPr>
          <a:xfrm>
            <a:off x="457200" y="4716018"/>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636008"/>
            <a:ext cx="5166360" cy="530352"/>
          </a:xfrm>
          <a:prstGeom prst="rect">
            <a:avLst/>
          </a:prstGeom>
          <a:noFill/>
        </p:spPr>
        <p:txBody>
          <a:bodyPr wrap="square" anchor="t" lIns="45720" rIns="45720">
            <a:spAutoFit/>
          </a:bodyPr>
          <a:lstStyle/>
          <a:p>
            <a:pPr algn="l">
              <a:spcAft>
                <a:spcPts val="525"/>
              </a:spcAft>
            </a:pPr>
            <a:r>
              <a:rPr sz="1500" b="0">
                <a:solidFill>
                  <a:srgbClr val="FFFFFF"/>
                </a:solidFill>
                <a:latin typeface="Calibri"/>
              </a:rPr>
              <a:t>Flattened to SSBOs for the GLSL 4.30 compute tracer</a:t>
            </a:r>
          </a:p>
        </p:txBody>
      </p:sp>
      <p:sp>
        <p:nvSpPr>
          <p:cNvPr id="19" name="Rectangle 18"/>
          <p:cNvSpPr/>
          <p:nvPr/>
        </p:nvSpPr>
        <p:spPr>
          <a:xfrm>
            <a:off x="457200" y="5349240"/>
            <a:ext cx="1280160"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367527"/>
            <a:ext cx="1280160" cy="57332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~5.1k</a:t>
            </a:r>
          </a:p>
        </p:txBody>
      </p:sp>
      <p:sp>
        <p:nvSpPr>
          <p:cNvPr id="21" name="TextBox 20"/>
          <p:cNvSpPr txBox="1"/>
          <p:nvPr/>
        </p:nvSpPr>
        <p:spPr>
          <a:xfrm>
            <a:off x="457200" y="5942685"/>
            <a:ext cx="1280160"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primitives</a:t>
            </a:r>
          </a:p>
        </p:txBody>
      </p:sp>
      <p:sp>
        <p:nvSpPr>
          <p:cNvPr id="22" name="Rectangle 21"/>
          <p:cNvSpPr/>
          <p:nvPr/>
        </p:nvSpPr>
        <p:spPr>
          <a:xfrm>
            <a:off x="1828800" y="5349240"/>
            <a:ext cx="1280160"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28800" y="5367527"/>
            <a:ext cx="1280160" cy="57332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~8.5k</a:t>
            </a:r>
          </a:p>
        </p:txBody>
      </p:sp>
      <p:sp>
        <p:nvSpPr>
          <p:cNvPr id="24" name="TextBox 23"/>
          <p:cNvSpPr txBox="1"/>
          <p:nvPr/>
        </p:nvSpPr>
        <p:spPr>
          <a:xfrm>
            <a:off x="1828800" y="5942685"/>
            <a:ext cx="1280160"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BVH nodes</a:t>
            </a:r>
          </a:p>
        </p:txBody>
      </p:sp>
      <p:sp>
        <p:nvSpPr>
          <p:cNvPr id="25" name="Rectangle 24"/>
          <p:cNvSpPr/>
          <p:nvPr/>
        </p:nvSpPr>
        <p:spPr>
          <a:xfrm>
            <a:off x="3200400" y="5349240"/>
            <a:ext cx="1280160"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5367527"/>
            <a:ext cx="1280160" cy="57332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61 ms</a:t>
            </a:r>
          </a:p>
        </p:txBody>
      </p:sp>
      <p:sp>
        <p:nvSpPr>
          <p:cNvPr id="27" name="TextBox 26"/>
          <p:cNvSpPr txBox="1"/>
          <p:nvPr/>
        </p:nvSpPr>
        <p:spPr>
          <a:xfrm>
            <a:off x="3200400" y="5942685"/>
            <a:ext cx="1280160"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build, once</a:t>
            </a:r>
          </a:p>
        </p:txBody>
      </p:sp>
      <p:sp>
        <p:nvSpPr>
          <p:cNvPr id="28" name="Rectangle 27"/>
          <p:cNvSpPr/>
          <p:nvPr/>
        </p:nvSpPr>
        <p:spPr>
          <a:xfrm>
            <a:off x="4572000" y="5349240"/>
            <a:ext cx="1280160" cy="10058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0" y="5367527"/>
            <a:ext cx="1280160" cy="573328"/>
          </a:xfrm>
          <a:prstGeom prst="rect">
            <a:avLst/>
          </a:prstGeom>
          <a:noFill/>
        </p:spPr>
        <p:txBody>
          <a:bodyPr wrap="square" anchor="t" lIns="45720" rIns="45720">
            <a:spAutoFit/>
          </a:bodyPr>
          <a:lstStyle/>
          <a:p>
            <a:pPr algn="ctr">
              <a:spcAft>
                <a:spcPts val="839"/>
              </a:spcAft>
            </a:pPr>
            <a:r>
              <a:rPr sz="2400" b="1">
                <a:solidFill>
                  <a:srgbClr val="FF9E1F"/>
                </a:solidFill>
                <a:latin typeface="Calibri"/>
              </a:rPr>
              <a:t>&lt; 1 ms</a:t>
            </a:r>
          </a:p>
        </p:txBody>
      </p:sp>
      <p:sp>
        <p:nvSpPr>
          <p:cNvPr id="30" name="TextBox 29"/>
          <p:cNvSpPr txBox="1"/>
          <p:nvPr/>
        </p:nvSpPr>
        <p:spPr>
          <a:xfrm>
            <a:off x="4572000" y="5942685"/>
            <a:ext cx="1280160" cy="382219"/>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refit / frame</a:t>
            </a:r>
          </a:p>
        </p:txBody>
      </p:sp>
      <p:sp>
        <p:nvSpPr>
          <p:cNvPr id="31" name="Rectangle 30"/>
          <p:cNvSpPr/>
          <p:nvPr/>
        </p:nvSpPr>
        <p:spPr>
          <a:xfrm>
            <a:off x="6126480" y="1463040"/>
            <a:ext cx="5605272" cy="28346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1517904"/>
            <a:ext cx="2743200" cy="274320"/>
          </a:xfrm>
          <a:prstGeom prst="rect">
            <a:avLst/>
          </a:prstGeom>
          <a:noFill/>
        </p:spPr>
        <p:txBody>
          <a:bodyPr wrap="square" anchor="t" lIns="45720" rIns="45720">
            <a:spAutoFit/>
          </a:bodyPr>
          <a:lstStyle/>
          <a:p>
            <a:pPr algn="l">
              <a:spcAft>
                <a:spcPts val="384"/>
              </a:spcAft>
            </a:pPr>
            <a:r>
              <a:rPr sz="1100" b="1">
                <a:solidFill>
                  <a:srgbClr val="A8B0BA"/>
                </a:solidFill>
                <a:latin typeface="Calibri"/>
              </a:rPr>
              <a:t>BVH (SCHEMATIC)</a:t>
            </a:r>
          </a:p>
        </p:txBody>
      </p:sp>
      <p:sp>
        <p:nvSpPr>
          <p:cNvPr id="33" name="Rectangle 32"/>
          <p:cNvSpPr/>
          <p:nvPr/>
        </p:nvSpPr>
        <p:spPr>
          <a:xfrm>
            <a:off x="8380476" y="2011680"/>
            <a:ext cx="1097280" cy="384048"/>
          </a:xfrm>
          <a:prstGeom prst="rect">
            <a:avLst/>
          </a:prstGeom>
          <a:solidFill>
            <a:srgbClr val="080A0D"/>
          </a:solidFill>
          <a:ln w="12700">
            <a:solidFill>
              <a:srgbClr val="FF9E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0476" y="2011680"/>
            <a:ext cx="1097280" cy="384048"/>
          </a:xfrm>
          <a:prstGeom prst="rect">
            <a:avLst/>
          </a:prstGeom>
          <a:noFill/>
        </p:spPr>
        <p:txBody>
          <a:bodyPr wrap="square" anchor="ctr" lIns="45720" rIns="45720">
            <a:spAutoFit/>
          </a:bodyPr>
          <a:lstStyle/>
          <a:p>
            <a:pPr algn="ctr">
              <a:spcAft>
                <a:spcPts val="455"/>
              </a:spcAft>
            </a:pPr>
            <a:r>
              <a:rPr sz="1300" b="1">
                <a:solidFill>
                  <a:srgbClr val="FF9E1F"/>
                </a:solidFill>
                <a:latin typeface="Calibri"/>
              </a:rPr>
              <a:t>root</a:t>
            </a:r>
          </a:p>
        </p:txBody>
      </p:sp>
      <p:sp>
        <p:nvSpPr>
          <p:cNvPr id="35" name="Rectangle 34"/>
          <p:cNvSpPr/>
          <p:nvPr/>
        </p:nvSpPr>
        <p:spPr>
          <a:xfrm>
            <a:off x="8917686" y="2395728"/>
            <a:ext cx="22860" cy="164592"/>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39903" y="2548889"/>
            <a:ext cx="2578425" cy="228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28473" y="2560320"/>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136983" y="2697480"/>
            <a:ext cx="1005840" cy="347472"/>
          </a:xfrm>
          <a:prstGeom prst="rect">
            <a:avLst/>
          </a:prstGeom>
          <a:solidFill>
            <a:srgbClr val="080A0D"/>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6983" y="2697480"/>
            <a:ext cx="1005840" cy="347472"/>
          </a:xfrm>
          <a:prstGeom prst="rect">
            <a:avLst/>
          </a:prstGeom>
          <a:noFill/>
        </p:spPr>
        <p:txBody>
          <a:bodyPr wrap="square" anchor="ctr" lIns="45720" rIns="45720">
            <a:spAutoFit/>
          </a:bodyPr>
          <a:lstStyle/>
          <a:p>
            <a:pPr algn="ctr">
              <a:spcAft>
                <a:spcPts val="419"/>
              </a:spcAft>
            </a:pPr>
            <a:r>
              <a:rPr sz="1200" b="0">
                <a:solidFill>
                  <a:srgbClr val="FFFFFF"/>
                </a:solidFill>
                <a:latin typeface="Calibri"/>
              </a:rPr>
              <a:t>node</a:t>
            </a:r>
          </a:p>
        </p:txBody>
      </p:sp>
      <p:sp>
        <p:nvSpPr>
          <p:cNvPr id="40" name="Rectangle 39"/>
          <p:cNvSpPr/>
          <p:nvPr/>
        </p:nvSpPr>
        <p:spPr>
          <a:xfrm>
            <a:off x="10206898" y="2560320"/>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715408" y="2697480"/>
            <a:ext cx="1005840" cy="347472"/>
          </a:xfrm>
          <a:prstGeom prst="rect">
            <a:avLst/>
          </a:prstGeom>
          <a:solidFill>
            <a:srgbClr val="080A0D"/>
          </a:solidFill>
          <a:ln w="12700">
            <a:solidFill>
              <a:srgbClr val="A8B0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15408" y="2697480"/>
            <a:ext cx="1005840" cy="347472"/>
          </a:xfrm>
          <a:prstGeom prst="rect">
            <a:avLst/>
          </a:prstGeom>
          <a:noFill/>
        </p:spPr>
        <p:txBody>
          <a:bodyPr wrap="square" anchor="ctr" lIns="45720" rIns="45720">
            <a:spAutoFit/>
          </a:bodyPr>
          <a:lstStyle/>
          <a:p>
            <a:pPr algn="ctr">
              <a:spcAft>
                <a:spcPts val="419"/>
              </a:spcAft>
            </a:pPr>
            <a:r>
              <a:rPr sz="1200" b="0">
                <a:solidFill>
                  <a:srgbClr val="FFFFFF"/>
                </a:solidFill>
                <a:latin typeface="Calibri"/>
              </a:rPr>
              <a:t>node</a:t>
            </a:r>
          </a:p>
        </p:txBody>
      </p:sp>
      <p:sp>
        <p:nvSpPr>
          <p:cNvPr id="43" name="Rectangle 42"/>
          <p:cNvSpPr/>
          <p:nvPr/>
        </p:nvSpPr>
        <p:spPr>
          <a:xfrm>
            <a:off x="7628473" y="3044952"/>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11218" y="3170682"/>
            <a:ext cx="1345265" cy="228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206898" y="3044952"/>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601748" y="3170682"/>
            <a:ext cx="1345265" cy="228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99788" y="3182112"/>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362578" y="3319272"/>
            <a:ext cx="1097280" cy="658368"/>
          </a:xfrm>
          <a:prstGeom prst="rect">
            <a:avLst/>
          </a:prstGeom>
          <a:solidFill>
            <a:srgbClr val="080A0D"/>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755770" y="3374136"/>
            <a:ext cx="310896" cy="310896"/>
          </a:xfrm>
          <a:prstGeom prst="ellipse">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2578" y="3694176"/>
            <a:ext cx="1097280" cy="274320"/>
          </a:xfrm>
          <a:prstGeom prst="rect">
            <a:avLst/>
          </a:prstGeom>
          <a:noFill/>
        </p:spPr>
        <p:txBody>
          <a:bodyPr wrap="square" anchor="t" lIns="45720" rIns="45720">
            <a:spAutoFit/>
          </a:bodyPr>
          <a:lstStyle/>
          <a:p>
            <a:pPr algn="ctr">
              <a:spcAft>
                <a:spcPts val="384"/>
              </a:spcAft>
            </a:pPr>
            <a:r>
              <a:rPr sz="1100" b="0">
                <a:solidFill>
                  <a:srgbClr val="A8B0BA"/>
                </a:solidFill>
                <a:latin typeface="Calibri"/>
              </a:rPr>
              <a:t>sphere</a:t>
            </a:r>
          </a:p>
        </p:txBody>
      </p:sp>
      <p:sp>
        <p:nvSpPr>
          <p:cNvPr id="51" name="Rectangle 50"/>
          <p:cNvSpPr/>
          <p:nvPr/>
        </p:nvSpPr>
        <p:spPr>
          <a:xfrm>
            <a:off x="8245053" y="3182112"/>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07843" y="3319272"/>
            <a:ext cx="1097280" cy="658368"/>
          </a:xfrm>
          <a:prstGeom prst="rect">
            <a:avLst/>
          </a:prstGeom>
          <a:solidFill>
            <a:srgbClr val="080A0D"/>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101035" y="3374136"/>
            <a:ext cx="310896" cy="310896"/>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07843" y="3694176"/>
            <a:ext cx="1097280" cy="274320"/>
          </a:xfrm>
          <a:prstGeom prst="rect">
            <a:avLst/>
          </a:prstGeom>
          <a:noFill/>
        </p:spPr>
        <p:txBody>
          <a:bodyPr wrap="square" anchor="t" lIns="45720" rIns="45720">
            <a:spAutoFit/>
          </a:bodyPr>
          <a:lstStyle/>
          <a:p>
            <a:pPr algn="ctr">
              <a:spcAft>
                <a:spcPts val="384"/>
              </a:spcAft>
            </a:pPr>
            <a:r>
              <a:rPr sz="1100" b="0">
                <a:solidFill>
                  <a:srgbClr val="A8B0BA"/>
                </a:solidFill>
                <a:latin typeface="Calibri"/>
              </a:rPr>
              <a:t>box</a:t>
            </a:r>
          </a:p>
        </p:txBody>
      </p:sp>
      <p:sp>
        <p:nvSpPr>
          <p:cNvPr id="55" name="Rectangle 54"/>
          <p:cNvSpPr/>
          <p:nvPr/>
        </p:nvSpPr>
        <p:spPr>
          <a:xfrm>
            <a:off x="9590318" y="3182112"/>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053108" y="3319272"/>
            <a:ext cx="1097280" cy="658368"/>
          </a:xfrm>
          <a:prstGeom prst="rect">
            <a:avLst/>
          </a:prstGeom>
          <a:solidFill>
            <a:srgbClr val="080A0D"/>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an 56"/>
          <p:cNvSpPr/>
          <p:nvPr/>
        </p:nvSpPr>
        <p:spPr>
          <a:xfrm>
            <a:off x="9482876" y="3374136"/>
            <a:ext cx="237744" cy="310896"/>
          </a:xfrm>
          <a:prstGeom prst="can">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53108" y="3694176"/>
            <a:ext cx="1097280" cy="274320"/>
          </a:xfrm>
          <a:prstGeom prst="rect">
            <a:avLst/>
          </a:prstGeom>
          <a:noFill/>
        </p:spPr>
        <p:txBody>
          <a:bodyPr wrap="square" anchor="t" lIns="45720" rIns="45720">
            <a:spAutoFit/>
          </a:bodyPr>
          <a:lstStyle/>
          <a:p>
            <a:pPr algn="ctr">
              <a:spcAft>
                <a:spcPts val="384"/>
              </a:spcAft>
            </a:pPr>
            <a:r>
              <a:rPr sz="1100" b="0">
                <a:solidFill>
                  <a:srgbClr val="A8B0BA"/>
                </a:solidFill>
                <a:latin typeface="Calibri"/>
              </a:rPr>
              <a:t>cylinder</a:t>
            </a:r>
          </a:p>
        </p:txBody>
      </p:sp>
      <p:sp>
        <p:nvSpPr>
          <p:cNvPr id="59" name="Rectangle 58"/>
          <p:cNvSpPr/>
          <p:nvPr/>
        </p:nvSpPr>
        <p:spPr>
          <a:xfrm>
            <a:off x="10935583" y="3182112"/>
            <a:ext cx="22860" cy="13716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398373" y="3319272"/>
            <a:ext cx="1097280" cy="658368"/>
          </a:xfrm>
          <a:prstGeom prst="rect">
            <a:avLst/>
          </a:prstGeom>
          <a:solidFill>
            <a:srgbClr val="080A0D"/>
          </a:solidFill>
          <a:ln w="12700">
            <a:solidFill>
              <a:srgbClr val="2A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sosceles Triangle 60"/>
          <p:cNvSpPr/>
          <p:nvPr/>
        </p:nvSpPr>
        <p:spPr>
          <a:xfrm>
            <a:off x="10782421" y="3374136"/>
            <a:ext cx="329184" cy="310896"/>
          </a:xfrm>
          <a:prstGeom prst="triangle">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398373" y="3694176"/>
            <a:ext cx="1097280" cy="274320"/>
          </a:xfrm>
          <a:prstGeom prst="rect">
            <a:avLst/>
          </a:prstGeom>
          <a:noFill/>
        </p:spPr>
        <p:txBody>
          <a:bodyPr wrap="square" anchor="t" lIns="45720" rIns="45720">
            <a:spAutoFit/>
          </a:bodyPr>
          <a:lstStyle/>
          <a:p>
            <a:pPr algn="ctr">
              <a:spcAft>
                <a:spcPts val="384"/>
              </a:spcAft>
            </a:pPr>
            <a:r>
              <a:rPr sz="1100" b="0">
                <a:solidFill>
                  <a:srgbClr val="A8B0BA"/>
                </a:solidFill>
                <a:latin typeface="Calibri"/>
              </a:rPr>
              <a:t>cone</a:t>
            </a:r>
          </a:p>
        </p:txBody>
      </p:sp>
      <p:sp>
        <p:nvSpPr>
          <p:cNvPr id="63" name="TextBox 62"/>
          <p:cNvSpPr txBox="1"/>
          <p:nvPr/>
        </p:nvSpPr>
        <p:spPr>
          <a:xfrm>
            <a:off x="6126480" y="4370832"/>
            <a:ext cx="5605272" cy="365760"/>
          </a:xfrm>
          <a:prstGeom prst="rect">
            <a:avLst/>
          </a:prstGeom>
          <a:noFill/>
        </p:spPr>
        <p:txBody>
          <a:bodyPr wrap="square" anchor="t" lIns="45720" rIns="45720">
            <a:spAutoFit/>
          </a:bodyPr>
          <a:lstStyle/>
          <a:p>
            <a:pPr algn="l">
              <a:spcAft>
                <a:spcPts val="455"/>
              </a:spcAft>
            </a:pPr>
            <a:r>
              <a:rPr sz="1300" b="0">
                <a:solidFill>
                  <a:srgbClr val="FF9E1F"/>
                </a:solidFill>
                <a:latin typeface="Calibri"/>
              </a:rPr>
              <a:t>Hybrid mode: (a) screen-space reflection  vs  (b) BVH reflection rays</a:t>
            </a:r>
          </a:p>
        </p:txBody>
      </p:sp>
      <p:pic>
        <p:nvPicPr>
          <p:cNvPr id="64" name="Picture 63" descr="img37.jpg"/>
          <p:cNvPicPr>
            <a:picLocks noChangeAspect="1"/>
          </p:cNvPicPr>
          <p:nvPr/>
        </p:nvPicPr>
        <p:blipFill>
          <a:blip r:embed="rId3"/>
          <a:stretch>
            <a:fillRect/>
          </a:stretch>
        </p:blipFill>
        <p:spPr>
          <a:xfrm>
            <a:off x="6133084" y="4782312"/>
            <a:ext cx="5592063" cy="157276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16  |  V7  |  RAY TRACING</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Ray-tree debugger</a:t>
            </a:r>
          </a:p>
        </p:txBody>
      </p:sp>
      <p:pic>
        <p:nvPicPr>
          <p:cNvPr id="5" name="Picture 4" descr="img38.jpg"/>
          <p:cNvPicPr>
            <a:picLocks noChangeAspect="1"/>
          </p:cNvPicPr>
          <p:nvPr/>
        </p:nvPicPr>
        <p:blipFill>
          <a:blip r:embed="rId3"/>
          <a:stretch>
            <a:fillRect/>
          </a:stretch>
        </p:blipFill>
        <p:spPr>
          <a:xfrm>
            <a:off x="457200" y="1464182"/>
            <a:ext cx="7863840" cy="4423410"/>
          </a:xfrm>
          <a:prstGeom prst="rect">
            <a:avLst/>
          </a:prstGeom>
        </p:spPr>
      </p:pic>
      <p:sp>
        <p:nvSpPr>
          <p:cNvPr id="6" name="TextBox 5"/>
          <p:cNvSpPr txBox="1"/>
          <p:nvPr/>
        </p:nvSpPr>
        <p:spPr>
          <a:xfrm>
            <a:off x="457200" y="5989320"/>
            <a:ext cx="7863840" cy="640080"/>
          </a:xfrm>
          <a:prstGeom prst="rect">
            <a:avLst/>
          </a:prstGeom>
          <a:noFill/>
        </p:spPr>
        <p:txBody>
          <a:bodyPr wrap="square" anchor="t" lIns="45720" rIns="45720">
            <a:spAutoFit/>
          </a:bodyPr>
          <a:lstStyle/>
          <a:p>
            <a:pPr algn="l">
              <a:spcAft>
                <a:spcPts val="525"/>
              </a:spcAft>
            </a:pPr>
            <a:r>
              <a:rPr sz="1500" b="0">
                <a:solidFill>
                  <a:srgbClr val="A8B0BA"/>
                </a:solidFill>
                <a:latin typeface="Calibri"/>
              </a:rPr>
              <a:t>' on, left click a pixel: rt::debugTrace re-traces it (Whitted, CPU) → 16 rays, depth 6; the tree stays in 3D while the camera moves</a:t>
            </a:r>
          </a:p>
        </p:txBody>
      </p:sp>
      <p:sp>
        <p:nvSpPr>
          <p:cNvPr id="7" name="TextBox 6"/>
          <p:cNvSpPr txBox="1"/>
          <p:nvPr/>
        </p:nvSpPr>
        <p:spPr>
          <a:xfrm>
            <a:off x="8503920" y="1463040"/>
            <a:ext cx="3227832" cy="365760"/>
          </a:xfrm>
          <a:prstGeom prst="rect">
            <a:avLst/>
          </a:prstGeom>
          <a:noFill/>
        </p:spPr>
        <p:txBody>
          <a:bodyPr wrap="square" anchor="t" lIns="45720" rIns="45720">
            <a:spAutoFit/>
          </a:bodyPr>
          <a:lstStyle/>
          <a:p>
            <a:pPr algn="l">
              <a:spcAft>
                <a:spcPts val="455"/>
              </a:spcAft>
            </a:pPr>
            <a:r>
              <a:rPr sz="1300" b="1">
                <a:solidFill>
                  <a:srgbClr val="A8B0BA"/>
                </a:solidFill>
                <a:latin typeface="Calibri"/>
              </a:rPr>
              <a:t>RAY COLOURS</a:t>
            </a:r>
          </a:p>
        </p:txBody>
      </p:sp>
      <p:sp>
        <p:nvSpPr>
          <p:cNvPr id="8" name="Rectangle 7"/>
          <p:cNvSpPr/>
          <p:nvPr/>
        </p:nvSpPr>
        <p:spPr>
          <a:xfrm>
            <a:off x="8503920" y="2002536"/>
            <a:ext cx="502920" cy="64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1874519"/>
            <a:ext cx="2560320" cy="384048"/>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primary</a:t>
            </a:r>
          </a:p>
        </p:txBody>
      </p:sp>
      <p:sp>
        <p:nvSpPr>
          <p:cNvPr id="10" name="Rectangle 9"/>
          <p:cNvSpPr/>
          <p:nvPr/>
        </p:nvSpPr>
        <p:spPr>
          <a:xfrm>
            <a:off x="8503920" y="2414016"/>
            <a:ext cx="502920" cy="64008"/>
          </a:xfrm>
          <a:prstGeom prst="rect">
            <a:avLst/>
          </a:prstGeom>
          <a:solidFill>
            <a:srgbClr val="FFE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2286000"/>
            <a:ext cx="2560320" cy="384048"/>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shadow, lit</a:t>
            </a:r>
          </a:p>
        </p:txBody>
      </p:sp>
      <p:sp>
        <p:nvSpPr>
          <p:cNvPr id="12" name="Rectangle 11"/>
          <p:cNvSpPr/>
          <p:nvPr/>
        </p:nvSpPr>
        <p:spPr>
          <a:xfrm>
            <a:off x="8503920" y="2825496"/>
            <a:ext cx="502920" cy="64008"/>
          </a:xfrm>
          <a:prstGeom prst="rect">
            <a:avLst/>
          </a:prstGeom>
          <a:solidFill>
            <a:srgbClr val="FF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2697479"/>
            <a:ext cx="2560320" cy="384048"/>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shadow, blocked</a:t>
            </a:r>
          </a:p>
        </p:txBody>
      </p:sp>
      <p:sp>
        <p:nvSpPr>
          <p:cNvPr id="14" name="Rectangle 13"/>
          <p:cNvSpPr/>
          <p:nvPr/>
        </p:nvSpPr>
        <p:spPr>
          <a:xfrm>
            <a:off x="8503920" y="3236976"/>
            <a:ext cx="502920" cy="64008"/>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3108960"/>
            <a:ext cx="2560320" cy="384048"/>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reflection</a:t>
            </a:r>
          </a:p>
        </p:txBody>
      </p:sp>
      <p:sp>
        <p:nvSpPr>
          <p:cNvPr id="16" name="Rectangle 15"/>
          <p:cNvSpPr/>
          <p:nvPr/>
        </p:nvSpPr>
        <p:spPr>
          <a:xfrm>
            <a:off x="8503920" y="3648456"/>
            <a:ext cx="502920" cy="64008"/>
          </a:xfrm>
          <a:prstGeom prst="rect">
            <a:avLst/>
          </a:prstGeom>
          <a:solidFill>
            <a:srgbClr val="E06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3520439"/>
            <a:ext cx="2560320" cy="384048"/>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refraction</a:t>
            </a:r>
          </a:p>
        </p:txBody>
      </p:sp>
      <p:sp>
        <p:nvSpPr>
          <p:cNvPr id="18" name="Rectangle 17"/>
          <p:cNvSpPr/>
          <p:nvPr/>
        </p:nvSpPr>
        <p:spPr>
          <a:xfrm>
            <a:off x="8503920" y="4059935"/>
            <a:ext cx="502920" cy="64008"/>
          </a:xfrm>
          <a:prstGeom prst="rect">
            <a:avLst/>
          </a:prstGeom>
          <a:solidFill>
            <a:srgbClr val="60E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3931920"/>
            <a:ext cx="2560320" cy="384048"/>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diffuse bounce</a:t>
            </a:r>
          </a:p>
        </p:txBody>
      </p:sp>
      <p:sp>
        <p:nvSpPr>
          <p:cNvPr id="20" name="Rectangle 19"/>
          <p:cNvSpPr/>
          <p:nvPr/>
        </p:nvSpPr>
        <p:spPr>
          <a:xfrm>
            <a:off x="8503920" y="4434840"/>
            <a:ext cx="3227832" cy="2194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03920" y="4434840"/>
            <a:ext cx="54864" cy="2194560"/>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4507992"/>
            <a:ext cx="3044951" cy="274320"/>
          </a:xfrm>
          <a:prstGeom prst="rect">
            <a:avLst/>
          </a:prstGeom>
          <a:noFill/>
        </p:spPr>
        <p:txBody>
          <a:bodyPr wrap="square" anchor="t" lIns="45720" rIns="45720">
            <a:spAutoFit/>
          </a:bodyPr>
          <a:lstStyle/>
          <a:p>
            <a:pPr algn="l">
              <a:spcAft>
                <a:spcPts val="384"/>
              </a:spcAft>
            </a:pPr>
            <a:r>
              <a:rPr sz="1100" b="1">
                <a:solidFill>
                  <a:srgbClr val="A8B0BA"/>
                </a:solidFill>
                <a:latin typeface="Calibri"/>
              </a:rPr>
              <a:t>THIS PIXEL</a:t>
            </a:r>
          </a:p>
        </p:txBody>
      </p:sp>
      <p:sp>
        <p:nvSpPr>
          <p:cNvPr id="23" name="TextBox 22"/>
          <p:cNvSpPr txBox="1"/>
          <p:nvPr/>
        </p:nvSpPr>
        <p:spPr>
          <a:xfrm>
            <a:off x="8641080" y="4782312"/>
            <a:ext cx="3044951" cy="1801368"/>
          </a:xfrm>
          <a:prstGeom prst="rect">
            <a:avLst/>
          </a:prstGeom>
          <a:noFill/>
        </p:spPr>
        <p:txBody>
          <a:bodyPr wrap="square" anchor="t" lIns="45720" rIns="45720">
            <a:spAutoFit/>
          </a:bodyPr>
          <a:lstStyle/>
          <a:p>
            <a:pPr algn="l">
              <a:spcAft>
                <a:spcPts val="455"/>
              </a:spcAft>
            </a:pPr>
            <a:r>
              <a:rPr sz="1300" b="0">
                <a:solidFill>
                  <a:srgbClr val="6FD6E8"/>
                </a:solidFill>
                <a:latin typeface="Consolas"/>
              </a:rPr>
              <a:t>#0 primary  → glass ball</a:t>
            </a:r>
          </a:p>
          <a:p>
            <a:pPr algn="l">
              <a:spcAft>
                <a:spcPts val="455"/>
              </a:spcAft>
            </a:pPr>
            <a:r>
              <a:rPr sz="1300" b="0">
                <a:solidFill>
                  <a:srgbClr val="6FD6E8"/>
                </a:solidFill>
                <a:latin typeface="Consolas"/>
              </a:rPr>
              <a:t>#1 reflection → camo net</a:t>
            </a:r>
          </a:p>
          <a:p>
            <a:pPr algn="l">
              <a:spcAft>
                <a:spcPts val="455"/>
              </a:spcAft>
            </a:pPr>
            <a:r>
              <a:rPr sz="1300" b="0">
                <a:solidFill>
                  <a:srgbClr val="6FD6E8"/>
                </a:solidFill>
                <a:latin typeface="Consolas"/>
              </a:rPr>
              <a:t>#2 refraction → glass ball</a:t>
            </a:r>
          </a:p>
          <a:p>
            <a:pPr algn="l">
              <a:spcAft>
                <a:spcPts val="455"/>
              </a:spcAft>
            </a:pPr>
            <a:r>
              <a:rPr sz="1300" b="0">
                <a:solidFill>
                  <a:srgbClr val="6FD6E8"/>
                </a:solidFill>
                <a:latin typeface="Consolas"/>
              </a:rPr>
              <a:t>  #3-6 internal reflections</a:t>
            </a:r>
          </a:p>
          <a:p>
            <a:pPr algn="l">
              <a:spcAft>
                <a:spcPts val="455"/>
              </a:spcAft>
            </a:pPr>
            <a:r>
              <a:rPr sz="1300" b="0">
                <a:solidFill>
                  <a:srgbClr val="6FD6E8"/>
                </a:solidFill>
                <a:latin typeface="Consolas"/>
              </a:rPr>
              <a:t>  #8 shadow: lit by key light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17  |  V7  |  RAY TRACING</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Ray tracing timings on the RTX 4070</a:t>
            </a:r>
          </a:p>
        </p:txBody>
      </p:sp>
      <p:sp>
        <p:nvSpPr>
          <p:cNvPr id="5" name="Rectangle 4"/>
          <p:cNvSpPr/>
          <p:nvPr/>
        </p:nvSpPr>
        <p:spPr>
          <a:xfrm>
            <a:off x="457200" y="1463040"/>
            <a:ext cx="6217920" cy="475488"/>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0"/>
            <a:ext cx="2651760" cy="475488"/>
          </a:xfrm>
          <a:prstGeom prst="rect">
            <a:avLst/>
          </a:prstGeom>
          <a:noFill/>
        </p:spPr>
        <p:txBody>
          <a:bodyPr wrap="square" anchor="ctr" lIns="45720" rIns="45720">
            <a:spAutoFit/>
          </a:bodyPr>
          <a:lstStyle/>
          <a:p>
            <a:pPr algn="l">
              <a:spcAft>
                <a:spcPts val="489"/>
              </a:spcAft>
            </a:pPr>
            <a:r>
              <a:rPr sz="1400" b="1">
                <a:solidFill>
                  <a:srgbClr val="FF9E1F"/>
                </a:solidFill>
                <a:latin typeface="Calibri"/>
              </a:rPr>
              <a:t>Mode (internal resolution)</a:t>
            </a:r>
          </a:p>
        </p:txBody>
      </p:sp>
      <p:sp>
        <p:nvSpPr>
          <p:cNvPr id="7" name="TextBox 6"/>
          <p:cNvSpPr txBox="1"/>
          <p:nvPr/>
        </p:nvSpPr>
        <p:spPr>
          <a:xfrm>
            <a:off x="3246120" y="1463040"/>
            <a:ext cx="1051560" cy="475488"/>
          </a:xfrm>
          <a:prstGeom prst="rect">
            <a:avLst/>
          </a:prstGeom>
          <a:noFill/>
        </p:spPr>
        <p:txBody>
          <a:bodyPr wrap="square" anchor="ctr" lIns="45720" rIns="45720">
            <a:spAutoFit/>
          </a:bodyPr>
          <a:lstStyle/>
          <a:p>
            <a:pPr algn="r">
              <a:spcAft>
                <a:spcPts val="489"/>
              </a:spcAft>
            </a:pPr>
            <a:r>
              <a:rPr sz="1400" b="1">
                <a:solidFill>
                  <a:srgbClr val="FF9E1F"/>
                </a:solidFill>
                <a:latin typeface="Calibri"/>
              </a:rPr>
              <a:t>Day</a:t>
            </a:r>
          </a:p>
        </p:txBody>
      </p:sp>
      <p:sp>
        <p:nvSpPr>
          <p:cNvPr id="8" name="TextBox 7"/>
          <p:cNvSpPr txBox="1"/>
          <p:nvPr/>
        </p:nvSpPr>
        <p:spPr>
          <a:xfrm>
            <a:off x="4389120" y="1463040"/>
            <a:ext cx="1051560" cy="475488"/>
          </a:xfrm>
          <a:prstGeom prst="rect">
            <a:avLst/>
          </a:prstGeom>
          <a:noFill/>
        </p:spPr>
        <p:txBody>
          <a:bodyPr wrap="square" anchor="ctr" lIns="45720" rIns="45720">
            <a:spAutoFit/>
          </a:bodyPr>
          <a:lstStyle/>
          <a:p>
            <a:pPr algn="r">
              <a:spcAft>
                <a:spcPts val="489"/>
              </a:spcAft>
            </a:pPr>
            <a:r>
              <a:rPr sz="1400" b="1">
                <a:solidFill>
                  <a:srgbClr val="FF9E1F"/>
                </a:solidFill>
                <a:latin typeface="Calibri"/>
              </a:rPr>
              <a:t>Night</a:t>
            </a:r>
          </a:p>
        </p:txBody>
      </p:sp>
      <p:sp>
        <p:nvSpPr>
          <p:cNvPr id="9" name="TextBox 8"/>
          <p:cNvSpPr txBox="1"/>
          <p:nvPr/>
        </p:nvSpPr>
        <p:spPr>
          <a:xfrm>
            <a:off x="5532120" y="1463040"/>
            <a:ext cx="1097280" cy="475488"/>
          </a:xfrm>
          <a:prstGeom prst="rect">
            <a:avLst/>
          </a:prstGeom>
          <a:noFill/>
        </p:spPr>
        <p:txBody>
          <a:bodyPr wrap="square" anchor="ctr" lIns="45720" rIns="45720">
            <a:spAutoFit/>
          </a:bodyPr>
          <a:lstStyle/>
          <a:p>
            <a:pPr algn="r">
              <a:spcAft>
                <a:spcPts val="489"/>
              </a:spcAft>
            </a:pPr>
            <a:r>
              <a:rPr sz="1400" b="1">
                <a:solidFill>
                  <a:srgbClr val="FF9E1F"/>
                </a:solidFill>
                <a:latin typeface="Calibri"/>
              </a:rPr>
              <a:t>RT pass</a:t>
            </a:r>
          </a:p>
        </p:txBody>
      </p:sp>
      <p:sp>
        <p:nvSpPr>
          <p:cNvPr id="10" name="TextBox 9"/>
          <p:cNvSpPr txBox="1"/>
          <p:nvPr/>
        </p:nvSpPr>
        <p:spPr>
          <a:xfrm>
            <a:off x="502920" y="1938528"/>
            <a:ext cx="2651760" cy="475488"/>
          </a:xfrm>
          <a:prstGeom prst="rect">
            <a:avLst/>
          </a:prstGeom>
          <a:noFill/>
        </p:spPr>
        <p:txBody>
          <a:bodyPr wrap="square" anchor="ctr" lIns="45720" rIns="45720">
            <a:spAutoFit/>
          </a:bodyPr>
          <a:lstStyle/>
          <a:p>
            <a:pPr algn="l">
              <a:spcAft>
                <a:spcPts val="489"/>
              </a:spcAft>
            </a:pPr>
            <a:r>
              <a:rPr sz="1400" b="0">
                <a:solidFill>
                  <a:srgbClr val="A8B0BA"/>
                </a:solidFill>
                <a:latin typeface="Calibri"/>
              </a:rPr>
              <a:t>Raster (v7, EPIC)</a:t>
            </a:r>
          </a:p>
        </p:txBody>
      </p:sp>
      <p:sp>
        <p:nvSpPr>
          <p:cNvPr id="11" name="TextBox 10"/>
          <p:cNvSpPr txBox="1"/>
          <p:nvPr/>
        </p:nvSpPr>
        <p:spPr>
          <a:xfrm>
            <a:off x="3246120" y="1938528"/>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11.7 ms</a:t>
            </a:r>
          </a:p>
        </p:txBody>
      </p:sp>
      <p:sp>
        <p:nvSpPr>
          <p:cNvPr id="12" name="TextBox 11"/>
          <p:cNvSpPr txBox="1"/>
          <p:nvPr/>
        </p:nvSpPr>
        <p:spPr>
          <a:xfrm>
            <a:off x="4389120" y="1938528"/>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12.7 ms</a:t>
            </a:r>
          </a:p>
        </p:txBody>
      </p:sp>
      <p:sp>
        <p:nvSpPr>
          <p:cNvPr id="13" name="TextBox 12"/>
          <p:cNvSpPr txBox="1"/>
          <p:nvPr/>
        </p:nvSpPr>
        <p:spPr>
          <a:xfrm>
            <a:off x="5532120" y="1938528"/>
            <a:ext cx="109728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a:t>
            </a:r>
          </a:p>
        </p:txBody>
      </p:sp>
      <p:sp>
        <p:nvSpPr>
          <p:cNvPr id="14" name="Rectangle 13"/>
          <p:cNvSpPr/>
          <p:nvPr/>
        </p:nvSpPr>
        <p:spPr>
          <a:xfrm>
            <a:off x="457200" y="2414016"/>
            <a:ext cx="6217920" cy="475488"/>
          </a:xfrm>
          <a:prstGeom prst="rect">
            <a:avLst/>
          </a:prstGeom>
          <a:solidFill>
            <a:srgbClr val="0F12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414016"/>
            <a:ext cx="2651760" cy="475488"/>
          </a:xfrm>
          <a:prstGeom prst="rect">
            <a:avLst/>
          </a:prstGeom>
          <a:noFill/>
        </p:spPr>
        <p:txBody>
          <a:bodyPr wrap="square" anchor="ctr" lIns="45720" rIns="45720">
            <a:spAutoFit/>
          </a:bodyPr>
          <a:lstStyle/>
          <a:p>
            <a:pPr algn="l">
              <a:spcAft>
                <a:spcPts val="489"/>
              </a:spcAft>
            </a:pPr>
            <a:r>
              <a:rPr sz="1400" b="0">
                <a:solidFill>
                  <a:srgbClr val="A8B0BA"/>
                </a:solidFill>
                <a:latin typeface="Calibri"/>
              </a:rPr>
              <a:t>Hybrid RT (1280x720)</a:t>
            </a:r>
          </a:p>
        </p:txBody>
      </p:sp>
      <p:sp>
        <p:nvSpPr>
          <p:cNvPr id="16" name="TextBox 15"/>
          <p:cNvSpPr txBox="1"/>
          <p:nvPr/>
        </p:nvSpPr>
        <p:spPr>
          <a:xfrm>
            <a:off x="3246120" y="2414016"/>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20.3 ms</a:t>
            </a:r>
          </a:p>
        </p:txBody>
      </p:sp>
      <p:sp>
        <p:nvSpPr>
          <p:cNvPr id="17" name="TextBox 16"/>
          <p:cNvSpPr txBox="1"/>
          <p:nvPr/>
        </p:nvSpPr>
        <p:spPr>
          <a:xfrm>
            <a:off x="4389120" y="2414016"/>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20.5 ms</a:t>
            </a:r>
          </a:p>
        </p:txBody>
      </p:sp>
      <p:sp>
        <p:nvSpPr>
          <p:cNvPr id="18" name="TextBox 17"/>
          <p:cNvSpPr txBox="1"/>
          <p:nvPr/>
        </p:nvSpPr>
        <p:spPr>
          <a:xfrm>
            <a:off x="5532120" y="2414016"/>
            <a:ext cx="109728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9.5-10 ms</a:t>
            </a:r>
          </a:p>
        </p:txBody>
      </p:sp>
      <p:sp>
        <p:nvSpPr>
          <p:cNvPr id="19" name="TextBox 18"/>
          <p:cNvSpPr txBox="1"/>
          <p:nvPr/>
        </p:nvSpPr>
        <p:spPr>
          <a:xfrm>
            <a:off x="502920" y="2889504"/>
            <a:ext cx="2651760" cy="475488"/>
          </a:xfrm>
          <a:prstGeom prst="rect">
            <a:avLst/>
          </a:prstGeom>
          <a:noFill/>
        </p:spPr>
        <p:txBody>
          <a:bodyPr wrap="square" anchor="ctr" lIns="45720" rIns="45720">
            <a:spAutoFit/>
          </a:bodyPr>
          <a:lstStyle/>
          <a:p>
            <a:pPr algn="l">
              <a:spcAft>
                <a:spcPts val="489"/>
              </a:spcAft>
            </a:pPr>
            <a:r>
              <a:rPr sz="1400" b="0">
                <a:solidFill>
                  <a:srgbClr val="A8B0BA"/>
                </a:solidFill>
                <a:latin typeface="Calibri"/>
              </a:rPr>
              <a:t>Whitted (960x540)</a:t>
            </a:r>
          </a:p>
        </p:txBody>
      </p:sp>
      <p:sp>
        <p:nvSpPr>
          <p:cNvPr id="20" name="TextBox 19"/>
          <p:cNvSpPr txBox="1"/>
          <p:nvPr/>
        </p:nvSpPr>
        <p:spPr>
          <a:xfrm>
            <a:off x="3246120" y="2889504"/>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25.7 ms</a:t>
            </a:r>
          </a:p>
        </p:txBody>
      </p:sp>
      <p:sp>
        <p:nvSpPr>
          <p:cNvPr id="21" name="TextBox 20"/>
          <p:cNvSpPr txBox="1"/>
          <p:nvPr/>
        </p:nvSpPr>
        <p:spPr>
          <a:xfrm>
            <a:off x="4389120" y="2889504"/>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27.7 ms</a:t>
            </a:r>
          </a:p>
        </p:txBody>
      </p:sp>
      <p:sp>
        <p:nvSpPr>
          <p:cNvPr id="22" name="TextBox 21"/>
          <p:cNvSpPr txBox="1"/>
          <p:nvPr/>
        </p:nvSpPr>
        <p:spPr>
          <a:xfrm>
            <a:off x="5532120" y="2889504"/>
            <a:ext cx="109728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20-22 ms</a:t>
            </a:r>
          </a:p>
        </p:txBody>
      </p:sp>
      <p:sp>
        <p:nvSpPr>
          <p:cNvPr id="23" name="Rectangle 22"/>
          <p:cNvSpPr/>
          <p:nvPr/>
        </p:nvSpPr>
        <p:spPr>
          <a:xfrm>
            <a:off x="457200" y="3364992"/>
            <a:ext cx="6217920" cy="475488"/>
          </a:xfrm>
          <a:prstGeom prst="rect">
            <a:avLst/>
          </a:prstGeom>
          <a:solidFill>
            <a:srgbClr val="0F12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364992"/>
            <a:ext cx="2651760" cy="475488"/>
          </a:xfrm>
          <a:prstGeom prst="rect">
            <a:avLst/>
          </a:prstGeom>
          <a:noFill/>
        </p:spPr>
        <p:txBody>
          <a:bodyPr wrap="square" anchor="ctr" lIns="45720" rIns="45720">
            <a:spAutoFit/>
          </a:bodyPr>
          <a:lstStyle/>
          <a:p>
            <a:pPr algn="l">
              <a:spcAft>
                <a:spcPts val="489"/>
              </a:spcAft>
            </a:pPr>
            <a:r>
              <a:rPr sz="1400" b="0">
                <a:solidFill>
                  <a:srgbClr val="A8B0BA"/>
                </a:solidFill>
                <a:latin typeface="Calibri"/>
              </a:rPr>
              <a:t>Path (640x360, 1 spp)</a:t>
            </a:r>
          </a:p>
        </p:txBody>
      </p:sp>
      <p:sp>
        <p:nvSpPr>
          <p:cNvPr id="25" name="TextBox 24"/>
          <p:cNvSpPr txBox="1"/>
          <p:nvPr/>
        </p:nvSpPr>
        <p:spPr>
          <a:xfrm>
            <a:off x="3246120" y="3364992"/>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21.9 ms</a:t>
            </a:r>
          </a:p>
        </p:txBody>
      </p:sp>
      <p:sp>
        <p:nvSpPr>
          <p:cNvPr id="26" name="TextBox 25"/>
          <p:cNvSpPr txBox="1"/>
          <p:nvPr/>
        </p:nvSpPr>
        <p:spPr>
          <a:xfrm>
            <a:off x="4389120" y="3364992"/>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28.6 ms</a:t>
            </a:r>
          </a:p>
        </p:txBody>
      </p:sp>
      <p:sp>
        <p:nvSpPr>
          <p:cNvPr id="27" name="TextBox 26"/>
          <p:cNvSpPr txBox="1"/>
          <p:nvPr/>
        </p:nvSpPr>
        <p:spPr>
          <a:xfrm>
            <a:off x="5532120" y="3364992"/>
            <a:ext cx="109728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18-24 ms</a:t>
            </a:r>
          </a:p>
        </p:txBody>
      </p:sp>
      <p:sp>
        <p:nvSpPr>
          <p:cNvPr id="28" name="TextBox 27"/>
          <p:cNvSpPr txBox="1"/>
          <p:nvPr/>
        </p:nvSpPr>
        <p:spPr>
          <a:xfrm>
            <a:off x="502920" y="3840480"/>
            <a:ext cx="2651760" cy="475488"/>
          </a:xfrm>
          <a:prstGeom prst="rect">
            <a:avLst/>
          </a:prstGeom>
          <a:noFill/>
        </p:spPr>
        <p:txBody>
          <a:bodyPr wrap="square" anchor="ctr" lIns="45720" rIns="45720">
            <a:spAutoFit/>
          </a:bodyPr>
          <a:lstStyle/>
          <a:p>
            <a:pPr algn="l">
              <a:spcAft>
                <a:spcPts val="489"/>
              </a:spcAft>
            </a:pPr>
            <a:r>
              <a:rPr sz="1400" b="0">
                <a:solidFill>
                  <a:srgbClr val="A8B0BA"/>
                </a:solidFill>
                <a:latin typeface="Calibri"/>
              </a:rPr>
              <a:t>Light (640x360, 256K paths)</a:t>
            </a:r>
          </a:p>
        </p:txBody>
      </p:sp>
      <p:sp>
        <p:nvSpPr>
          <p:cNvPr id="29" name="TextBox 28"/>
          <p:cNvSpPr txBox="1"/>
          <p:nvPr/>
        </p:nvSpPr>
        <p:spPr>
          <a:xfrm>
            <a:off x="3246120" y="3840480"/>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39.0 ms</a:t>
            </a:r>
          </a:p>
        </p:txBody>
      </p:sp>
      <p:sp>
        <p:nvSpPr>
          <p:cNvPr id="30" name="TextBox 29"/>
          <p:cNvSpPr txBox="1"/>
          <p:nvPr/>
        </p:nvSpPr>
        <p:spPr>
          <a:xfrm>
            <a:off x="4389120" y="3840480"/>
            <a:ext cx="105156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30.7 ms</a:t>
            </a:r>
          </a:p>
        </p:txBody>
      </p:sp>
      <p:sp>
        <p:nvSpPr>
          <p:cNvPr id="31" name="TextBox 30"/>
          <p:cNvSpPr txBox="1"/>
          <p:nvPr/>
        </p:nvSpPr>
        <p:spPr>
          <a:xfrm>
            <a:off x="5532120" y="3840480"/>
            <a:ext cx="1097280" cy="475488"/>
          </a:xfrm>
          <a:prstGeom prst="rect">
            <a:avLst/>
          </a:prstGeom>
          <a:noFill/>
        </p:spPr>
        <p:txBody>
          <a:bodyPr wrap="square" anchor="ctr" lIns="45720" rIns="45720">
            <a:spAutoFit/>
          </a:bodyPr>
          <a:lstStyle/>
          <a:p>
            <a:pPr algn="r">
              <a:spcAft>
                <a:spcPts val="489"/>
              </a:spcAft>
            </a:pPr>
            <a:r>
              <a:rPr sz="1400" b="0">
                <a:solidFill>
                  <a:srgbClr val="FFFFFF"/>
                </a:solidFill>
                <a:latin typeface="Calibri"/>
              </a:rPr>
              <a:t>26-33 ms</a:t>
            </a:r>
          </a:p>
        </p:txBody>
      </p:sp>
      <p:sp>
        <p:nvSpPr>
          <p:cNvPr id="32" name="Rectangle 31"/>
          <p:cNvSpPr/>
          <p:nvPr/>
        </p:nvSpPr>
        <p:spPr>
          <a:xfrm>
            <a:off x="457200" y="1929384"/>
            <a:ext cx="6217920" cy="18288"/>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361688"/>
            <a:ext cx="6217920" cy="365760"/>
          </a:xfrm>
          <a:prstGeom prst="rect">
            <a:avLst/>
          </a:prstGeom>
          <a:noFill/>
        </p:spPr>
        <p:txBody>
          <a:bodyPr wrap="square" anchor="t" lIns="45720" rIns="45720">
            <a:spAutoFit/>
          </a:bodyPr>
          <a:lstStyle/>
          <a:p>
            <a:pPr algn="l">
              <a:spcAft>
                <a:spcPts val="419"/>
              </a:spcAft>
            </a:pPr>
            <a:r>
              <a:rPr sz="1200" b="0">
                <a:solidFill>
                  <a:srgbClr val="A8B0BA"/>
                </a:solidFill>
                <a:latin typeface="Calibri"/>
              </a:rPr>
              <a:t>Day 16:30, night 23:00. CPU fallback (TS_RT_CPU=1, 160x90): Whitted 60, path 144, light 238 ms</a:t>
            </a:r>
          </a:p>
        </p:txBody>
      </p:sp>
      <p:sp>
        <p:nvSpPr>
          <p:cNvPr id="34" name="TextBox 33"/>
          <p:cNvSpPr txBox="1"/>
          <p:nvPr/>
        </p:nvSpPr>
        <p:spPr>
          <a:xfrm>
            <a:off x="7086600" y="1463040"/>
            <a:ext cx="4645152" cy="365760"/>
          </a:xfrm>
          <a:prstGeom prst="rect">
            <a:avLst/>
          </a:prstGeom>
          <a:noFill/>
        </p:spPr>
        <p:txBody>
          <a:bodyPr wrap="square" anchor="t" lIns="45720" rIns="45720">
            <a:spAutoFit/>
          </a:bodyPr>
          <a:lstStyle/>
          <a:p>
            <a:pPr algn="l">
              <a:spcAft>
                <a:spcPts val="525"/>
              </a:spcAft>
            </a:pPr>
            <a:r>
              <a:rPr sz="1500" b="1">
                <a:solidFill>
                  <a:srgbClr val="FFFFFF"/>
                </a:solidFill>
                <a:latin typeface="Calibri"/>
              </a:rPr>
              <a:t>Frame time by day, ms (lower is faster)</a:t>
            </a:r>
          </a:p>
        </p:txBody>
      </p:sp>
      <p:sp>
        <p:nvSpPr>
          <p:cNvPr id="35" name="TextBox 34"/>
          <p:cNvSpPr txBox="1"/>
          <p:nvPr/>
        </p:nvSpPr>
        <p:spPr>
          <a:xfrm>
            <a:off x="7086600" y="1965960"/>
            <a:ext cx="1143000" cy="411480"/>
          </a:xfrm>
          <a:prstGeom prst="rect">
            <a:avLst/>
          </a:prstGeom>
          <a:noFill/>
        </p:spPr>
        <p:txBody>
          <a:bodyPr wrap="square" anchor="ctr" lIns="45720" rIns="45720">
            <a:spAutoFit/>
          </a:bodyPr>
          <a:lstStyle/>
          <a:p>
            <a:pPr algn="r">
              <a:spcAft>
                <a:spcPts val="489"/>
              </a:spcAft>
            </a:pPr>
            <a:r>
              <a:rPr sz="1400" b="0">
                <a:solidFill>
                  <a:srgbClr val="A8B0BA"/>
                </a:solidFill>
                <a:latin typeface="Calibri"/>
              </a:rPr>
              <a:t>Raster</a:t>
            </a:r>
          </a:p>
        </p:txBody>
      </p:sp>
      <p:sp>
        <p:nvSpPr>
          <p:cNvPr id="36" name="Rectangle 35"/>
          <p:cNvSpPr/>
          <p:nvPr/>
        </p:nvSpPr>
        <p:spPr>
          <a:xfrm>
            <a:off x="8321040" y="2039112"/>
            <a:ext cx="708477" cy="27432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84381" y="1965960"/>
            <a:ext cx="685800" cy="411480"/>
          </a:xfrm>
          <a:prstGeom prst="rect">
            <a:avLst/>
          </a:prstGeom>
          <a:noFill/>
        </p:spPr>
        <p:txBody>
          <a:bodyPr wrap="square" anchor="ctr" lIns="45720" rIns="45720">
            <a:spAutoFit/>
          </a:bodyPr>
          <a:lstStyle/>
          <a:p>
            <a:pPr algn="l">
              <a:spcAft>
                <a:spcPts val="489"/>
              </a:spcAft>
            </a:pPr>
            <a:r>
              <a:rPr sz="1400" b="1">
                <a:solidFill>
                  <a:srgbClr val="FFFFFF"/>
                </a:solidFill>
                <a:latin typeface="Calibri"/>
              </a:rPr>
              <a:t>11.7</a:t>
            </a:r>
          </a:p>
        </p:txBody>
      </p:sp>
      <p:sp>
        <p:nvSpPr>
          <p:cNvPr id="38" name="TextBox 37"/>
          <p:cNvSpPr txBox="1"/>
          <p:nvPr/>
        </p:nvSpPr>
        <p:spPr>
          <a:xfrm>
            <a:off x="7086600" y="2478024"/>
            <a:ext cx="1143000" cy="411480"/>
          </a:xfrm>
          <a:prstGeom prst="rect">
            <a:avLst/>
          </a:prstGeom>
          <a:noFill/>
        </p:spPr>
        <p:txBody>
          <a:bodyPr wrap="square" anchor="ctr" lIns="45720" rIns="45720">
            <a:spAutoFit/>
          </a:bodyPr>
          <a:lstStyle/>
          <a:p>
            <a:pPr algn="r">
              <a:spcAft>
                <a:spcPts val="489"/>
              </a:spcAft>
            </a:pPr>
            <a:r>
              <a:rPr sz="1400" b="0">
                <a:solidFill>
                  <a:srgbClr val="A8B0BA"/>
                </a:solidFill>
                <a:latin typeface="Calibri"/>
              </a:rPr>
              <a:t>Hybrid RT</a:t>
            </a:r>
          </a:p>
        </p:txBody>
      </p:sp>
      <p:sp>
        <p:nvSpPr>
          <p:cNvPr id="39" name="Rectangle 38"/>
          <p:cNvSpPr/>
          <p:nvPr/>
        </p:nvSpPr>
        <p:spPr>
          <a:xfrm>
            <a:off x="8321040" y="2551176"/>
            <a:ext cx="1229238" cy="27432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5142" y="2478024"/>
            <a:ext cx="685800" cy="411480"/>
          </a:xfrm>
          <a:prstGeom prst="rect">
            <a:avLst/>
          </a:prstGeom>
          <a:noFill/>
        </p:spPr>
        <p:txBody>
          <a:bodyPr wrap="square" anchor="ctr" lIns="45720" rIns="45720">
            <a:spAutoFit/>
          </a:bodyPr>
          <a:lstStyle/>
          <a:p>
            <a:pPr algn="l">
              <a:spcAft>
                <a:spcPts val="489"/>
              </a:spcAft>
            </a:pPr>
            <a:r>
              <a:rPr sz="1400" b="1">
                <a:solidFill>
                  <a:srgbClr val="FFFFFF"/>
                </a:solidFill>
                <a:latin typeface="Calibri"/>
              </a:rPr>
              <a:t>20.3</a:t>
            </a:r>
          </a:p>
        </p:txBody>
      </p:sp>
      <p:sp>
        <p:nvSpPr>
          <p:cNvPr id="41" name="TextBox 40"/>
          <p:cNvSpPr txBox="1"/>
          <p:nvPr/>
        </p:nvSpPr>
        <p:spPr>
          <a:xfrm>
            <a:off x="7086600" y="2990088"/>
            <a:ext cx="1143000" cy="411480"/>
          </a:xfrm>
          <a:prstGeom prst="rect">
            <a:avLst/>
          </a:prstGeom>
          <a:noFill/>
        </p:spPr>
        <p:txBody>
          <a:bodyPr wrap="square" anchor="ctr" lIns="45720" rIns="45720">
            <a:spAutoFit/>
          </a:bodyPr>
          <a:lstStyle/>
          <a:p>
            <a:pPr algn="r">
              <a:spcAft>
                <a:spcPts val="489"/>
              </a:spcAft>
            </a:pPr>
            <a:r>
              <a:rPr sz="1400" b="0">
                <a:solidFill>
                  <a:srgbClr val="A8B0BA"/>
                </a:solidFill>
                <a:latin typeface="Calibri"/>
              </a:rPr>
              <a:t>Whitted</a:t>
            </a:r>
          </a:p>
        </p:txBody>
      </p:sp>
      <p:sp>
        <p:nvSpPr>
          <p:cNvPr id="42" name="Rectangle 41"/>
          <p:cNvSpPr/>
          <p:nvPr/>
        </p:nvSpPr>
        <p:spPr>
          <a:xfrm>
            <a:off x="8321040" y="3063240"/>
            <a:ext cx="1556227" cy="27432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32131" y="2990088"/>
            <a:ext cx="685800" cy="411480"/>
          </a:xfrm>
          <a:prstGeom prst="rect">
            <a:avLst/>
          </a:prstGeom>
          <a:noFill/>
        </p:spPr>
        <p:txBody>
          <a:bodyPr wrap="square" anchor="ctr" lIns="45720" rIns="45720">
            <a:spAutoFit/>
          </a:bodyPr>
          <a:lstStyle/>
          <a:p>
            <a:pPr algn="l">
              <a:spcAft>
                <a:spcPts val="489"/>
              </a:spcAft>
            </a:pPr>
            <a:r>
              <a:rPr sz="1400" b="1">
                <a:solidFill>
                  <a:srgbClr val="FFFFFF"/>
                </a:solidFill>
                <a:latin typeface="Calibri"/>
              </a:rPr>
              <a:t>25.7</a:t>
            </a:r>
          </a:p>
        </p:txBody>
      </p:sp>
      <p:sp>
        <p:nvSpPr>
          <p:cNvPr id="44" name="TextBox 43"/>
          <p:cNvSpPr txBox="1"/>
          <p:nvPr/>
        </p:nvSpPr>
        <p:spPr>
          <a:xfrm>
            <a:off x="7086600" y="3502152"/>
            <a:ext cx="1143000" cy="411480"/>
          </a:xfrm>
          <a:prstGeom prst="rect">
            <a:avLst/>
          </a:prstGeom>
          <a:noFill/>
        </p:spPr>
        <p:txBody>
          <a:bodyPr wrap="square" anchor="ctr" lIns="45720" rIns="45720">
            <a:spAutoFit/>
          </a:bodyPr>
          <a:lstStyle/>
          <a:p>
            <a:pPr algn="r">
              <a:spcAft>
                <a:spcPts val="489"/>
              </a:spcAft>
            </a:pPr>
            <a:r>
              <a:rPr sz="1400" b="0">
                <a:solidFill>
                  <a:srgbClr val="A8B0BA"/>
                </a:solidFill>
                <a:latin typeface="Calibri"/>
              </a:rPr>
              <a:t>Path</a:t>
            </a:r>
          </a:p>
        </p:txBody>
      </p:sp>
      <p:sp>
        <p:nvSpPr>
          <p:cNvPr id="45" name="Rectangle 44"/>
          <p:cNvSpPr/>
          <p:nvPr/>
        </p:nvSpPr>
        <p:spPr>
          <a:xfrm>
            <a:off x="8321040" y="3575304"/>
            <a:ext cx="1326123" cy="27432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02027" y="3502152"/>
            <a:ext cx="685800" cy="411480"/>
          </a:xfrm>
          <a:prstGeom prst="rect">
            <a:avLst/>
          </a:prstGeom>
          <a:noFill/>
        </p:spPr>
        <p:txBody>
          <a:bodyPr wrap="square" anchor="ctr" lIns="45720" rIns="45720">
            <a:spAutoFit/>
          </a:bodyPr>
          <a:lstStyle/>
          <a:p>
            <a:pPr algn="l">
              <a:spcAft>
                <a:spcPts val="489"/>
              </a:spcAft>
            </a:pPr>
            <a:r>
              <a:rPr sz="1400" b="1">
                <a:solidFill>
                  <a:srgbClr val="FFFFFF"/>
                </a:solidFill>
                <a:latin typeface="Calibri"/>
              </a:rPr>
              <a:t>21.9</a:t>
            </a:r>
          </a:p>
        </p:txBody>
      </p:sp>
      <p:sp>
        <p:nvSpPr>
          <p:cNvPr id="47" name="TextBox 46"/>
          <p:cNvSpPr txBox="1"/>
          <p:nvPr/>
        </p:nvSpPr>
        <p:spPr>
          <a:xfrm>
            <a:off x="7086600" y="4014216"/>
            <a:ext cx="1143000" cy="411480"/>
          </a:xfrm>
          <a:prstGeom prst="rect">
            <a:avLst/>
          </a:prstGeom>
          <a:noFill/>
        </p:spPr>
        <p:txBody>
          <a:bodyPr wrap="square" anchor="ctr" lIns="45720" rIns="45720">
            <a:spAutoFit/>
          </a:bodyPr>
          <a:lstStyle/>
          <a:p>
            <a:pPr algn="r">
              <a:spcAft>
                <a:spcPts val="489"/>
              </a:spcAft>
            </a:pPr>
            <a:r>
              <a:rPr sz="1400" b="0">
                <a:solidFill>
                  <a:srgbClr val="A8B0BA"/>
                </a:solidFill>
                <a:latin typeface="Calibri"/>
              </a:rPr>
              <a:t>Light</a:t>
            </a:r>
          </a:p>
        </p:txBody>
      </p:sp>
      <p:sp>
        <p:nvSpPr>
          <p:cNvPr id="48" name="Rectangle 47"/>
          <p:cNvSpPr/>
          <p:nvPr/>
        </p:nvSpPr>
        <p:spPr>
          <a:xfrm>
            <a:off x="8321040" y="4087368"/>
            <a:ext cx="2361590" cy="27432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737494" y="4014216"/>
            <a:ext cx="685800" cy="411480"/>
          </a:xfrm>
          <a:prstGeom prst="rect">
            <a:avLst/>
          </a:prstGeom>
          <a:noFill/>
        </p:spPr>
        <p:txBody>
          <a:bodyPr wrap="square" anchor="ctr" lIns="45720" rIns="45720">
            <a:spAutoFit/>
          </a:bodyPr>
          <a:lstStyle/>
          <a:p>
            <a:pPr algn="l">
              <a:spcAft>
                <a:spcPts val="489"/>
              </a:spcAft>
            </a:pPr>
            <a:r>
              <a:rPr sz="1400" b="1">
                <a:solidFill>
                  <a:srgbClr val="FFFFFF"/>
                </a:solidFill>
                <a:latin typeface="Calibri"/>
              </a:rPr>
              <a:t>39.0</a:t>
            </a:r>
          </a:p>
        </p:txBody>
      </p:sp>
      <p:sp>
        <p:nvSpPr>
          <p:cNvPr id="50" name="Rectangle 49"/>
          <p:cNvSpPr/>
          <p:nvPr/>
        </p:nvSpPr>
        <p:spPr>
          <a:xfrm>
            <a:off x="8311896" y="1965960"/>
            <a:ext cx="18288" cy="2560320"/>
          </a:xfrm>
          <a:prstGeom prst="rect">
            <a:avLst/>
          </a:prstGeom>
          <a:solidFill>
            <a:srgbClr val="A8B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086600" y="478383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0" y="4709160"/>
            <a:ext cx="4416552" cy="512064"/>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WP-Q: raster EPIC 157 → 11.7 ms (instancing, grass fix, async readback)</a:t>
            </a:r>
          </a:p>
        </p:txBody>
      </p:sp>
      <p:sp>
        <p:nvSpPr>
          <p:cNvPr id="53" name="Rectangle 52"/>
          <p:cNvSpPr/>
          <p:nvPr/>
        </p:nvSpPr>
        <p:spPr>
          <a:xfrm>
            <a:off x="7086600" y="5295900"/>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0" y="5221224"/>
            <a:ext cx="4416552" cy="512064"/>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Entry-distance BVH stack, smaller stacks: Whitted 49 → 34 ms</a:t>
            </a:r>
          </a:p>
        </p:txBody>
      </p:sp>
      <p:sp>
        <p:nvSpPr>
          <p:cNvPr id="55" name="Rectangle 54"/>
          <p:cNvSpPr/>
          <p:nvPr/>
        </p:nvSpPr>
        <p:spPr>
          <a:xfrm>
            <a:off x="7086600" y="5807964"/>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0" y="5733288"/>
            <a:ext cx="4416552" cy="512064"/>
          </a:xfrm>
          <a:prstGeom prst="rect">
            <a:avLst/>
          </a:prstGeom>
          <a:noFill/>
        </p:spPr>
        <p:txBody>
          <a:bodyPr wrap="square" anchor="t" lIns="45720" rIns="45720">
            <a:spAutoFit/>
          </a:bodyPr>
          <a:lstStyle/>
          <a:p>
            <a:pPr algn="l">
              <a:spcAft>
                <a:spcPts val="489"/>
              </a:spcAft>
            </a:pPr>
            <a:r>
              <a:rPr sz="1400" b="0">
                <a:solidFill>
                  <a:srgbClr val="FFFFFF"/>
                </a:solidFill>
                <a:latin typeface="Calibri"/>
              </a:rPr>
              <a:t>Hybrid adds ~10 ms of rays on top of the raster frame</a:t>
            </a:r>
          </a:p>
        </p:txBody>
      </p:sp>
      <p:sp>
        <p:nvSpPr>
          <p:cNvPr id="57" name="TextBox 56"/>
          <p:cNvSpPr txBox="1"/>
          <p:nvPr/>
        </p:nvSpPr>
        <p:spPr>
          <a:xfrm>
            <a:off x="457200" y="6327648"/>
            <a:ext cx="11247120" cy="320040"/>
          </a:xfrm>
          <a:prstGeom prst="rect">
            <a:avLst/>
          </a:prstGeom>
          <a:noFill/>
        </p:spPr>
        <p:txBody>
          <a:bodyPr wrap="square" anchor="t" lIns="45720" rIns="45720">
            <a:spAutoFit/>
          </a:bodyPr>
          <a:lstStyle/>
          <a:p>
            <a:pPr algn="l">
              <a:spcAft>
                <a:spcPts val="419"/>
              </a:spcAft>
            </a:pPr>
            <a:r>
              <a:rPr sz="1200" b="0">
                <a:solidFill>
                  <a:srgbClr val="A8B0BA"/>
                </a:solidFill>
                <a:latin typeface="Calibri"/>
              </a:rPr>
              <a:t>Source: report/figures_v7/raytrace_perf.json (CAP), RTX 4070 via Mesa d3d12, 1280x720 output, EPIC, wall clock with glFinish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18  |  V7  |  FRAME EXPLORER</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Frame Explorer: one frame, 16 stages</a:t>
            </a:r>
          </a:p>
        </p:txBody>
      </p:sp>
      <p:pic>
        <p:nvPicPr>
          <p:cNvPr id="5" name="Picture 4" descr="img39.jpg"/>
          <p:cNvPicPr>
            <a:picLocks noChangeAspect="1"/>
          </p:cNvPicPr>
          <p:nvPr/>
        </p:nvPicPr>
        <p:blipFill>
          <a:blip r:embed="rId3"/>
          <a:stretch>
            <a:fillRect/>
          </a:stretch>
        </p:blipFill>
        <p:spPr>
          <a:xfrm>
            <a:off x="626693" y="1463040"/>
            <a:ext cx="7250533" cy="4288536"/>
          </a:xfrm>
          <a:prstGeom prst="rect">
            <a:avLst/>
          </a:prstGeom>
        </p:spPr>
      </p:pic>
      <p:sp>
        <p:nvSpPr>
          <p:cNvPr id="6" name="TextBox 5"/>
          <p:cNvSpPr txBox="1"/>
          <p:nvPr/>
        </p:nvSpPr>
        <p:spPr>
          <a:xfrm>
            <a:off x="457200" y="5852160"/>
            <a:ext cx="7589520" cy="77724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 freezes the frame: 8 TAA frames + 7 variants (SSR / SSAO / fog off, Blinn-Phong, TAA off, thermal, raw heat) through the real renderer</a:t>
            </a:r>
          </a:p>
        </p:txBody>
      </p:sp>
      <p:sp>
        <p:nvSpPr>
          <p:cNvPr id="7" name="TextBox 6"/>
          <p:cNvSpPr txBox="1"/>
          <p:nvPr/>
        </p:nvSpPr>
        <p:spPr>
          <a:xfrm>
            <a:off x="8275320" y="1463040"/>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01</a:t>
            </a:r>
          </a:p>
        </p:txBody>
      </p:sp>
      <p:sp>
        <p:nvSpPr>
          <p:cNvPr id="8" name="TextBox 7"/>
          <p:cNvSpPr txBox="1"/>
          <p:nvPr/>
        </p:nvSpPr>
        <p:spPr>
          <a:xfrm>
            <a:off x="8686800" y="1463040"/>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Scene graph</a:t>
            </a:r>
          </a:p>
        </p:txBody>
      </p:sp>
      <p:sp>
        <p:nvSpPr>
          <p:cNvPr id="9" name="TextBox 8"/>
          <p:cNvSpPr txBox="1"/>
          <p:nvPr/>
        </p:nvSpPr>
        <p:spPr>
          <a:xfrm>
            <a:off x="8275320" y="1883664"/>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02</a:t>
            </a:r>
          </a:p>
        </p:txBody>
      </p:sp>
      <p:sp>
        <p:nvSpPr>
          <p:cNvPr id="10" name="TextBox 9"/>
          <p:cNvSpPr txBox="1"/>
          <p:nvPr/>
        </p:nvSpPr>
        <p:spPr>
          <a:xfrm>
            <a:off x="8686800" y="1883664"/>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Vertex transform</a:t>
            </a:r>
          </a:p>
        </p:txBody>
      </p:sp>
      <p:sp>
        <p:nvSpPr>
          <p:cNvPr id="11" name="TextBox 10"/>
          <p:cNvSpPr txBox="1"/>
          <p:nvPr/>
        </p:nvSpPr>
        <p:spPr>
          <a:xfrm>
            <a:off x="8275320" y="2304288"/>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03</a:t>
            </a:r>
          </a:p>
        </p:txBody>
      </p:sp>
      <p:sp>
        <p:nvSpPr>
          <p:cNvPr id="12" name="TextBox 11"/>
          <p:cNvSpPr txBox="1"/>
          <p:nvPr/>
        </p:nvSpPr>
        <p:spPr>
          <a:xfrm>
            <a:off x="8686800" y="2304288"/>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Assembly + culling</a:t>
            </a:r>
          </a:p>
        </p:txBody>
      </p:sp>
      <p:sp>
        <p:nvSpPr>
          <p:cNvPr id="13" name="TextBox 12"/>
          <p:cNvSpPr txBox="1"/>
          <p:nvPr/>
        </p:nvSpPr>
        <p:spPr>
          <a:xfrm>
            <a:off x="8275320" y="2724912"/>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04</a:t>
            </a:r>
          </a:p>
        </p:txBody>
      </p:sp>
      <p:sp>
        <p:nvSpPr>
          <p:cNvPr id="14" name="TextBox 13"/>
          <p:cNvSpPr txBox="1"/>
          <p:nvPr/>
        </p:nvSpPr>
        <p:spPr>
          <a:xfrm>
            <a:off x="8686800" y="2724912"/>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Rasterisation</a:t>
            </a:r>
          </a:p>
        </p:txBody>
      </p:sp>
      <p:sp>
        <p:nvSpPr>
          <p:cNvPr id="15" name="TextBox 14"/>
          <p:cNvSpPr txBox="1"/>
          <p:nvPr/>
        </p:nvSpPr>
        <p:spPr>
          <a:xfrm>
            <a:off x="8275320" y="3145536"/>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05</a:t>
            </a:r>
          </a:p>
        </p:txBody>
      </p:sp>
      <p:sp>
        <p:nvSpPr>
          <p:cNvPr id="16" name="TextBox 15"/>
          <p:cNvSpPr txBox="1"/>
          <p:nvPr/>
        </p:nvSpPr>
        <p:spPr>
          <a:xfrm>
            <a:off x="8686800" y="3145536"/>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Colour interpolation</a:t>
            </a:r>
          </a:p>
        </p:txBody>
      </p:sp>
      <p:sp>
        <p:nvSpPr>
          <p:cNvPr id="17" name="TextBox 16"/>
          <p:cNvSpPr txBox="1"/>
          <p:nvPr/>
        </p:nvSpPr>
        <p:spPr>
          <a:xfrm>
            <a:off x="8275320" y="3566160"/>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06</a:t>
            </a:r>
          </a:p>
        </p:txBody>
      </p:sp>
      <p:sp>
        <p:nvSpPr>
          <p:cNvPr id="18" name="TextBox 17"/>
          <p:cNvSpPr txBox="1"/>
          <p:nvPr/>
        </p:nvSpPr>
        <p:spPr>
          <a:xfrm>
            <a:off x="8686800" y="3566160"/>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Depth test</a:t>
            </a:r>
          </a:p>
        </p:txBody>
      </p:sp>
      <p:sp>
        <p:nvSpPr>
          <p:cNvPr id="19" name="TextBox 18"/>
          <p:cNvSpPr txBox="1"/>
          <p:nvPr/>
        </p:nvSpPr>
        <p:spPr>
          <a:xfrm>
            <a:off x="8275320" y="3986784"/>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07</a:t>
            </a:r>
          </a:p>
        </p:txBody>
      </p:sp>
      <p:sp>
        <p:nvSpPr>
          <p:cNvPr id="20" name="TextBox 19"/>
          <p:cNvSpPr txBox="1"/>
          <p:nvPr/>
        </p:nvSpPr>
        <p:spPr>
          <a:xfrm>
            <a:off x="8686800" y="3986784"/>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G-buffer</a:t>
            </a:r>
          </a:p>
        </p:txBody>
      </p:sp>
      <p:sp>
        <p:nvSpPr>
          <p:cNvPr id="21" name="TextBox 20"/>
          <p:cNvSpPr txBox="1"/>
          <p:nvPr/>
        </p:nvSpPr>
        <p:spPr>
          <a:xfrm>
            <a:off x="8275320" y="4407408"/>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08</a:t>
            </a:r>
          </a:p>
        </p:txBody>
      </p:sp>
      <p:sp>
        <p:nvSpPr>
          <p:cNvPr id="22" name="TextBox 21"/>
          <p:cNvSpPr txBox="1"/>
          <p:nvPr/>
        </p:nvSpPr>
        <p:spPr>
          <a:xfrm>
            <a:off x="8686800" y="4407408"/>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Shadow map</a:t>
            </a:r>
          </a:p>
        </p:txBody>
      </p:sp>
      <p:sp>
        <p:nvSpPr>
          <p:cNvPr id="23" name="TextBox 22"/>
          <p:cNvSpPr txBox="1"/>
          <p:nvPr/>
        </p:nvSpPr>
        <p:spPr>
          <a:xfrm>
            <a:off x="10030968" y="1463040"/>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09</a:t>
            </a:r>
          </a:p>
        </p:txBody>
      </p:sp>
      <p:sp>
        <p:nvSpPr>
          <p:cNvPr id="24" name="TextBox 23"/>
          <p:cNvSpPr txBox="1"/>
          <p:nvPr/>
        </p:nvSpPr>
        <p:spPr>
          <a:xfrm>
            <a:off x="10442448" y="1463040"/>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Lighting</a:t>
            </a:r>
          </a:p>
        </p:txBody>
      </p:sp>
      <p:sp>
        <p:nvSpPr>
          <p:cNvPr id="25" name="TextBox 24"/>
          <p:cNvSpPr txBox="1"/>
          <p:nvPr/>
        </p:nvSpPr>
        <p:spPr>
          <a:xfrm>
            <a:off x="10030968" y="1883664"/>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10</a:t>
            </a:r>
          </a:p>
        </p:txBody>
      </p:sp>
      <p:sp>
        <p:nvSpPr>
          <p:cNvPr id="26" name="TextBox 25"/>
          <p:cNvSpPr txBox="1"/>
          <p:nvPr/>
        </p:nvSpPr>
        <p:spPr>
          <a:xfrm>
            <a:off x="10442448" y="1883664"/>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Reflection</a:t>
            </a:r>
          </a:p>
        </p:txBody>
      </p:sp>
      <p:sp>
        <p:nvSpPr>
          <p:cNvPr id="27" name="TextBox 26"/>
          <p:cNvSpPr txBox="1"/>
          <p:nvPr/>
        </p:nvSpPr>
        <p:spPr>
          <a:xfrm>
            <a:off x="10030968" y="2304288"/>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11</a:t>
            </a:r>
          </a:p>
        </p:txBody>
      </p:sp>
      <p:sp>
        <p:nvSpPr>
          <p:cNvPr id="28" name="TextBox 27"/>
          <p:cNvSpPr txBox="1"/>
          <p:nvPr/>
        </p:nvSpPr>
        <p:spPr>
          <a:xfrm>
            <a:off x="10442448" y="2304288"/>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SSAO</a:t>
            </a:r>
          </a:p>
        </p:txBody>
      </p:sp>
      <p:sp>
        <p:nvSpPr>
          <p:cNvPr id="29" name="TextBox 28"/>
          <p:cNvSpPr txBox="1"/>
          <p:nvPr/>
        </p:nvSpPr>
        <p:spPr>
          <a:xfrm>
            <a:off x="10030968" y="2724912"/>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12</a:t>
            </a:r>
          </a:p>
        </p:txBody>
      </p:sp>
      <p:sp>
        <p:nvSpPr>
          <p:cNvPr id="30" name="TextBox 29"/>
          <p:cNvSpPr txBox="1"/>
          <p:nvPr/>
        </p:nvSpPr>
        <p:spPr>
          <a:xfrm>
            <a:off x="10442448" y="2724912"/>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Fog</a:t>
            </a:r>
          </a:p>
        </p:txBody>
      </p:sp>
      <p:sp>
        <p:nvSpPr>
          <p:cNvPr id="31" name="TextBox 30"/>
          <p:cNvSpPr txBox="1"/>
          <p:nvPr/>
        </p:nvSpPr>
        <p:spPr>
          <a:xfrm>
            <a:off x="10030968" y="3145536"/>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13</a:t>
            </a:r>
          </a:p>
        </p:txBody>
      </p:sp>
      <p:sp>
        <p:nvSpPr>
          <p:cNvPr id="32" name="TextBox 31"/>
          <p:cNvSpPr txBox="1"/>
          <p:nvPr/>
        </p:nvSpPr>
        <p:spPr>
          <a:xfrm>
            <a:off x="10442448" y="3145536"/>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Bloom</a:t>
            </a:r>
          </a:p>
        </p:txBody>
      </p:sp>
      <p:sp>
        <p:nvSpPr>
          <p:cNvPr id="33" name="TextBox 32"/>
          <p:cNvSpPr txBox="1"/>
          <p:nvPr/>
        </p:nvSpPr>
        <p:spPr>
          <a:xfrm>
            <a:off x="10030968" y="3566160"/>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14</a:t>
            </a:r>
          </a:p>
        </p:txBody>
      </p:sp>
      <p:sp>
        <p:nvSpPr>
          <p:cNvPr id="34" name="TextBox 33"/>
          <p:cNvSpPr txBox="1"/>
          <p:nvPr/>
        </p:nvSpPr>
        <p:spPr>
          <a:xfrm>
            <a:off x="10442448" y="3566160"/>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Tone mapping</a:t>
            </a:r>
          </a:p>
        </p:txBody>
      </p:sp>
      <p:sp>
        <p:nvSpPr>
          <p:cNvPr id="35" name="TextBox 34"/>
          <p:cNvSpPr txBox="1"/>
          <p:nvPr/>
        </p:nvSpPr>
        <p:spPr>
          <a:xfrm>
            <a:off x="10030968" y="3986784"/>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15</a:t>
            </a:r>
          </a:p>
        </p:txBody>
      </p:sp>
      <p:sp>
        <p:nvSpPr>
          <p:cNvPr id="36" name="TextBox 35"/>
          <p:cNvSpPr txBox="1"/>
          <p:nvPr/>
        </p:nvSpPr>
        <p:spPr>
          <a:xfrm>
            <a:off x="10442448" y="3986784"/>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TAA</a:t>
            </a:r>
          </a:p>
        </p:txBody>
      </p:sp>
      <p:sp>
        <p:nvSpPr>
          <p:cNvPr id="37" name="TextBox 36"/>
          <p:cNvSpPr txBox="1"/>
          <p:nvPr/>
        </p:nvSpPr>
        <p:spPr>
          <a:xfrm>
            <a:off x="10030968" y="4407408"/>
            <a:ext cx="457200" cy="384048"/>
          </a:xfrm>
          <a:prstGeom prst="rect">
            <a:avLst/>
          </a:prstGeom>
          <a:noFill/>
        </p:spPr>
        <p:txBody>
          <a:bodyPr wrap="square" anchor="t" lIns="45720" rIns="45720">
            <a:spAutoFit/>
          </a:bodyPr>
          <a:lstStyle/>
          <a:p>
            <a:pPr algn="l">
              <a:spcAft>
                <a:spcPts val="525"/>
              </a:spcAft>
            </a:pPr>
            <a:r>
              <a:rPr sz="1500" b="1">
                <a:solidFill>
                  <a:srgbClr val="FF9E1F"/>
                </a:solidFill>
                <a:latin typeface="Calibri"/>
              </a:rPr>
              <a:t>16</a:t>
            </a:r>
          </a:p>
        </p:txBody>
      </p:sp>
      <p:sp>
        <p:nvSpPr>
          <p:cNvPr id="38" name="TextBox 37"/>
          <p:cNvSpPr txBox="1"/>
          <p:nvPr/>
        </p:nvSpPr>
        <p:spPr>
          <a:xfrm>
            <a:off x="10442448" y="4407408"/>
            <a:ext cx="1344168" cy="384048"/>
          </a:xfrm>
          <a:prstGeom prst="rect">
            <a:avLst/>
          </a:prstGeom>
          <a:noFill/>
        </p:spPr>
        <p:txBody>
          <a:bodyPr wrap="square" anchor="t" lIns="45720" rIns="45720">
            <a:spAutoFit/>
          </a:bodyPr>
          <a:lstStyle/>
          <a:p>
            <a:pPr algn="l">
              <a:spcAft>
                <a:spcPts val="455"/>
              </a:spcAft>
            </a:pPr>
            <a:r>
              <a:rPr sz="1300" b="0">
                <a:solidFill>
                  <a:srgbClr val="FFFFFF"/>
                </a:solidFill>
                <a:latin typeface="Calibri"/>
              </a:rPr>
              <a:t>Final + CV</a:t>
            </a:r>
          </a:p>
        </p:txBody>
      </p:sp>
      <p:sp>
        <p:nvSpPr>
          <p:cNvPr id="39" name="TextBox 38"/>
          <p:cNvSpPr txBox="1"/>
          <p:nvPr/>
        </p:nvSpPr>
        <p:spPr>
          <a:xfrm>
            <a:off x="8275320" y="4937760"/>
            <a:ext cx="3456432" cy="320040"/>
          </a:xfrm>
          <a:prstGeom prst="rect">
            <a:avLst/>
          </a:prstGeom>
          <a:noFill/>
        </p:spPr>
        <p:txBody>
          <a:bodyPr wrap="square" anchor="t" lIns="45720" rIns="45720">
            <a:spAutoFit/>
          </a:bodyPr>
          <a:lstStyle/>
          <a:p>
            <a:pPr algn="l">
              <a:spcAft>
                <a:spcPts val="419"/>
              </a:spcAft>
            </a:pPr>
            <a:r>
              <a:rPr sz="1200" b="1">
                <a:solidFill>
                  <a:srgbClr val="A8B0BA"/>
                </a:solidFill>
                <a:latin typeface="Calibri"/>
              </a:rPr>
              <a:t>INSIDE THE EXPLORER</a:t>
            </a:r>
          </a:p>
        </p:txBody>
      </p:sp>
      <p:sp>
        <p:nvSpPr>
          <p:cNvPr id="40" name="TextBox 39"/>
          <p:cNvSpPr txBox="1"/>
          <p:nvPr/>
        </p:nvSpPr>
        <p:spPr>
          <a:xfrm>
            <a:off x="8275320" y="5230368"/>
            <a:ext cx="3456432" cy="1417320"/>
          </a:xfrm>
          <a:prstGeom prst="rect">
            <a:avLst/>
          </a:prstGeom>
          <a:noFill/>
        </p:spPr>
        <p:txBody>
          <a:bodyPr wrap="square" anchor="t" lIns="45720" rIns="45720">
            <a:spAutoFit/>
          </a:bodyPr>
          <a:lstStyle/>
          <a:p>
            <a:pPr algn="l">
              <a:spcAft>
                <a:spcPts val="455"/>
              </a:spcAft>
            </a:pPr>
            <a:r>
              <a:rPr sz="1300" b="0">
                <a:solidFill>
                  <a:srgbClr val="FFFFFF"/>
                </a:solidFill>
                <a:latin typeface="Consolas"/>
              </a:rPr>
              <a:t>← → stage   ↑ ↓ layer   1-0 jump</a:t>
            </a:r>
          </a:p>
          <a:p>
            <a:pPr algn="l">
              <a:spcAft>
                <a:spcPts val="455"/>
              </a:spcAft>
            </a:pPr>
            <a:r>
              <a:rPr sz="1300" b="0">
                <a:solidFill>
                  <a:srgbClr val="FFFFFF"/>
                </a:solidFill>
                <a:latin typeface="Consolas"/>
              </a:rPr>
              <a:t>W wipe   M magnifier   I inspector</a:t>
            </a:r>
          </a:p>
          <a:p>
            <a:pPr algn="l">
              <a:spcAft>
                <a:spcPts val="455"/>
              </a:spcAft>
            </a:pPr>
            <a:r>
              <a:rPr sz="1300" b="0">
                <a:solidFill>
                  <a:srgbClr val="FFFFFF"/>
                </a:solidFill>
                <a:latin typeface="Consolas"/>
              </a:rPr>
              <a:t>P image lab   Space play   ` / Esc close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19  |  V7  |  FRAME EXPLORER</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Colour interpolation: affine vs perspective</a:t>
            </a:r>
          </a:p>
        </p:txBody>
      </p:sp>
      <p:pic>
        <p:nvPicPr>
          <p:cNvPr id="5" name="Picture 4" descr="img40.jpg"/>
          <p:cNvPicPr>
            <a:picLocks noChangeAspect="1"/>
          </p:cNvPicPr>
          <p:nvPr/>
        </p:nvPicPr>
        <p:blipFill>
          <a:blip r:embed="rId3"/>
          <a:stretch>
            <a:fillRect/>
          </a:stretch>
        </p:blipFill>
        <p:spPr>
          <a:xfrm>
            <a:off x="460248" y="1463040"/>
            <a:ext cx="7217664" cy="4059936"/>
          </a:xfrm>
          <a:prstGeom prst="rect">
            <a:avLst/>
          </a:prstGeom>
        </p:spPr>
      </p:pic>
      <p:pic>
        <p:nvPicPr>
          <p:cNvPr id="6" name="Picture 5" descr="img41.jpg"/>
          <p:cNvPicPr>
            <a:picLocks noChangeAspect="1"/>
          </p:cNvPicPr>
          <p:nvPr/>
        </p:nvPicPr>
        <p:blipFill>
          <a:blip r:embed="rId4"/>
          <a:srcRect l="9847" r="9847"/>
          <a:stretch>
            <a:fillRect/>
          </a:stretch>
        </p:blipFill>
        <p:spPr>
          <a:xfrm>
            <a:off x="7863840" y="1463040"/>
            <a:ext cx="3867912" cy="1874519"/>
          </a:xfrm>
          <a:prstGeom prst="rect">
            <a:avLst/>
          </a:prstGeom>
        </p:spPr>
      </p:pic>
      <p:sp>
        <p:nvSpPr>
          <p:cNvPr id="7" name="Rectangle 6"/>
          <p:cNvSpPr/>
          <p:nvPr/>
        </p:nvSpPr>
        <p:spPr>
          <a:xfrm>
            <a:off x="7863840" y="2990088"/>
            <a:ext cx="386791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2990088"/>
            <a:ext cx="386791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Probe triangle: affine bends, perspective is straight</a:t>
            </a:r>
          </a:p>
        </p:txBody>
      </p:sp>
      <p:pic>
        <p:nvPicPr>
          <p:cNvPr id="9" name="Picture 8" descr="img42.jpg"/>
          <p:cNvPicPr>
            <a:picLocks noChangeAspect="1"/>
          </p:cNvPicPr>
          <p:nvPr/>
        </p:nvPicPr>
        <p:blipFill>
          <a:blip r:embed="rId5"/>
          <a:srcRect l="17119" r="17119"/>
          <a:stretch>
            <a:fillRect/>
          </a:stretch>
        </p:blipFill>
        <p:spPr>
          <a:xfrm>
            <a:off x="7863840" y="3456432"/>
            <a:ext cx="3867912" cy="2066543"/>
          </a:xfrm>
          <a:prstGeom prst="rect">
            <a:avLst/>
          </a:prstGeom>
        </p:spPr>
      </p:pic>
      <p:sp>
        <p:nvSpPr>
          <p:cNvPr id="10" name="Rectangle 9"/>
          <p:cNvSpPr/>
          <p:nvPr/>
        </p:nvSpPr>
        <p:spPr>
          <a:xfrm>
            <a:off x="7863840" y="5175503"/>
            <a:ext cx="386791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5175503"/>
            <a:ext cx="386791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Coarse sphere: Gouraud vs Phong</a:t>
            </a:r>
          </a:p>
        </p:txBody>
      </p:sp>
      <p:sp>
        <p:nvSpPr>
          <p:cNvPr id="12" name="Rectangle 11"/>
          <p:cNvSpPr/>
          <p:nvPr/>
        </p:nvSpPr>
        <p:spPr>
          <a:xfrm>
            <a:off x="457200" y="5650992"/>
            <a:ext cx="11274552" cy="978408"/>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50992"/>
            <a:ext cx="54864" cy="978408"/>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724144"/>
            <a:ext cx="11091672" cy="859536"/>
          </a:xfrm>
          <a:prstGeom prst="rect">
            <a:avLst/>
          </a:prstGeom>
          <a:noFill/>
        </p:spPr>
        <p:txBody>
          <a:bodyPr wrap="square" anchor="t" lIns="45720" rIns="45720">
            <a:spAutoFit/>
          </a:bodyPr>
          <a:lstStyle/>
          <a:p>
            <a:pPr algn="l">
              <a:spcAft>
                <a:spcPts val="525"/>
              </a:spcAft>
            </a:pPr>
            <a:r>
              <a:rPr sz="1500" b="0">
                <a:solidFill>
                  <a:srgbClr val="6FD6E8"/>
                </a:solidFill>
                <a:latin typeface="Consolas"/>
              </a:rPr>
              <a:t>λᵢ = Eᵢ(p) / (E₀ + E₁ + E₂)        affine:  a = Σ λᵢ aᵢ</a:t>
            </a:r>
          </a:p>
          <a:p>
            <a:pPr algn="l">
              <a:spcAft>
                <a:spcPts val="525"/>
              </a:spcAft>
            </a:pPr>
            <a:r>
              <a:rPr sz="1500" b="0">
                <a:solidFill>
                  <a:srgbClr val="6FD6E8"/>
                </a:solidFill>
                <a:latin typeface="Consolas"/>
              </a:rPr>
              <a:t>perspective-correct:  a = Σ (λᵢ aᵢ / wᵢ) / Σ (λᵢ / wᵢ)</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20  |  V7  |  FRAME EXPLORER</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Reflection: screen-space vs ray traced</a:t>
            </a:r>
          </a:p>
        </p:txBody>
      </p:sp>
      <p:pic>
        <p:nvPicPr>
          <p:cNvPr id="5" name="Picture 4" descr="img43.jpg"/>
          <p:cNvPicPr>
            <a:picLocks noChangeAspect="1"/>
          </p:cNvPicPr>
          <p:nvPr/>
        </p:nvPicPr>
        <p:blipFill>
          <a:blip r:embed="rId3"/>
          <a:stretch>
            <a:fillRect/>
          </a:stretch>
        </p:blipFill>
        <p:spPr>
          <a:xfrm>
            <a:off x="457200" y="1463611"/>
            <a:ext cx="7589520" cy="4269105"/>
          </a:xfrm>
          <a:prstGeom prst="rect">
            <a:avLst/>
          </a:prstGeom>
        </p:spPr>
      </p:pic>
      <p:pic>
        <p:nvPicPr>
          <p:cNvPr id="6" name="Picture 5" descr="img44.jpg"/>
          <p:cNvPicPr>
            <a:picLocks noChangeAspect="1"/>
          </p:cNvPicPr>
          <p:nvPr/>
        </p:nvPicPr>
        <p:blipFill>
          <a:blip r:embed="rId4"/>
          <a:srcRect t="102" b="102"/>
          <a:stretch>
            <a:fillRect/>
          </a:stretch>
        </p:blipFill>
        <p:spPr>
          <a:xfrm>
            <a:off x="8229600" y="1463040"/>
            <a:ext cx="3502152" cy="1965960"/>
          </a:xfrm>
          <a:prstGeom prst="rect">
            <a:avLst/>
          </a:prstGeom>
        </p:spPr>
      </p:pic>
      <p:sp>
        <p:nvSpPr>
          <p:cNvPr id="7" name="Rectangle 6"/>
          <p:cNvSpPr/>
          <p:nvPr/>
        </p:nvSpPr>
        <p:spPr>
          <a:xfrm>
            <a:off x="8229600" y="3081528"/>
            <a:ext cx="3502152"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3081528"/>
            <a:ext cx="3502152"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RT − SSR on reflective pixels (×5)</a:t>
            </a:r>
          </a:p>
        </p:txBody>
      </p:sp>
      <p:sp>
        <p:nvSpPr>
          <p:cNvPr id="9" name="TextBox 8"/>
          <p:cNvSpPr txBox="1"/>
          <p:nvPr/>
        </p:nvSpPr>
        <p:spPr>
          <a:xfrm>
            <a:off x="8229600" y="3566160"/>
            <a:ext cx="3502152" cy="365760"/>
          </a:xfrm>
          <a:prstGeom prst="rect">
            <a:avLst/>
          </a:prstGeom>
          <a:noFill/>
        </p:spPr>
        <p:txBody>
          <a:bodyPr wrap="square" anchor="t" lIns="45720" rIns="45720">
            <a:spAutoFit/>
          </a:bodyPr>
          <a:lstStyle/>
          <a:p>
            <a:pPr algn="l">
              <a:spcAft>
                <a:spcPts val="594"/>
              </a:spcAft>
            </a:pPr>
            <a:r>
              <a:rPr sz="1700" b="1">
                <a:solidFill>
                  <a:srgbClr val="FF9E1F"/>
                </a:solidFill>
                <a:latin typeface="Calibri"/>
              </a:rPr>
              <a:t>SSR (screen space)</a:t>
            </a:r>
          </a:p>
        </p:txBody>
      </p:sp>
      <p:sp>
        <p:nvSpPr>
          <p:cNvPr id="10" name="TextBox 9"/>
          <p:cNvSpPr txBox="1"/>
          <p:nvPr/>
        </p:nvSpPr>
        <p:spPr>
          <a:xfrm>
            <a:off x="8229600" y="3931920"/>
            <a:ext cx="3502152" cy="73152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Marches the depth buffer; reuses on-screen colour; blind off-screen</a:t>
            </a:r>
          </a:p>
        </p:txBody>
      </p:sp>
      <p:sp>
        <p:nvSpPr>
          <p:cNvPr id="11" name="TextBox 10"/>
          <p:cNvSpPr txBox="1"/>
          <p:nvPr/>
        </p:nvSpPr>
        <p:spPr>
          <a:xfrm>
            <a:off x="8229600" y="4663440"/>
            <a:ext cx="3502152" cy="365760"/>
          </a:xfrm>
          <a:prstGeom prst="rect">
            <a:avLst/>
          </a:prstGeom>
          <a:noFill/>
        </p:spPr>
        <p:txBody>
          <a:bodyPr wrap="square" anchor="t" lIns="45720" rIns="45720">
            <a:spAutoFit/>
          </a:bodyPr>
          <a:lstStyle/>
          <a:p>
            <a:pPr algn="l">
              <a:spcAft>
                <a:spcPts val="594"/>
              </a:spcAft>
            </a:pPr>
            <a:r>
              <a:rPr sz="1700" b="1">
                <a:solidFill>
                  <a:srgbClr val="6FD6E8"/>
                </a:solidFill>
                <a:latin typeface="Calibri"/>
              </a:rPr>
              <a:t>Ray traced (BVH)</a:t>
            </a:r>
          </a:p>
        </p:txBody>
      </p:sp>
      <p:sp>
        <p:nvSpPr>
          <p:cNvPr id="12" name="TextBox 11"/>
          <p:cNvSpPr txBox="1"/>
          <p:nvPr/>
        </p:nvSpPr>
        <p:spPr>
          <a:xfrm>
            <a:off x="8229600" y="5029200"/>
            <a:ext cx="3502152" cy="731520"/>
          </a:xfrm>
          <a:prstGeom prst="rect">
            <a:avLst/>
          </a:prstGeom>
          <a:noFill/>
        </p:spPr>
        <p:txBody>
          <a:bodyPr wrap="square" anchor="t" lIns="45720" rIns="45720">
            <a:spAutoFit/>
          </a:bodyPr>
          <a:lstStyle/>
          <a:p>
            <a:pPr algn="l">
              <a:spcAft>
                <a:spcPts val="489"/>
              </a:spcAft>
            </a:pPr>
            <a:r>
              <a:rPr sz="1400" b="0">
                <a:solidFill>
                  <a:srgbClr val="A8B0BA"/>
                </a:solidFill>
                <a:latin typeface="Calibri"/>
              </a:rPr>
              <a:t>Hybrid G-buffer + BVH rays; finds off-screen and hidden objects</a:t>
            </a:r>
          </a:p>
        </p:txBody>
      </p:sp>
      <p:sp>
        <p:nvSpPr>
          <p:cNvPr id="13" name="Rectangle 12"/>
          <p:cNvSpPr/>
          <p:nvPr/>
        </p:nvSpPr>
        <p:spPr>
          <a:xfrm>
            <a:off x="457200" y="5852160"/>
            <a:ext cx="11274552" cy="77724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5852160"/>
            <a:ext cx="54864" cy="777240"/>
          </a:xfrm>
          <a:prstGeom prst="rect">
            <a:avLst/>
          </a:prstGeom>
          <a:solidFill>
            <a:srgbClr val="6F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25312"/>
            <a:ext cx="11091672" cy="658367"/>
          </a:xfrm>
          <a:prstGeom prst="rect">
            <a:avLst/>
          </a:prstGeom>
          <a:noFill/>
        </p:spPr>
        <p:txBody>
          <a:bodyPr wrap="square" anchor="t" lIns="45720" rIns="45720">
            <a:spAutoFit/>
          </a:bodyPr>
          <a:lstStyle/>
          <a:p>
            <a:pPr algn="l">
              <a:spcAft>
                <a:spcPts val="525"/>
              </a:spcAft>
            </a:pPr>
            <a:r>
              <a:rPr sz="1500" b="0">
                <a:solidFill>
                  <a:srgbClr val="6FD6E8"/>
                </a:solidFill>
                <a:latin typeface="Consolas"/>
              </a:rPr>
              <a:t>R = D − 2 (D·N) N          F = F₀ + (1 − F₀)(1 − cos θ)⁵   (Schlick)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21  |  RESULTS</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Testing and results</a:t>
            </a:r>
          </a:p>
        </p:txBody>
      </p:sp>
      <p:sp>
        <p:nvSpPr>
          <p:cNvPr id="5" name="Rectangle 4"/>
          <p:cNvSpPr/>
          <p:nvPr/>
        </p:nvSpPr>
        <p:spPr>
          <a:xfrm>
            <a:off x="457200" y="1463040"/>
            <a:ext cx="269748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81328"/>
            <a:ext cx="269748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289 / 289</a:t>
            </a:r>
          </a:p>
        </p:txBody>
      </p:sp>
      <p:sp>
        <p:nvSpPr>
          <p:cNvPr id="7" name="TextBox 6"/>
          <p:cNvSpPr txBox="1"/>
          <p:nvPr/>
        </p:nvSpPr>
        <p:spPr>
          <a:xfrm>
            <a:off x="457200" y="2083460"/>
            <a:ext cx="269748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automated tests pass</a:t>
            </a:r>
          </a:p>
        </p:txBody>
      </p:sp>
      <p:sp>
        <p:nvSpPr>
          <p:cNvPr id="8" name="Rectangle 7"/>
          <p:cNvSpPr/>
          <p:nvPr/>
        </p:nvSpPr>
        <p:spPr>
          <a:xfrm>
            <a:off x="3291840" y="1463040"/>
            <a:ext cx="269748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481328"/>
            <a:ext cx="269748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5,414</a:t>
            </a:r>
          </a:p>
        </p:txBody>
      </p:sp>
      <p:sp>
        <p:nvSpPr>
          <p:cNvPr id="10" name="TextBox 9"/>
          <p:cNvSpPr txBox="1"/>
          <p:nvPr/>
        </p:nvSpPr>
        <p:spPr>
          <a:xfrm>
            <a:off x="3291840" y="2083460"/>
            <a:ext cx="269748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primitive leaves</a:t>
            </a:r>
          </a:p>
        </p:txBody>
      </p:sp>
      <p:sp>
        <p:nvSpPr>
          <p:cNvPr id="11" name="Rectangle 10"/>
          <p:cNvSpPr/>
          <p:nvPr/>
        </p:nvSpPr>
        <p:spPr>
          <a:xfrm>
            <a:off x="6126480" y="1463040"/>
            <a:ext cx="269748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481328"/>
            <a:ext cx="269748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18</a:t>
            </a:r>
          </a:p>
        </p:txBody>
      </p:sp>
      <p:sp>
        <p:nvSpPr>
          <p:cNvPr id="13" name="TextBox 12"/>
          <p:cNvSpPr txBox="1"/>
          <p:nvPr/>
        </p:nvSpPr>
        <p:spPr>
          <a:xfrm>
            <a:off x="6126480" y="2083460"/>
            <a:ext cx="269748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possessable objects</a:t>
            </a:r>
          </a:p>
        </p:txBody>
      </p:sp>
      <p:sp>
        <p:nvSpPr>
          <p:cNvPr id="14" name="Rectangle 13"/>
          <p:cNvSpPr/>
          <p:nvPr/>
        </p:nvSpPr>
        <p:spPr>
          <a:xfrm>
            <a:off x="8961120" y="1463040"/>
            <a:ext cx="2697480" cy="1051560"/>
          </a:xfrm>
          <a:prstGeom prst="rect">
            <a:avLst/>
          </a:prstGeom>
          <a:solidFill>
            <a:srgbClr val="14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1481328"/>
            <a:ext cx="2697480" cy="599389"/>
          </a:xfrm>
          <a:prstGeom prst="rect">
            <a:avLst/>
          </a:prstGeom>
          <a:noFill/>
        </p:spPr>
        <p:txBody>
          <a:bodyPr wrap="square" anchor="t" lIns="45720" rIns="45720">
            <a:spAutoFit/>
          </a:bodyPr>
          <a:lstStyle/>
          <a:p>
            <a:pPr algn="ctr">
              <a:spcAft>
                <a:spcPts val="1050"/>
              </a:spcAft>
            </a:pPr>
            <a:r>
              <a:rPr sz="3000" b="1">
                <a:solidFill>
                  <a:srgbClr val="FF9E1F"/>
                </a:solidFill>
                <a:latin typeface="Calibri"/>
              </a:rPr>
              <a:t>5 + 16</a:t>
            </a:r>
          </a:p>
        </p:txBody>
      </p:sp>
      <p:sp>
        <p:nvSpPr>
          <p:cNvPr id="16" name="TextBox 15"/>
          <p:cNvSpPr txBox="1"/>
          <p:nvPr/>
        </p:nvSpPr>
        <p:spPr>
          <a:xfrm>
            <a:off x="8961120" y="2083460"/>
            <a:ext cx="2697480" cy="399592"/>
          </a:xfrm>
          <a:prstGeom prst="rect">
            <a:avLst/>
          </a:prstGeom>
          <a:noFill/>
        </p:spPr>
        <p:txBody>
          <a:bodyPr wrap="square" anchor="t" lIns="45720" rIns="45720">
            <a:spAutoFit/>
          </a:bodyPr>
          <a:lstStyle/>
          <a:p>
            <a:pPr algn="ctr">
              <a:spcAft>
                <a:spcPts val="455"/>
              </a:spcAft>
            </a:pPr>
            <a:r>
              <a:rPr sz="1300" b="0">
                <a:solidFill>
                  <a:srgbClr val="A8B0BA"/>
                </a:solidFill>
                <a:latin typeface="Calibri"/>
              </a:rPr>
              <a:t>render modes + explorer stages</a:t>
            </a:r>
          </a:p>
        </p:txBody>
      </p:sp>
      <p:sp>
        <p:nvSpPr>
          <p:cNvPr id="17" name="Rectangle 16"/>
          <p:cNvSpPr/>
          <p:nvPr/>
        </p:nvSpPr>
        <p:spPr>
          <a:xfrm>
            <a:off x="548640" y="2874264"/>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788920"/>
            <a:ext cx="5166360" cy="621792"/>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600 s traces: seed 42 twice byte-identical, seed 43 differs</a:t>
            </a:r>
          </a:p>
        </p:txBody>
      </p:sp>
      <p:sp>
        <p:nvSpPr>
          <p:cNvPr id="19" name="Rectangle 18"/>
          <p:cNvSpPr/>
          <p:nvPr/>
        </p:nvSpPr>
        <p:spPr>
          <a:xfrm>
            <a:off x="548640" y="3496056"/>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410712"/>
            <a:ext cx="5166360" cy="621792"/>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0 spawns by day; every kill from a vision-designated round</a:t>
            </a:r>
          </a:p>
        </p:txBody>
      </p:sp>
      <p:sp>
        <p:nvSpPr>
          <p:cNvPr id="21" name="Rectangle 20"/>
          <p:cNvSpPr/>
          <p:nvPr/>
        </p:nvSpPr>
        <p:spPr>
          <a:xfrm>
            <a:off x="548640" y="4117848"/>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32504"/>
            <a:ext cx="5166360" cy="621792"/>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Night regression matches v5 (static shots MAE 0.4-5.8 / 255)</a:t>
            </a:r>
          </a:p>
        </p:txBody>
      </p:sp>
      <p:sp>
        <p:nvSpPr>
          <p:cNvPr id="23" name="Rectangle 22"/>
          <p:cNvSpPr/>
          <p:nvPr/>
        </p:nvSpPr>
        <p:spPr>
          <a:xfrm>
            <a:off x="548640" y="4739640"/>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654296"/>
            <a:ext cx="5166360" cy="621792"/>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Raster 11.7 ms; ray traced: Whitted 25.7 ms, path 21.9 ms on the RTX 4070</a:t>
            </a:r>
          </a:p>
        </p:txBody>
      </p:sp>
      <p:sp>
        <p:nvSpPr>
          <p:cNvPr id="25" name="Rectangle 24"/>
          <p:cNvSpPr/>
          <p:nvPr/>
        </p:nvSpPr>
        <p:spPr>
          <a:xfrm>
            <a:off x="548640" y="5361432"/>
            <a:ext cx="100584" cy="100584"/>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276088"/>
            <a:ext cx="5166360" cy="621792"/>
          </a:xfrm>
          <a:prstGeom prst="rect">
            <a:avLst/>
          </a:prstGeom>
          <a:noFill/>
        </p:spPr>
        <p:txBody>
          <a:bodyPr wrap="square" anchor="t" lIns="45720" rIns="45720">
            <a:spAutoFit/>
          </a:bodyPr>
          <a:lstStyle/>
          <a:p>
            <a:pPr algn="l">
              <a:spcAft>
                <a:spcPts val="560"/>
              </a:spcAft>
            </a:pPr>
            <a:r>
              <a:rPr sz="1600" b="0">
                <a:solidFill>
                  <a:srgbClr val="FFFFFF"/>
                </a:solidFill>
                <a:latin typeface="Calibri"/>
              </a:rPr>
              <a:t>Workbook verify PASS; Windows exe + WSLg build, no sudo</a:t>
            </a:r>
          </a:p>
        </p:txBody>
      </p:sp>
      <p:pic>
        <p:nvPicPr>
          <p:cNvPr id="27" name="Picture 26" descr="img45.jpg"/>
          <p:cNvPicPr>
            <a:picLocks noChangeAspect="1"/>
          </p:cNvPicPr>
          <p:nvPr/>
        </p:nvPicPr>
        <p:blipFill>
          <a:blip r:embed="rId3"/>
          <a:srcRect l="9152" r="9152"/>
          <a:stretch>
            <a:fillRect/>
          </a:stretch>
        </p:blipFill>
        <p:spPr>
          <a:xfrm>
            <a:off x="6153912" y="2788920"/>
            <a:ext cx="5577840" cy="3840480"/>
          </a:xfrm>
          <a:prstGeom prst="rect">
            <a:avLst/>
          </a:prstGeom>
        </p:spPr>
      </p:pic>
      <p:sp>
        <p:nvSpPr>
          <p:cNvPr id="28" name="Rectangle 27"/>
          <p:cNvSpPr/>
          <p:nvPr/>
        </p:nvSpPr>
        <p:spPr>
          <a:xfrm>
            <a:off x="6153912" y="6281928"/>
            <a:ext cx="5577840" cy="347472"/>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53912" y="6281928"/>
            <a:ext cx="5577840" cy="347472"/>
          </a:xfrm>
          <a:prstGeom prst="rect">
            <a:avLst/>
          </a:prstGeom>
          <a:noFill/>
        </p:spPr>
        <p:txBody>
          <a:bodyPr wrap="square" anchor="ctr" lIns="45720" rIns="45720">
            <a:spAutoFit/>
          </a:bodyPr>
          <a:lstStyle/>
          <a:p>
            <a:pPr algn="l">
              <a:spcAft>
                <a:spcPts val="419"/>
              </a:spcAft>
            </a:pPr>
            <a:r>
              <a:rPr sz="1200" b="0">
                <a:solidFill>
                  <a:srgbClr val="FF9E1F"/>
                </a:solidFill>
                <a:latin typeface="Calibri"/>
              </a:rPr>
              <a:t>Free camera over a combined strike (+150)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A0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7315200" cy="320040"/>
          </a:xfrm>
          <a:prstGeom prst="rect">
            <a:avLst/>
          </a:prstGeom>
          <a:noFill/>
        </p:spPr>
        <p:txBody>
          <a:bodyPr wrap="square" anchor="t" lIns="45720" rIns="45720">
            <a:spAutoFit/>
          </a:bodyPr>
          <a:lstStyle/>
          <a:p>
            <a:pPr algn="l">
              <a:spcAft>
                <a:spcPts val="455"/>
              </a:spcAft>
            </a:pPr>
            <a:r>
              <a:rPr sz="1300" b="1">
                <a:solidFill>
                  <a:srgbClr val="FF9E1F"/>
                </a:solidFill>
                <a:latin typeface="Calibri"/>
              </a:rPr>
              <a:t>22  |  DEMONSTRATION, 2.5 MINUTES</a:t>
            </a:r>
          </a:p>
        </p:txBody>
      </p:sp>
      <p:sp>
        <p:nvSpPr>
          <p:cNvPr id="4" name="TextBox 3"/>
          <p:cNvSpPr txBox="1"/>
          <p:nvPr/>
        </p:nvSpPr>
        <p:spPr>
          <a:xfrm>
            <a:off x="457200" y="530352"/>
            <a:ext cx="11247120" cy="777240"/>
          </a:xfrm>
          <a:prstGeom prst="rect">
            <a:avLst/>
          </a:prstGeom>
          <a:noFill/>
        </p:spPr>
        <p:txBody>
          <a:bodyPr wrap="square" anchor="t" lIns="45720" rIns="45720">
            <a:spAutoFit/>
          </a:bodyPr>
          <a:lstStyle/>
          <a:p>
            <a:pPr algn="l">
              <a:spcAft>
                <a:spcPts val="1189"/>
              </a:spcAft>
            </a:pPr>
            <a:r>
              <a:rPr sz="3400" b="1">
                <a:solidFill>
                  <a:srgbClr val="FFFFFF"/>
                </a:solidFill>
                <a:latin typeface="Calibri"/>
              </a:rPr>
              <a:t>Demo video</a:t>
            </a:r>
          </a:p>
        </p:txBody>
      </p:sp>
      <p:pic>
        <p:nvPicPr>
          <p:cNvPr id="5" name="Picture 4" descr="img46.jpg"/>
          <p:cNvPicPr>
            <a:picLocks noChangeAspect="1"/>
          </p:cNvPicPr>
          <p:nvPr/>
        </p:nvPicPr>
        <p:blipFill>
          <a:blip r:embed="rId3"/>
          <a:stretch>
            <a:fillRect/>
          </a:stretch>
        </p:blipFill>
        <p:spPr>
          <a:xfrm>
            <a:off x="1527048" y="1371600"/>
            <a:ext cx="9144000" cy="5143500"/>
          </a:xfrm>
          <a:prstGeom prst="rect">
            <a:avLst/>
          </a:prstGeom>
        </p:spPr>
      </p:pic>
      <p:sp>
        <p:nvSpPr>
          <p:cNvPr id="6" name="Rectangle 5"/>
          <p:cNvSpPr/>
          <p:nvPr/>
        </p:nvSpPr>
        <p:spPr>
          <a:xfrm>
            <a:off x="1527048" y="4914900"/>
            <a:ext cx="9144000" cy="1600200"/>
          </a:xfrm>
          <a:prstGeom prst="rect">
            <a:avLst/>
          </a:prstGeom>
          <a:solidFill>
            <a:srgbClr val="080A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27048" y="4914900"/>
            <a:ext cx="9144000" cy="45720"/>
          </a:xfrm>
          <a:prstGeom prst="rect">
            <a:avLst/>
          </a:prstGeom>
          <a:solidFill>
            <a:srgbClr val="FF9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7048" y="5024628"/>
            <a:ext cx="9144000" cy="640080"/>
          </a:xfrm>
          <a:prstGeom prst="rect">
            <a:avLst/>
          </a:prstGeom>
          <a:noFill/>
        </p:spPr>
        <p:txBody>
          <a:bodyPr wrap="square" anchor="ctr" lIns="45720" rIns="45720">
            <a:spAutoFit/>
          </a:bodyPr>
          <a:lstStyle/>
          <a:p>
            <a:pPr algn="ctr">
              <a:spcAft>
                <a:spcPts val="1120"/>
              </a:spcAft>
            </a:pPr>
            <a:r>
              <a:rPr sz="3200" b="1">
                <a:solidFill>
                  <a:srgbClr val="FF9E1F"/>
                </a:solidFill>
                <a:latin typeface="Calibri"/>
              </a:rPr>
              <a:t>TODO: record report/demo_v7.mp4</a:t>
            </a:r>
          </a:p>
        </p:txBody>
      </p:sp>
      <p:sp>
        <p:nvSpPr>
          <p:cNvPr id="9" name="TextBox 8"/>
          <p:cNvSpPr txBox="1"/>
          <p:nvPr/>
        </p:nvSpPr>
        <p:spPr>
          <a:xfrm>
            <a:off x="1527048" y="5692140"/>
            <a:ext cx="9144000" cy="365760"/>
          </a:xfrm>
          <a:prstGeom prst="rect">
            <a:avLst/>
          </a:prstGeom>
          <a:noFill/>
        </p:spPr>
        <p:txBody>
          <a:bodyPr wrap="square" anchor="ctr" lIns="45720" rIns="45720">
            <a:spAutoFit/>
          </a:bodyPr>
          <a:lstStyle/>
          <a:p>
            <a:pPr algn="ctr">
              <a:spcAft>
                <a:spcPts val="525"/>
              </a:spcAft>
            </a:pPr>
            <a:r>
              <a:rPr sz="1500" b="0">
                <a:solidFill>
                  <a:srgbClr val="FFFFFF"/>
                </a:solidFill>
                <a:latin typeface="Consolas"/>
              </a:rPr>
              <a:t>./ThermalSense --headless --quality epic --record report/demo_v7.mp4 150</a:t>
            </a:r>
          </a:p>
        </p:txBody>
      </p:sp>
      <p:sp>
        <p:nvSpPr>
          <p:cNvPr id="10" name="TextBox 9"/>
          <p:cNvSpPr txBox="1"/>
          <p:nvPr/>
        </p:nvSpPr>
        <p:spPr>
          <a:xfrm>
            <a:off x="1527048" y="6057900"/>
            <a:ext cx="9144000" cy="365760"/>
          </a:xfrm>
          <a:prstGeom prst="rect">
            <a:avLst/>
          </a:prstGeom>
          <a:noFill/>
        </p:spPr>
        <p:txBody>
          <a:bodyPr wrap="square" anchor="ctr" lIns="45720" rIns="45720">
            <a:spAutoFit/>
          </a:bodyPr>
          <a:lstStyle/>
          <a:p>
            <a:pPr algn="ctr">
              <a:spcAft>
                <a:spcPts val="455"/>
              </a:spcAft>
            </a:pPr>
            <a:r>
              <a:rPr sz="1300" b="0">
                <a:solidFill>
                  <a:srgbClr val="A8B0BA"/>
                </a:solidFill>
                <a:latin typeface="Calibri"/>
              </a:rPr>
              <a:t>v7 director cut: 23 segments, ~150 s, procedural sound; this slide embeds the file once it exists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