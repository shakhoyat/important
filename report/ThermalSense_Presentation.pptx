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This is ThermalSense, my computer graphics lab project: an autonomous drone patrolling a night-time military base. Everything you will see, the bunker, the tank, the helicopter and the rover targets, is built only from three primitives: cube, sphere and cylinder. No model files, no textures. In the next ten minutes I will show the goal, the construction, the rendering, the game logic, the tests and finally a two minute demonstration video.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outline. First the goal and how the requirements grew from the lab sheet to version four. Second, how every object is assembled from primitives with translate, rotate, scale hierarchies. Third, the base and the walkable underground bunker. Fourth, the controllable objects and their complex motion. Then the rendering pipeline, the autonomy and game logic, and the testing results. The final slide plays the two minute demo video.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a UAV that finds and tracks intruders using only its own thermal camera, in a believable base, built entirely from primitives. The requirements grew in stages. The lab sheet gave canonical primitives and the matrix M equals T R S. The proposal added shading modes, lights and the Z-buffer. Version two added PBR and the thermal tracker, version three the RTX 4070 pipeline, and version four the military base, bunker, seven controllable objects and combat.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visible solid is one part: a unit cube, sphere or cylinder drawn with its own matrix M equals T times R times S. Parts are grouped in a hierarchy, so a track link moves with its tank. The scene has 2,983 primitive leaves in total. For example the bunker has 363 parts, the tank 226, the radar 102, the UAV 67 and the helicopter 68. Cones are just cylinders with a different top radius.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scene is a night-time base of 36 metres radius with a HESCO perimeter, watch towers, a helipad, motor pool, barracks and a gate barrier. Under the ground sits the bunker: an entrance ramp, blast doors, a tunnel, a command room, a bunk room and a generator room. You can walk through it in first person; floors, walls and ceilings are collision volumes, so it behaves like a real interior with its own lighting.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objects can be possessed with the keys five to zero or the bracket keys: tank, helicopter, AA gun, radar, blast doors, the UAV, and the gate barrier. Each has real hierarchical motion: tank track links following an arc-length path, a helicopter with rotor flapping and a spring-damper attitude, a Gatling gun with spin-up, a three-mode radar, and eased sliding doors. Backspace releases control. The camera switches between chase and sight views.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is rendered in linear light into an HDR target. GGX Cook-Torrance PBR is the base, with cascaded moon shadows, screen-space ambient occlusion, volumetric fog with light shafts, temporal anti-aliasing, screen-space reflections in puddles and bloom, finished by an ACES tone curve. The thermal view is a sensor model: automatic gain, noise, shimmer and a FLIR style HUD. The preset is chosen automatically, EPIC on the RTX 4070.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drone works from its own thermal image: blobs are found by flood fill, tracked, and after a lock of one and a half seconds it fires a rail round. The missile homes with proportional navigation, the rover explodes into rigid-body debris and leaves a burning wreck that the drone learns to ignore. Friendly vehicles are never targeted. After a short delay the rover respawns, and the intruders hide behind obstacles using a MicroMouse planner.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Quality is checked by 120 automated tests, all passing: they cover the primitives, matrices, shading, the game logic, the controllable objects and the bunker walk space. The Excel workbook documents every transform and part from an export of the live scene, and a verification script recomputes it. The report has 29 pages with an audit appendix. The target is Windows with MinGW, Linux and headless EGL, tuned for the RTX 4070.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now the demonstration: a two minute cinematic sequence recorded in the program itself. You will see the base at night, the walk through the bunker, the possessed tank, helicopter and AA gun, then the drone locking onto a rover, the rail round, the explosion and the burning wreck, in thermal and visible views. Thank you; questions are welcome afterwards.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 Id="rId6"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image" Target="../media/image13.jpg"/><Relationship Id="rId6"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1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pic>
        <p:nvPicPr>
          <p:cNvPr id="2" name="Picture 1" descr="img0.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3383280"/>
            <a:ext cx="12191695" cy="3474720"/>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3611880"/>
            <a:ext cx="1280160" cy="6400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49039"/>
            <a:ext cx="10972800" cy="914400"/>
          </a:xfrm>
          <a:prstGeom prst="rect">
            <a:avLst/>
          </a:prstGeom>
          <a:noFill/>
        </p:spPr>
        <p:txBody>
          <a:bodyPr wrap="square" anchor="t" lIns="45720" rIns="45720">
            <a:spAutoFit/>
          </a:bodyPr>
          <a:lstStyle/>
          <a:p>
            <a:pPr algn="l">
              <a:spcAft>
                <a:spcPts val="1889"/>
              </a:spcAft>
            </a:pPr>
            <a:r>
              <a:rPr sz="5400" b="1">
                <a:solidFill>
                  <a:srgbClr val="FFFFFF"/>
                </a:solidFill>
                <a:latin typeface="Calibri"/>
              </a:rPr>
              <a:t>ThermalSense</a:t>
            </a:r>
          </a:p>
        </p:txBody>
      </p:sp>
      <p:sp>
        <p:nvSpPr>
          <p:cNvPr id="6" name="TextBox 5"/>
          <p:cNvSpPr txBox="1"/>
          <p:nvPr/>
        </p:nvSpPr>
        <p:spPr>
          <a:xfrm>
            <a:off x="548640" y="4572000"/>
            <a:ext cx="10972800" cy="640080"/>
          </a:xfrm>
          <a:prstGeom prst="rect">
            <a:avLst/>
          </a:prstGeom>
          <a:noFill/>
        </p:spPr>
        <p:txBody>
          <a:bodyPr wrap="square" anchor="t" lIns="45720" rIns="45720">
            <a:spAutoFit/>
          </a:bodyPr>
          <a:lstStyle/>
          <a:p>
            <a:pPr algn="l">
              <a:spcAft>
                <a:spcPts val="1050"/>
              </a:spcAft>
            </a:pPr>
            <a:r>
              <a:rPr sz="3000" b="0">
                <a:solidFill>
                  <a:srgbClr val="FF9E1F"/>
                </a:solidFill>
                <a:latin typeface="Calibri"/>
              </a:rPr>
              <a:t>Autonomous UAV Patrol of a Military Base</a:t>
            </a:r>
          </a:p>
        </p:txBody>
      </p:sp>
      <p:sp>
        <p:nvSpPr>
          <p:cNvPr id="7" name="TextBox 6"/>
          <p:cNvSpPr txBox="1"/>
          <p:nvPr/>
        </p:nvSpPr>
        <p:spPr>
          <a:xfrm>
            <a:off x="548640" y="5440680"/>
            <a:ext cx="10972800" cy="457200"/>
          </a:xfrm>
          <a:prstGeom prst="rect">
            <a:avLst/>
          </a:prstGeom>
          <a:noFill/>
        </p:spPr>
        <p:txBody>
          <a:bodyPr wrap="square" anchor="t" lIns="45720" rIns="45720">
            <a:spAutoFit/>
          </a:bodyPr>
          <a:lstStyle/>
          <a:p>
            <a:pPr algn="l">
              <a:spcAft>
                <a:spcPts val="700"/>
              </a:spcAft>
            </a:pPr>
            <a:r>
              <a:rPr sz="2000" b="0">
                <a:solidFill>
                  <a:srgbClr val="FFFFFF"/>
                </a:solidFill>
                <a:latin typeface="Calibri"/>
              </a:rPr>
              <a:t>Md. Shakhoyat Rahman Shujon  |  Roll 2107104</a:t>
            </a:r>
          </a:p>
        </p:txBody>
      </p:sp>
      <p:sp>
        <p:nvSpPr>
          <p:cNvPr id="8" name="TextBox 7"/>
          <p:cNvSpPr txBox="1"/>
          <p:nvPr/>
        </p:nvSpPr>
        <p:spPr>
          <a:xfrm>
            <a:off x="548640" y="5852160"/>
            <a:ext cx="10972800" cy="457200"/>
          </a:xfrm>
          <a:prstGeom prst="rect">
            <a:avLst/>
          </a:prstGeom>
          <a:noFill/>
        </p:spPr>
        <p:txBody>
          <a:bodyPr wrap="square" anchor="t" lIns="45720" rIns="45720">
            <a:spAutoFit/>
          </a:bodyPr>
          <a:lstStyle/>
          <a:p>
            <a:pPr algn="l">
              <a:spcAft>
                <a:spcPts val="630"/>
              </a:spcAft>
            </a:pPr>
            <a:r>
              <a:rPr sz="1800" b="0">
                <a:solidFill>
                  <a:srgbClr val="A8B0BA"/>
                </a:solidFill>
                <a:latin typeface="Calibri"/>
              </a:rPr>
              <a:t>Computer Graphics Lab  |  C++17, OpenGL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THERMALSENSE</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Outline</a:t>
            </a:r>
          </a:p>
        </p:txBody>
      </p:sp>
      <p:sp>
        <p:nvSpPr>
          <p:cNvPr id="5" name="TextBox 4"/>
          <p:cNvSpPr txBox="1"/>
          <p:nvPr/>
        </p:nvSpPr>
        <p:spPr>
          <a:xfrm>
            <a:off x="548640" y="173736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3</a:t>
            </a:r>
          </a:p>
        </p:txBody>
      </p:sp>
      <p:sp>
        <p:nvSpPr>
          <p:cNvPr id="6" name="TextBox 5"/>
          <p:cNvSpPr txBox="1"/>
          <p:nvPr/>
        </p:nvSpPr>
        <p:spPr>
          <a:xfrm>
            <a:off x="1417319" y="1828800"/>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Goal and requirements history</a:t>
            </a:r>
          </a:p>
        </p:txBody>
      </p:sp>
      <p:sp>
        <p:nvSpPr>
          <p:cNvPr id="7" name="TextBox 6"/>
          <p:cNvSpPr txBox="1"/>
          <p:nvPr/>
        </p:nvSpPr>
        <p:spPr>
          <a:xfrm>
            <a:off x="548640" y="2834639"/>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4</a:t>
            </a:r>
          </a:p>
        </p:txBody>
      </p:sp>
      <p:sp>
        <p:nvSpPr>
          <p:cNvPr id="8" name="TextBox 7"/>
          <p:cNvSpPr txBox="1"/>
          <p:nvPr/>
        </p:nvSpPr>
        <p:spPr>
          <a:xfrm>
            <a:off x="1417319" y="2926079"/>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Building with primitives</a:t>
            </a:r>
          </a:p>
        </p:txBody>
      </p:sp>
      <p:sp>
        <p:nvSpPr>
          <p:cNvPr id="9" name="TextBox 8"/>
          <p:cNvSpPr txBox="1"/>
          <p:nvPr/>
        </p:nvSpPr>
        <p:spPr>
          <a:xfrm>
            <a:off x="548640" y="393192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5</a:t>
            </a:r>
          </a:p>
        </p:txBody>
      </p:sp>
      <p:sp>
        <p:nvSpPr>
          <p:cNvPr id="10" name="TextBox 9"/>
          <p:cNvSpPr txBox="1"/>
          <p:nvPr/>
        </p:nvSpPr>
        <p:spPr>
          <a:xfrm>
            <a:off x="1417319" y="4023359"/>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The base and the underground bunker</a:t>
            </a:r>
          </a:p>
        </p:txBody>
      </p:sp>
      <p:sp>
        <p:nvSpPr>
          <p:cNvPr id="11" name="TextBox 10"/>
          <p:cNvSpPr txBox="1"/>
          <p:nvPr/>
        </p:nvSpPr>
        <p:spPr>
          <a:xfrm>
            <a:off x="548640" y="502920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6</a:t>
            </a:r>
          </a:p>
        </p:txBody>
      </p:sp>
      <p:sp>
        <p:nvSpPr>
          <p:cNvPr id="12" name="TextBox 11"/>
          <p:cNvSpPr txBox="1"/>
          <p:nvPr/>
        </p:nvSpPr>
        <p:spPr>
          <a:xfrm>
            <a:off x="1417319" y="5120640"/>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Controllable objects and complex motion</a:t>
            </a:r>
          </a:p>
        </p:txBody>
      </p:sp>
      <p:sp>
        <p:nvSpPr>
          <p:cNvPr id="13" name="TextBox 12"/>
          <p:cNvSpPr txBox="1"/>
          <p:nvPr/>
        </p:nvSpPr>
        <p:spPr>
          <a:xfrm>
            <a:off x="6217920" y="173736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7</a:t>
            </a:r>
          </a:p>
        </p:txBody>
      </p:sp>
      <p:sp>
        <p:nvSpPr>
          <p:cNvPr id="14" name="TextBox 13"/>
          <p:cNvSpPr txBox="1"/>
          <p:nvPr/>
        </p:nvSpPr>
        <p:spPr>
          <a:xfrm>
            <a:off x="7086600" y="1828800"/>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Rendering pipeline</a:t>
            </a:r>
          </a:p>
        </p:txBody>
      </p:sp>
      <p:sp>
        <p:nvSpPr>
          <p:cNvPr id="15" name="TextBox 14"/>
          <p:cNvSpPr txBox="1"/>
          <p:nvPr/>
        </p:nvSpPr>
        <p:spPr>
          <a:xfrm>
            <a:off x="6217920" y="2834639"/>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8</a:t>
            </a:r>
          </a:p>
        </p:txBody>
      </p:sp>
      <p:sp>
        <p:nvSpPr>
          <p:cNvPr id="16" name="TextBox 15"/>
          <p:cNvSpPr txBox="1"/>
          <p:nvPr/>
        </p:nvSpPr>
        <p:spPr>
          <a:xfrm>
            <a:off x="7086600" y="2926079"/>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Autonomy and game logic</a:t>
            </a:r>
          </a:p>
        </p:txBody>
      </p:sp>
      <p:sp>
        <p:nvSpPr>
          <p:cNvPr id="17" name="TextBox 16"/>
          <p:cNvSpPr txBox="1"/>
          <p:nvPr/>
        </p:nvSpPr>
        <p:spPr>
          <a:xfrm>
            <a:off x="6217920" y="393192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9</a:t>
            </a:r>
          </a:p>
        </p:txBody>
      </p:sp>
      <p:sp>
        <p:nvSpPr>
          <p:cNvPr id="18" name="TextBox 17"/>
          <p:cNvSpPr txBox="1"/>
          <p:nvPr/>
        </p:nvSpPr>
        <p:spPr>
          <a:xfrm>
            <a:off x="7086600" y="4023359"/>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Testing and results</a:t>
            </a:r>
          </a:p>
        </p:txBody>
      </p:sp>
      <p:sp>
        <p:nvSpPr>
          <p:cNvPr id="19" name="TextBox 18"/>
          <p:cNvSpPr txBox="1"/>
          <p:nvPr/>
        </p:nvSpPr>
        <p:spPr>
          <a:xfrm>
            <a:off x="6217920" y="5029200"/>
            <a:ext cx="822960" cy="731520"/>
          </a:xfrm>
          <a:prstGeom prst="rect">
            <a:avLst/>
          </a:prstGeom>
          <a:noFill/>
        </p:spPr>
        <p:txBody>
          <a:bodyPr wrap="square" anchor="t" lIns="45720" rIns="45720">
            <a:spAutoFit/>
          </a:bodyPr>
          <a:lstStyle/>
          <a:p>
            <a:pPr algn="l">
              <a:spcAft>
                <a:spcPts val="1400"/>
              </a:spcAft>
            </a:pPr>
            <a:r>
              <a:rPr sz="4000" b="1">
                <a:solidFill>
                  <a:srgbClr val="FF9E1F"/>
                </a:solidFill>
                <a:latin typeface="Calibri"/>
              </a:rPr>
              <a:t>10</a:t>
            </a:r>
          </a:p>
        </p:txBody>
      </p:sp>
      <p:sp>
        <p:nvSpPr>
          <p:cNvPr id="20" name="TextBox 19"/>
          <p:cNvSpPr txBox="1"/>
          <p:nvPr/>
        </p:nvSpPr>
        <p:spPr>
          <a:xfrm>
            <a:off x="7086600" y="5120640"/>
            <a:ext cx="4663440" cy="731520"/>
          </a:xfrm>
          <a:prstGeom prst="rect">
            <a:avLst/>
          </a:prstGeom>
          <a:noFill/>
        </p:spPr>
        <p:txBody>
          <a:bodyPr wrap="square" anchor="t" lIns="45720" rIns="45720">
            <a:spAutoFit/>
          </a:bodyPr>
          <a:lstStyle/>
          <a:p>
            <a:pPr algn="l">
              <a:spcAft>
                <a:spcPts val="769"/>
              </a:spcAft>
            </a:pPr>
            <a:r>
              <a:rPr sz="2200" b="0">
                <a:solidFill>
                  <a:srgbClr val="FFFFFF"/>
                </a:solidFill>
                <a:latin typeface="Calibri"/>
              </a:rPr>
              <a:t>Demo video (2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3  |  GOAL</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Goal and requirements history</a:t>
            </a:r>
          </a:p>
        </p:txBody>
      </p:sp>
      <p:sp>
        <p:nvSpPr>
          <p:cNvPr id="5" name="Rectangle 4"/>
          <p:cNvSpPr/>
          <p:nvPr/>
        </p:nvSpPr>
        <p:spPr>
          <a:xfrm>
            <a:off x="457200" y="1828800"/>
            <a:ext cx="2148840" cy="73152"/>
          </a:xfrm>
          <a:prstGeom prst="rect">
            <a:avLst/>
          </a:prstGeom>
          <a:solidFill>
            <a:srgbClr val="A8B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65960"/>
            <a:ext cx="2148840" cy="548640"/>
          </a:xfrm>
          <a:prstGeom prst="rect">
            <a:avLst/>
          </a:prstGeom>
          <a:noFill/>
        </p:spPr>
        <p:txBody>
          <a:bodyPr wrap="square" anchor="t" lIns="45720" rIns="45720">
            <a:spAutoFit/>
          </a:bodyPr>
          <a:lstStyle/>
          <a:p>
            <a:pPr algn="l">
              <a:spcAft>
                <a:spcPts val="910"/>
              </a:spcAft>
            </a:pPr>
            <a:r>
              <a:rPr sz="2600" b="1">
                <a:solidFill>
                  <a:srgbClr val="FFFFFF"/>
                </a:solidFill>
                <a:latin typeface="Calibri"/>
              </a:rPr>
              <a:t>Lab sheet</a:t>
            </a:r>
          </a:p>
        </p:txBody>
      </p:sp>
      <p:sp>
        <p:nvSpPr>
          <p:cNvPr id="7" name="TextBox 6"/>
          <p:cNvSpPr txBox="1"/>
          <p:nvPr/>
        </p:nvSpPr>
        <p:spPr>
          <a:xfrm>
            <a:off x="457200" y="2606040"/>
            <a:ext cx="2148840" cy="1645920"/>
          </a:xfrm>
          <a:prstGeom prst="rect">
            <a:avLst/>
          </a:prstGeom>
          <a:noFill/>
        </p:spPr>
        <p:txBody>
          <a:bodyPr wrap="square" anchor="t" lIns="45720" rIns="45720">
            <a:spAutoFit/>
          </a:bodyPr>
          <a:lstStyle/>
          <a:p>
            <a:pPr algn="l">
              <a:spcAft>
                <a:spcPts val="594"/>
              </a:spcAft>
            </a:pPr>
            <a:r>
              <a:rPr sz="1700" b="0">
                <a:solidFill>
                  <a:srgbClr val="A8B0BA"/>
                </a:solidFill>
                <a:latin typeface="Calibri"/>
              </a:rPr>
              <a:t>Unit cube, sphere, cylinder; M = T·R·S; indexed VAO/VBO/EBO</a:t>
            </a:r>
          </a:p>
        </p:txBody>
      </p:sp>
      <p:sp>
        <p:nvSpPr>
          <p:cNvPr id="8" name="Rectangle 7"/>
          <p:cNvSpPr/>
          <p:nvPr/>
        </p:nvSpPr>
        <p:spPr>
          <a:xfrm>
            <a:off x="2724912" y="1828800"/>
            <a:ext cx="2148840" cy="73152"/>
          </a:xfrm>
          <a:prstGeom prst="rect">
            <a:avLst/>
          </a:prstGeom>
          <a:solidFill>
            <a:srgbClr val="A8B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24912" y="1965960"/>
            <a:ext cx="2148840" cy="548640"/>
          </a:xfrm>
          <a:prstGeom prst="rect">
            <a:avLst/>
          </a:prstGeom>
          <a:noFill/>
        </p:spPr>
        <p:txBody>
          <a:bodyPr wrap="square" anchor="t" lIns="45720" rIns="45720">
            <a:spAutoFit/>
          </a:bodyPr>
          <a:lstStyle/>
          <a:p>
            <a:pPr algn="l">
              <a:spcAft>
                <a:spcPts val="910"/>
              </a:spcAft>
            </a:pPr>
            <a:r>
              <a:rPr sz="2600" b="1">
                <a:solidFill>
                  <a:srgbClr val="FFFFFF"/>
                </a:solidFill>
                <a:latin typeface="Calibri"/>
              </a:rPr>
              <a:t>Proposal</a:t>
            </a:r>
          </a:p>
        </p:txBody>
      </p:sp>
      <p:sp>
        <p:nvSpPr>
          <p:cNvPr id="10" name="TextBox 9"/>
          <p:cNvSpPr txBox="1"/>
          <p:nvPr/>
        </p:nvSpPr>
        <p:spPr>
          <a:xfrm>
            <a:off x="2724912" y="2606040"/>
            <a:ext cx="2148840" cy="1645920"/>
          </a:xfrm>
          <a:prstGeom prst="rect">
            <a:avLst/>
          </a:prstGeom>
          <a:noFill/>
        </p:spPr>
        <p:txBody>
          <a:bodyPr wrap="square" anchor="t" lIns="45720" rIns="45720">
            <a:spAutoFit/>
          </a:bodyPr>
          <a:lstStyle/>
          <a:p>
            <a:pPr algn="l">
              <a:spcAft>
                <a:spcPts val="594"/>
              </a:spcAft>
            </a:pPr>
            <a:r>
              <a:rPr sz="1700" b="0">
                <a:solidFill>
                  <a:srgbClr val="A8B0BA"/>
                </a:solidFill>
                <a:latin typeface="Calibri"/>
              </a:rPr>
              <a:t>Flat / Gouraud / Phong, 3 lights, Z-buffer hiding, thermal map</a:t>
            </a:r>
          </a:p>
        </p:txBody>
      </p:sp>
      <p:sp>
        <p:nvSpPr>
          <p:cNvPr id="11" name="Rectangle 10"/>
          <p:cNvSpPr/>
          <p:nvPr/>
        </p:nvSpPr>
        <p:spPr>
          <a:xfrm>
            <a:off x="4992624" y="1828800"/>
            <a:ext cx="2148840" cy="73152"/>
          </a:xfrm>
          <a:prstGeom prst="rect">
            <a:avLst/>
          </a:prstGeom>
          <a:solidFill>
            <a:srgbClr val="A8B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92624" y="1965960"/>
            <a:ext cx="2148840" cy="548640"/>
          </a:xfrm>
          <a:prstGeom prst="rect">
            <a:avLst/>
          </a:prstGeom>
          <a:noFill/>
        </p:spPr>
        <p:txBody>
          <a:bodyPr wrap="square" anchor="t" lIns="45720" rIns="45720">
            <a:spAutoFit/>
          </a:bodyPr>
          <a:lstStyle/>
          <a:p>
            <a:pPr algn="l">
              <a:spcAft>
                <a:spcPts val="910"/>
              </a:spcAft>
            </a:pPr>
            <a:r>
              <a:rPr sz="2600" b="1">
                <a:solidFill>
                  <a:srgbClr val="FFFFFF"/>
                </a:solidFill>
                <a:latin typeface="Calibri"/>
              </a:rPr>
              <a:t>v2</a:t>
            </a:r>
          </a:p>
        </p:txBody>
      </p:sp>
      <p:sp>
        <p:nvSpPr>
          <p:cNvPr id="13" name="TextBox 12"/>
          <p:cNvSpPr txBox="1"/>
          <p:nvPr/>
        </p:nvSpPr>
        <p:spPr>
          <a:xfrm>
            <a:off x="4992624" y="2606040"/>
            <a:ext cx="2148840" cy="1645920"/>
          </a:xfrm>
          <a:prstGeom prst="rect">
            <a:avLst/>
          </a:prstGeom>
          <a:noFill/>
        </p:spPr>
        <p:txBody>
          <a:bodyPr wrap="square" anchor="t" lIns="45720" rIns="45720">
            <a:spAutoFit/>
          </a:bodyPr>
          <a:lstStyle/>
          <a:p>
            <a:pPr algn="l">
              <a:spcAft>
                <a:spcPts val="594"/>
              </a:spcAft>
            </a:pPr>
            <a:r>
              <a:rPr sz="1700" b="0">
                <a:solidFill>
                  <a:srgbClr val="A8B0BA"/>
                </a:solidFill>
                <a:latin typeface="Calibri"/>
              </a:rPr>
              <a:t>PBR, shadows, SSAO, fog; thermal UAV tracker; MicroMouse rover</a:t>
            </a:r>
          </a:p>
        </p:txBody>
      </p:sp>
      <p:sp>
        <p:nvSpPr>
          <p:cNvPr id="14" name="Rectangle 13"/>
          <p:cNvSpPr/>
          <p:nvPr/>
        </p:nvSpPr>
        <p:spPr>
          <a:xfrm>
            <a:off x="7260336" y="1828800"/>
            <a:ext cx="2148840" cy="73152"/>
          </a:xfrm>
          <a:prstGeom prst="rect">
            <a:avLst/>
          </a:prstGeom>
          <a:solidFill>
            <a:srgbClr val="A8B0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1965960"/>
            <a:ext cx="2148840" cy="548640"/>
          </a:xfrm>
          <a:prstGeom prst="rect">
            <a:avLst/>
          </a:prstGeom>
          <a:noFill/>
        </p:spPr>
        <p:txBody>
          <a:bodyPr wrap="square" anchor="t" lIns="45720" rIns="45720">
            <a:spAutoFit/>
          </a:bodyPr>
          <a:lstStyle/>
          <a:p>
            <a:pPr algn="l">
              <a:spcAft>
                <a:spcPts val="910"/>
              </a:spcAft>
            </a:pPr>
            <a:r>
              <a:rPr sz="2600" b="1">
                <a:solidFill>
                  <a:srgbClr val="FFFFFF"/>
                </a:solidFill>
                <a:latin typeface="Calibri"/>
              </a:rPr>
              <a:t>v3</a:t>
            </a:r>
          </a:p>
        </p:txBody>
      </p:sp>
      <p:sp>
        <p:nvSpPr>
          <p:cNvPr id="16" name="TextBox 15"/>
          <p:cNvSpPr txBox="1"/>
          <p:nvPr/>
        </p:nvSpPr>
        <p:spPr>
          <a:xfrm>
            <a:off x="7260336" y="2606040"/>
            <a:ext cx="2148840" cy="1645920"/>
          </a:xfrm>
          <a:prstGeom prst="rect">
            <a:avLst/>
          </a:prstGeom>
          <a:noFill/>
        </p:spPr>
        <p:txBody>
          <a:bodyPr wrap="square" anchor="t" lIns="45720" rIns="45720">
            <a:spAutoFit/>
          </a:bodyPr>
          <a:lstStyle/>
          <a:p>
            <a:pPr algn="l">
              <a:spcAft>
                <a:spcPts val="594"/>
              </a:spcAft>
            </a:pPr>
            <a:r>
              <a:rPr sz="1700" b="0">
                <a:solidFill>
                  <a:srgbClr val="A8B0BA"/>
                </a:solidFill>
                <a:latin typeface="Calibri"/>
              </a:rPr>
              <a:t>RTX 4070 EPIC preset, first-person FLIR view, TAA, SSR</a:t>
            </a:r>
          </a:p>
        </p:txBody>
      </p:sp>
      <p:sp>
        <p:nvSpPr>
          <p:cNvPr id="17" name="Rectangle 16"/>
          <p:cNvSpPr/>
          <p:nvPr/>
        </p:nvSpPr>
        <p:spPr>
          <a:xfrm>
            <a:off x="9528048" y="1828800"/>
            <a:ext cx="2148840" cy="73152"/>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8048" y="1965960"/>
            <a:ext cx="2148840" cy="548640"/>
          </a:xfrm>
          <a:prstGeom prst="rect">
            <a:avLst/>
          </a:prstGeom>
          <a:noFill/>
        </p:spPr>
        <p:txBody>
          <a:bodyPr wrap="square" anchor="t" lIns="45720" rIns="45720">
            <a:spAutoFit/>
          </a:bodyPr>
          <a:lstStyle/>
          <a:p>
            <a:pPr algn="l">
              <a:spcAft>
                <a:spcPts val="910"/>
              </a:spcAft>
            </a:pPr>
            <a:r>
              <a:rPr sz="2600" b="1">
                <a:solidFill>
                  <a:srgbClr val="FF9E1F"/>
                </a:solidFill>
                <a:latin typeface="Calibri"/>
              </a:rPr>
              <a:t>v4</a:t>
            </a:r>
          </a:p>
        </p:txBody>
      </p:sp>
      <p:sp>
        <p:nvSpPr>
          <p:cNvPr id="19" name="TextBox 18"/>
          <p:cNvSpPr txBox="1"/>
          <p:nvPr/>
        </p:nvSpPr>
        <p:spPr>
          <a:xfrm>
            <a:off x="9528048" y="2606040"/>
            <a:ext cx="2148840" cy="1645920"/>
          </a:xfrm>
          <a:prstGeom prst="rect">
            <a:avLst/>
          </a:prstGeom>
          <a:noFill/>
        </p:spPr>
        <p:txBody>
          <a:bodyPr wrap="square" anchor="t" lIns="45720" rIns="45720">
            <a:spAutoFit/>
          </a:bodyPr>
          <a:lstStyle/>
          <a:p>
            <a:pPr algn="l">
              <a:spcAft>
                <a:spcPts val="594"/>
              </a:spcAft>
            </a:pPr>
            <a:r>
              <a:rPr sz="1700" b="0">
                <a:solidFill>
                  <a:srgbClr val="A8B0BA"/>
                </a:solidFill>
                <a:latin typeface="Calibri"/>
              </a:rPr>
              <a:t>Military base, walkable bunker, 7 controllable objects, combat</a:t>
            </a:r>
          </a:p>
        </p:txBody>
      </p:sp>
      <p:pic>
        <p:nvPicPr>
          <p:cNvPr id="20" name="Picture 19" descr="img1.jpg"/>
          <p:cNvPicPr>
            <a:picLocks noChangeAspect="1"/>
          </p:cNvPicPr>
          <p:nvPr/>
        </p:nvPicPr>
        <p:blipFill>
          <a:blip r:embed="rId3"/>
          <a:srcRect t="8519" b="8519"/>
          <a:stretch>
            <a:fillRect/>
          </a:stretch>
        </p:blipFill>
        <p:spPr>
          <a:xfrm>
            <a:off x="457200" y="4114800"/>
            <a:ext cx="5486400" cy="2560320"/>
          </a:xfrm>
          <a:prstGeom prst="rect">
            <a:avLst/>
          </a:prstGeom>
        </p:spPr>
      </p:pic>
      <p:pic>
        <p:nvPicPr>
          <p:cNvPr id="21" name="Picture 20" descr="img2.jpg"/>
          <p:cNvPicPr>
            <a:picLocks noChangeAspect="1"/>
          </p:cNvPicPr>
          <p:nvPr/>
        </p:nvPicPr>
        <p:blipFill>
          <a:blip r:embed="rId4"/>
          <a:srcRect t="8519" b="8519"/>
          <a:stretch>
            <a:fillRect/>
          </a:stretch>
        </p:blipFill>
        <p:spPr>
          <a:xfrm>
            <a:off x="6245352" y="4114800"/>
            <a:ext cx="5486400" cy="2560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4  |  CONSTRUCTION</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Building with primitives</a:t>
            </a:r>
          </a:p>
        </p:txBody>
      </p:sp>
      <p:pic>
        <p:nvPicPr>
          <p:cNvPr id="5" name="Picture 4" descr="img3.jpg"/>
          <p:cNvPicPr>
            <a:picLocks noChangeAspect="1"/>
          </p:cNvPicPr>
          <p:nvPr/>
        </p:nvPicPr>
        <p:blipFill>
          <a:blip r:embed="rId3"/>
          <a:srcRect l="12870" r="12870"/>
          <a:stretch>
            <a:fillRect/>
          </a:stretch>
        </p:blipFill>
        <p:spPr>
          <a:xfrm>
            <a:off x="457200" y="1554480"/>
            <a:ext cx="5577840" cy="2103120"/>
          </a:xfrm>
          <a:prstGeom prst="rect">
            <a:avLst/>
          </a:prstGeom>
        </p:spPr>
      </p:pic>
      <p:pic>
        <p:nvPicPr>
          <p:cNvPr id="6" name="Picture 5" descr="img4.jpg"/>
          <p:cNvPicPr>
            <a:picLocks noChangeAspect="1"/>
          </p:cNvPicPr>
          <p:nvPr/>
        </p:nvPicPr>
        <p:blipFill>
          <a:blip r:embed="rId4"/>
          <a:srcRect l="12500" r="12500"/>
          <a:stretch>
            <a:fillRect/>
          </a:stretch>
        </p:blipFill>
        <p:spPr>
          <a:xfrm>
            <a:off x="457200" y="3794760"/>
            <a:ext cx="2743200" cy="2743200"/>
          </a:xfrm>
          <a:prstGeom prst="rect">
            <a:avLst/>
          </a:prstGeom>
        </p:spPr>
      </p:pic>
      <p:pic>
        <p:nvPicPr>
          <p:cNvPr id="7" name="Picture 6" descr="img5.jpg"/>
          <p:cNvPicPr>
            <a:picLocks noChangeAspect="1"/>
          </p:cNvPicPr>
          <p:nvPr/>
        </p:nvPicPr>
        <p:blipFill>
          <a:blip r:embed="rId5"/>
          <a:srcRect l="21875" r="21875"/>
          <a:stretch>
            <a:fillRect/>
          </a:stretch>
        </p:blipFill>
        <p:spPr>
          <a:xfrm>
            <a:off x="3291840" y="3794760"/>
            <a:ext cx="2743200" cy="2743200"/>
          </a:xfrm>
          <a:prstGeom prst="rect">
            <a:avLst/>
          </a:prstGeom>
        </p:spPr>
      </p:pic>
      <p:sp>
        <p:nvSpPr>
          <p:cNvPr id="8" name="TextBox 7"/>
          <p:cNvSpPr txBox="1"/>
          <p:nvPr/>
        </p:nvSpPr>
        <p:spPr>
          <a:xfrm>
            <a:off x="6400800" y="1600200"/>
            <a:ext cx="5303520" cy="548640"/>
          </a:xfrm>
          <a:prstGeom prst="rect">
            <a:avLst/>
          </a:prstGeom>
          <a:noFill/>
        </p:spPr>
        <p:txBody>
          <a:bodyPr wrap="square" anchor="t" lIns="45720" rIns="45720">
            <a:spAutoFit/>
          </a:bodyPr>
          <a:lstStyle/>
          <a:p>
            <a:pPr algn="l">
              <a:spcAft>
                <a:spcPts val="700"/>
              </a:spcAft>
            </a:pPr>
            <a:r>
              <a:rPr sz="2000" b="1">
                <a:solidFill>
                  <a:srgbClr val="FF9E1F"/>
                </a:solidFill>
                <a:latin typeface="Calibri"/>
              </a:rPr>
              <a:t>cube + sphere + cylinder → objects</a:t>
            </a:r>
          </a:p>
        </p:txBody>
      </p:sp>
      <p:sp>
        <p:nvSpPr>
          <p:cNvPr id="9" name="TextBox 8"/>
          <p:cNvSpPr txBox="1"/>
          <p:nvPr/>
        </p:nvSpPr>
        <p:spPr>
          <a:xfrm>
            <a:off x="6400800" y="2148840"/>
            <a:ext cx="5303520" cy="548640"/>
          </a:xfrm>
          <a:prstGeom prst="rect">
            <a:avLst/>
          </a:prstGeom>
          <a:noFill/>
        </p:spPr>
        <p:txBody>
          <a:bodyPr wrap="square" anchor="t" lIns="45720" rIns="45720">
            <a:spAutoFit/>
          </a:bodyPr>
          <a:lstStyle/>
          <a:p>
            <a:pPr algn="l">
              <a:spcAft>
                <a:spcPts val="700"/>
              </a:spcAft>
            </a:pPr>
            <a:r>
              <a:rPr sz="2000" b="0">
                <a:solidFill>
                  <a:srgbClr val="FFFFFF"/>
                </a:solidFill>
                <a:latin typeface="Calibri"/>
              </a:rPr>
              <a:t>M = T · R · S per part, parent × child</a:t>
            </a:r>
          </a:p>
        </p:txBody>
      </p:sp>
      <p:sp>
        <p:nvSpPr>
          <p:cNvPr id="10" name="Rectangle 9"/>
          <p:cNvSpPr/>
          <p:nvPr/>
        </p:nvSpPr>
        <p:spPr>
          <a:xfrm>
            <a:off x="6400800" y="292608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2944368"/>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2,983</a:t>
            </a:r>
          </a:p>
        </p:txBody>
      </p:sp>
      <p:sp>
        <p:nvSpPr>
          <p:cNvPr id="12" name="TextBox 11"/>
          <p:cNvSpPr txBox="1"/>
          <p:nvPr/>
        </p:nvSpPr>
        <p:spPr>
          <a:xfrm>
            <a:off x="6400800" y="354787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primitive leaves</a:t>
            </a:r>
          </a:p>
        </p:txBody>
      </p:sp>
      <p:sp>
        <p:nvSpPr>
          <p:cNvPr id="13" name="Rectangle 12"/>
          <p:cNvSpPr/>
          <p:nvPr/>
        </p:nvSpPr>
        <p:spPr>
          <a:xfrm>
            <a:off x="9098280" y="292608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98280" y="2944368"/>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363</a:t>
            </a:r>
          </a:p>
        </p:txBody>
      </p:sp>
      <p:sp>
        <p:nvSpPr>
          <p:cNvPr id="15" name="TextBox 14"/>
          <p:cNvSpPr txBox="1"/>
          <p:nvPr/>
        </p:nvSpPr>
        <p:spPr>
          <a:xfrm>
            <a:off x="9098280" y="354787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bunker parts</a:t>
            </a:r>
          </a:p>
        </p:txBody>
      </p:sp>
      <p:sp>
        <p:nvSpPr>
          <p:cNvPr id="16" name="Rectangle 15"/>
          <p:cNvSpPr/>
          <p:nvPr/>
        </p:nvSpPr>
        <p:spPr>
          <a:xfrm>
            <a:off x="6400800" y="411480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4133087"/>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226</a:t>
            </a:r>
          </a:p>
        </p:txBody>
      </p:sp>
      <p:sp>
        <p:nvSpPr>
          <p:cNvPr id="18" name="TextBox 17"/>
          <p:cNvSpPr txBox="1"/>
          <p:nvPr/>
        </p:nvSpPr>
        <p:spPr>
          <a:xfrm>
            <a:off x="6400800" y="473659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tank parts</a:t>
            </a:r>
          </a:p>
        </p:txBody>
      </p:sp>
      <p:sp>
        <p:nvSpPr>
          <p:cNvPr id="19" name="Rectangle 18"/>
          <p:cNvSpPr/>
          <p:nvPr/>
        </p:nvSpPr>
        <p:spPr>
          <a:xfrm>
            <a:off x="9098280" y="411480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98280" y="4133087"/>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102</a:t>
            </a:r>
          </a:p>
        </p:txBody>
      </p:sp>
      <p:sp>
        <p:nvSpPr>
          <p:cNvPr id="21" name="TextBox 20"/>
          <p:cNvSpPr txBox="1"/>
          <p:nvPr/>
        </p:nvSpPr>
        <p:spPr>
          <a:xfrm>
            <a:off x="9098280" y="473659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radar parts</a:t>
            </a:r>
          </a:p>
        </p:txBody>
      </p:sp>
      <p:sp>
        <p:nvSpPr>
          <p:cNvPr id="22" name="Rectangle 21"/>
          <p:cNvSpPr/>
          <p:nvPr/>
        </p:nvSpPr>
        <p:spPr>
          <a:xfrm>
            <a:off x="6400800" y="530352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5321808"/>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67</a:t>
            </a:r>
          </a:p>
        </p:txBody>
      </p:sp>
      <p:sp>
        <p:nvSpPr>
          <p:cNvPr id="24" name="TextBox 23"/>
          <p:cNvSpPr txBox="1"/>
          <p:nvPr/>
        </p:nvSpPr>
        <p:spPr>
          <a:xfrm>
            <a:off x="6400800" y="592531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UAV parts</a:t>
            </a:r>
          </a:p>
        </p:txBody>
      </p:sp>
      <p:sp>
        <p:nvSpPr>
          <p:cNvPr id="25" name="Rectangle 24"/>
          <p:cNvSpPr/>
          <p:nvPr/>
        </p:nvSpPr>
        <p:spPr>
          <a:xfrm>
            <a:off x="9098280" y="5303520"/>
            <a:ext cx="256032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8280" y="5321808"/>
            <a:ext cx="256032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1168</a:t>
            </a:r>
          </a:p>
        </p:txBody>
      </p:sp>
      <p:sp>
        <p:nvSpPr>
          <p:cNvPr id="27" name="TextBox 26"/>
          <p:cNvSpPr txBox="1"/>
          <p:nvPr/>
        </p:nvSpPr>
        <p:spPr>
          <a:xfrm>
            <a:off x="9098280" y="5925312"/>
            <a:ext cx="256032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base apron parts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5  |  ENVIRONMENT</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The base and the underground bunker</a:t>
            </a:r>
          </a:p>
        </p:txBody>
      </p:sp>
      <p:pic>
        <p:nvPicPr>
          <p:cNvPr id="5" name="Picture 4" descr="img6.jpg"/>
          <p:cNvPicPr>
            <a:picLocks noChangeAspect="1"/>
          </p:cNvPicPr>
          <p:nvPr/>
        </p:nvPicPr>
        <p:blipFill>
          <a:blip r:embed="rId3"/>
          <a:srcRect t="455" b="455"/>
          <a:stretch>
            <a:fillRect/>
          </a:stretch>
        </p:blipFill>
        <p:spPr>
          <a:xfrm>
            <a:off x="457200" y="1463040"/>
            <a:ext cx="5577840" cy="3108960"/>
          </a:xfrm>
          <a:prstGeom prst="rect">
            <a:avLst/>
          </a:prstGeom>
        </p:spPr>
      </p:pic>
      <p:sp>
        <p:nvSpPr>
          <p:cNvPr id="6" name="Rectangle 5"/>
          <p:cNvSpPr/>
          <p:nvPr/>
        </p:nvSpPr>
        <p:spPr>
          <a:xfrm>
            <a:off x="457200" y="4224528"/>
            <a:ext cx="557784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224528"/>
            <a:ext cx="557784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Base: HESCO wall, towers, gate barrier</a:t>
            </a:r>
          </a:p>
        </p:txBody>
      </p:sp>
      <p:pic>
        <p:nvPicPr>
          <p:cNvPr id="8" name="Picture 7" descr="img7.jpg"/>
          <p:cNvPicPr>
            <a:picLocks noChangeAspect="1"/>
          </p:cNvPicPr>
          <p:nvPr/>
        </p:nvPicPr>
        <p:blipFill>
          <a:blip r:embed="rId4"/>
          <a:srcRect t="455" b="455"/>
          <a:stretch>
            <a:fillRect/>
          </a:stretch>
        </p:blipFill>
        <p:spPr>
          <a:xfrm>
            <a:off x="6153912" y="1463040"/>
            <a:ext cx="5577840" cy="3108960"/>
          </a:xfrm>
          <a:prstGeom prst="rect">
            <a:avLst/>
          </a:prstGeom>
        </p:spPr>
      </p:pic>
      <p:sp>
        <p:nvSpPr>
          <p:cNvPr id="9" name="Rectangle 8"/>
          <p:cNvSpPr/>
          <p:nvPr/>
        </p:nvSpPr>
        <p:spPr>
          <a:xfrm>
            <a:off x="6153912" y="4224528"/>
            <a:ext cx="557784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3912" y="4224528"/>
            <a:ext cx="557784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Walkable bunker tunnel</a:t>
            </a:r>
          </a:p>
        </p:txBody>
      </p:sp>
      <p:pic>
        <p:nvPicPr>
          <p:cNvPr id="11" name="Picture 10" descr="img8.jpg"/>
          <p:cNvPicPr>
            <a:picLocks noChangeAspect="1"/>
          </p:cNvPicPr>
          <p:nvPr/>
        </p:nvPicPr>
        <p:blipFill>
          <a:blip r:embed="rId5"/>
          <a:srcRect t="15000" b="15000"/>
          <a:stretch>
            <a:fillRect/>
          </a:stretch>
        </p:blipFill>
        <p:spPr>
          <a:xfrm>
            <a:off x="457200" y="4709160"/>
            <a:ext cx="3657600" cy="1920240"/>
          </a:xfrm>
          <a:prstGeom prst="rect">
            <a:avLst/>
          </a:prstGeom>
        </p:spPr>
      </p:pic>
      <p:sp>
        <p:nvSpPr>
          <p:cNvPr id="12" name="Rectangle 11"/>
          <p:cNvSpPr/>
          <p:nvPr/>
        </p:nvSpPr>
        <p:spPr>
          <a:xfrm>
            <a:off x="457200" y="628192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628192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Command room</a:t>
            </a:r>
          </a:p>
        </p:txBody>
      </p:sp>
      <p:pic>
        <p:nvPicPr>
          <p:cNvPr id="14" name="Picture 13" descr="img9.jpg"/>
          <p:cNvPicPr>
            <a:picLocks noChangeAspect="1"/>
          </p:cNvPicPr>
          <p:nvPr/>
        </p:nvPicPr>
        <p:blipFill>
          <a:blip r:embed="rId6"/>
          <a:srcRect t="15000" b="15000"/>
          <a:stretch>
            <a:fillRect/>
          </a:stretch>
        </p:blipFill>
        <p:spPr>
          <a:xfrm>
            <a:off x="4251960" y="4709160"/>
            <a:ext cx="3657600" cy="1920240"/>
          </a:xfrm>
          <a:prstGeom prst="rect">
            <a:avLst/>
          </a:prstGeom>
        </p:spPr>
      </p:pic>
      <p:sp>
        <p:nvSpPr>
          <p:cNvPr id="15" name="Rectangle 14"/>
          <p:cNvSpPr/>
          <p:nvPr/>
        </p:nvSpPr>
        <p:spPr>
          <a:xfrm>
            <a:off x="4251960" y="628192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60" y="628192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Blast door</a:t>
            </a:r>
          </a:p>
        </p:txBody>
      </p:sp>
      <p:sp>
        <p:nvSpPr>
          <p:cNvPr id="17" name="Rectangle 16"/>
          <p:cNvSpPr/>
          <p:nvPr/>
        </p:nvSpPr>
        <p:spPr>
          <a:xfrm>
            <a:off x="8074152" y="4709160"/>
            <a:ext cx="178308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4152" y="4727448"/>
            <a:ext cx="178308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1168</a:t>
            </a:r>
          </a:p>
        </p:txBody>
      </p:sp>
      <p:sp>
        <p:nvSpPr>
          <p:cNvPr id="19" name="TextBox 18"/>
          <p:cNvSpPr txBox="1"/>
          <p:nvPr/>
        </p:nvSpPr>
        <p:spPr>
          <a:xfrm>
            <a:off x="8074152" y="5330952"/>
            <a:ext cx="178308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base parts</a:t>
            </a:r>
          </a:p>
        </p:txBody>
      </p:sp>
      <p:sp>
        <p:nvSpPr>
          <p:cNvPr id="20" name="Rectangle 19"/>
          <p:cNvSpPr/>
          <p:nvPr/>
        </p:nvSpPr>
        <p:spPr>
          <a:xfrm>
            <a:off x="9948672" y="4709160"/>
            <a:ext cx="178308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48672" y="4727448"/>
            <a:ext cx="178308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363</a:t>
            </a:r>
          </a:p>
        </p:txBody>
      </p:sp>
      <p:sp>
        <p:nvSpPr>
          <p:cNvPr id="22" name="TextBox 21"/>
          <p:cNvSpPr txBox="1"/>
          <p:nvPr/>
        </p:nvSpPr>
        <p:spPr>
          <a:xfrm>
            <a:off x="9948672" y="5330952"/>
            <a:ext cx="178308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bunker parts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6  |  CONTROL</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Controllable objects and complex motion</a:t>
            </a:r>
          </a:p>
        </p:txBody>
      </p:sp>
      <p:pic>
        <p:nvPicPr>
          <p:cNvPr id="5" name="Picture 4" descr="img10.jpg"/>
          <p:cNvPicPr>
            <a:picLocks noChangeAspect="1"/>
          </p:cNvPicPr>
          <p:nvPr/>
        </p:nvPicPr>
        <p:blipFill>
          <a:blip r:embed="rId3"/>
          <a:srcRect l="5882" r="5882"/>
          <a:stretch>
            <a:fillRect/>
          </a:stretch>
        </p:blipFill>
        <p:spPr>
          <a:xfrm>
            <a:off x="457200" y="1463040"/>
            <a:ext cx="3657600" cy="2331720"/>
          </a:xfrm>
          <a:prstGeom prst="rect">
            <a:avLst/>
          </a:prstGeom>
        </p:spPr>
      </p:pic>
      <p:sp>
        <p:nvSpPr>
          <p:cNvPr id="6" name="Rectangle 5"/>
          <p:cNvSpPr/>
          <p:nvPr/>
        </p:nvSpPr>
        <p:spPr>
          <a:xfrm>
            <a:off x="457200" y="344728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44728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Tank: 80 track links, turret</a:t>
            </a:r>
          </a:p>
        </p:txBody>
      </p:sp>
      <p:pic>
        <p:nvPicPr>
          <p:cNvPr id="8" name="Picture 7" descr="img11.jpg"/>
          <p:cNvPicPr>
            <a:picLocks noChangeAspect="1"/>
          </p:cNvPicPr>
          <p:nvPr/>
        </p:nvPicPr>
        <p:blipFill>
          <a:blip r:embed="rId4"/>
          <a:srcRect l="5882" r="5882"/>
          <a:stretch>
            <a:fillRect/>
          </a:stretch>
        </p:blipFill>
        <p:spPr>
          <a:xfrm>
            <a:off x="4251960" y="1463040"/>
            <a:ext cx="3657600" cy="2331720"/>
          </a:xfrm>
          <a:prstGeom prst="rect">
            <a:avLst/>
          </a:prstGeom>
        </p:spPr>
      </p:pic>
      <p:sp>
        <p:nvSpPr>
          <p:cNvPr id="9" name="Rectangle 8"/>
          <p:cNvSpPr/>
          <p:nvPr/>
        </p:nvSpPr>
        <p:spPr>
          <a:xfrm>
            <a:off x="4251960" y="344728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344728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Helicopter: rotor flapping</a:t>
            </a:r>
          </a:p>
        </p:txBody>
      </p:sp>
      <p:pic>
        <p:nvPicPr>
          <p:cNvPr id="11" name="Picture 10" descr="img12.jpg"/>
          <p:cNvPicPr>
            <a:picLocks noChangeAspect="1"/>
          </p:cNvPicPr>
          <p:nvPr/>
        </p:nvPicPr>
        <p:blipFill>
          <a:blip r:embed="rId5"/>
          <a:srcRect l="5882" r="5882"/>
          <a:stretch>
            <a:fillRect/>
          </a:stretch>
        </p:blipFill>
        <p:spPr>
          <a:xfrm>
            <a:off x="8046720" y="1463040"/>
            <a:ext cx="3657600" cy="2331720"/>
          </a:xfrm>
          <a:prstGeom prst="rect">
            <a:avLst/>
          </a:prstGeom>
        </p:spPr>
      </p:pic>
      <p:sp>
        <p:nvSpPr>
          <p:cNvPr id="12" name="Rectangle 11"/>
          <p:cNvSpPr/>
          <p:nvPr/>
        </p:nvSpPr>
        <p:spPr>
          <a:xfrm>
            <a:off x="8046720" y="344728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344728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AA gun: Gatling spin-up</a:t>
            </a:r>
          </a:p>
        </p:txBody>
      </p:sp>
      <p:pic>
        <p:nvPicPr>
          <p:cNvPr id="14" name="Picture 13" descr="img12.jpg"/>
          <p:cNvPicPr>
            <a:picLocks noChangeAspect="1"/>
          </p:cNvPicPr>
          <p:nvPr/>
        </p:nvPicPr>
        <p:blipFill>
          <a:blip r:embed="rId5"/>
          <a:srcRect t="5556" b="5556"/>
          <a:stretch>
            <a:fillRect/>
          </a:stretch>
        </p:blipFill>
        <p:spPr>
          <a:xfrm>
            <a:off x="457200" y="3931920"/>
            <a:ext cx="3657600" cy="1828800"/>
          </a:xfrm>
          <a:prstGeom prst="rect">
            <a:avLst/>
          </a:prstGeom>
        </p:spPr>
      </p:pic>
      <p:sp>
        <p:nvSpPr>
          <p:cNvPr id="15" name="Rectangle 14"/>
          <p:cNvSpPr/>
          <p:nvPr/>
        </p:nvSpPr>
        <p:spPr>
          <a:xfrm>
            <a:off x="457200" y="541324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541324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Radar: 3 modes</a:t>
            </a:r>
          </a:p>
        </p:txBody>
      </p:sp>
      <p:pic>
        <p:nvPicPr>
          <p:cNvPr id="17" name="Picture 16" descr="img6.jpg"/>
          <p:cNvPicPr>
            <a:picLocks noChangeAspect="1"/>
          </p:cNvPicPr>
          <p:nvPr/>
        </p:nvPicPr>
        <p:blipFill>
          <a:blip r:embed="rId6"/>
          <a:srcRect t="5556" b="5556"/>
          <a:stretch>
            <a:fillRect/>
          </a:stretch>
        </p:blipFill>
        <p:spPr>
          <a:xfrm>
            <a:off x="4251960" y="3931920"/>
            <a:ext cx="3657600" cy="1828800"/>
          </a:xfrm>
          <a:prstGeom prst="rect">
            <a:avLst/>
          </a:prstGeom>
        </p:spPr>
      </p:pic>
      <p:sp>
        <p:nvSpPr>
          <p:cNvPr id="18" name="Rectangle 17"/>
          <p:cNvSpPr/>
          <p:nvPr/>
        </p:nvSpPr>
        <p:spPr>
          <a:xfrm>
            <a:off x="4251960" y="541324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51960" y="541324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Blast doors / barrier</a:t>
            </a:r>
          </a:p>
        </p:txBody>
      </p:sp>
      <p:sp>
        <p:nvSpPr>
          <p:cNvPr id="20" name="Rectangle 19"/>
          <p:cNvSpPr/>
          <p:nvPr/>
        </p:nvSpPr>
        <p:spPr>
          <a:xfrm>
            <a:off x="8046720" y="3931920"/>
            <a:ext cx="3657600" cy="182880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977639"/>
            <a:ext cx="3474720" cy="1737360"/>
          </a:xfrm>
          <a:prstGeom prst="rect">
            <a:avLst/>
          </a:prstGeom>
          <a:noFill/>
        </p:spPr>
        <p:txBody>
          <a:bodyPr wrap="square" anchor="t" lIns="45720" rIns="45720">
            <a:spAutoFit/>
          </a:bodyPr>
          <a:lstStyle/>
          <a:p>
            <a:pPr algn="l">
              <a:spcAft>
                <a:spcPts val="525"/>
              </a:spcAft>
            </a:pPr>
            <a:r>
              <a:rPr sz="1500" b="0">
                <a:solidFill>
                  <a:srgbClr val="FFFFFF"/>
                </a:solidFill>
                <a:latin typeface="Calibri"/>
              </a:rPr>
              <a:t>Key map</a:t>
            </a:r>
          </a:p>
          <a:p>
            <a:pPr algn="l">
              <a:spcAft>
                <a:spcPts val="525"/>
              </a:spcAft>
            </a:pPr>
            <a:r>
              <a:rPr sz="1500" b="0">
                <a:solidFill>
                  <a:srgbClr val="FFFFFF"/>
                </a:solidFill>
                <a:latin typeface="Calibri"/>
              </a:rPr>
              <a:t>5 tank   6 heli   7 AA gun</a:t>
            </a:r>
          </a:p>
          <a:p>
            <a:pPr algn="l">
              <a:spcAft>
                <a:spcPts val="525"/>
              </a:spcAft>
            </a:pPr>
            <a:r>
              <a:rPr sz="1500" b="0">
                <a:solidFill>
                  <a:srgbClr val="FFFFFF"/>
                </a:solidFill>
                <a:latin typeface="Calibri"/>
              </a:rPr>
              <a:t>8 radar   9 doors   0 UAV</a:t>
            </a:r>
          </a:p>
          <a:p>
            <a:pPr algn="l">
              <a:spcAft>
                <a:spcPts val="525"/>
              </a:spcAft>
            </a:pPr>
            <a:r>
              <a:rPr sz="1500" b="0">
                <a:solidFill>
                  <a:srgbClr val="FFFFFF"/>
                </a:solidFill>
                <a:latin typeface="Calibri"/>
              </a:rPr>
              <a:t>[ ]  cycle     Backspace  release</a:t>
            </a:r>
          </a:p>
          <a:p>
            <a:pPr algn="l">
              <a:spcAft>
                <a:spcPts val="525"/>
              </a:spcAft>
            </a:pPr>
            <a:r>
              <a:rPr sz="1500" b="0">
                <a:solidFill>
                  <a:srgbClr val="FFFFFF"/>
                </a:solidFill>
                <a:latin typeface="Calibri"/>
              </a:rPr>
              <a:t>WASD move  Enter fire</a:t>
            </a:r>
          </a:p>
        </p:txBody>
      </p:sp>
      <p:sp>
        <p:nvSpPr>
          <p:cNvPr id="22" name="TextBox 21"/>
          <p:cNvSpPr txBox="1"/>
          <p:nvPr/>
        </p:nvSpPr>
        <p:spPr>
          <a:xfrm>
            <a:off x="457200" y="5943600"/>
            <a:ext cx="11247120" cy="548640"/>
          </a:xfrm>
          <a:prstGeom prst="rect">
            <a:avLst/>
          </a:prstGeom>
          <a:noFill/>
        </p:spPr>
        <p:txBody>
          <a:bodyPr wrap="square" anchor="t" lIns="45720" rIns="45720">
            <a:spAutoFit/>
          </a:bodyPr>
          <a:lstStyle/>
          <a:p>
            <a:pPr algn="l">
              <a:spcAft>
                <a:spcPts val="630"/>
              </a:spcAft>
            </a:pPr>
            <a:r>
              <a:rPr sz="1800" b="0">
                <a:solidFill>
                  <a:srgbClr val="FF9E1F"/>
                </a:solidFill>
                <a:latin typeface="Calibri"/>
              </a:rPr>
              <a:t>7 possessable objects: tank, helicopter, AA gun, radar, blast doors, gate barrier, UAV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7  |  RENDERING</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Rendering pipeline</a:t>
            </a:r>
          </a:p>
        </p:txBody>
      </p:sp>
      <p:pic>
        <p:nvPicPr>
          <p:cNvPr id="5" name="Picture 4" descr="img13.jpg"/>
          <p:cNvPicPr>
            <a:picLocks noChangeAspect="1"/>
          </p:cNvPicPr>
          <p:nvPr/>
        </p:nvPicPr>
        <p:blipFill>
          <a:blip r:embed="rId3"/>
          <a:srcRect t="1913" b="1913"/>
          <a:stretch>
            <a:fillRect/>
          </a:stretch>
        </p:blipFill>
        <p:spPr>
          <a:xfrm>
            <a:off x="457200" y="1463040"/>
            <a:ext cx="5577840" cy="3017520"/>
          </a:xfrm>
          <a:prstGeom prst="rect">
            <a:avLst/>
          </a:prstGeom>
        </p:spPr>
      </p:pic>
      <p:sp>
        <p:nvSpPr>
          <p:cNvPr id="6" name="Rectangle 5"/>
          <p:cNvSpPr/>
          <p:nvPr/>
        </p:nvSpPr>
        <p:spPr>
          <a:xfrm>
            <a:off x="457200" y="4133088"/>
            <a:ext cx="557784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133088"/>
            <a:ext cx="557784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Visible: PBR, shadows, fog</a:t>
            </a:r>
          </a:p>
        </p:txBody>
      </p:sp>
      <p:pic>
        <p:nvPicPr>
          <p:cNvPr id="8" name="Picture 7" descr="img14.jpg"/>
          <p:cNvPicPr>
            <a:picLocks noChangeAspect="1"/>
          </p:cNvPicPr>
          <p:nvPr/>
        </p:nvPicPr>
        <p:blipFill>
          <a:blip r:embed="rId4"/>
          <a:srcRect t="1913" b="1913"/>
          <a:stretch>
            <a:fillRect/>
          </a:stretch>
        </p:blipFill>
        <p:spPr>
          <a:xfrm>
            <a:off x="6153912" y="1463040"/>
            <a:ext cx="5577840" cy="3017520"/>
          </a:xfrm>
          <a:prstGeom prst="rect">
            <a:avLst/>
          </a:prstGeom>
        </p:spPr>
      </p:pic>
      <p:sp>
        <p:nvSpPr>
          <p:cNvPr id="9" name="Rectangle 8"/>
          <p:cNvSpPr/>
          <p:nvPr/>
        </p:nvSpPr>
        <p:spPr>
          <a:xfrm>
            <a:off x="6153912" y="4133088"/>
            <a:ext cx="557784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53912" y="4133088"/>
            <a:ext cx="557784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Thermal sensor view</a:t>
            </a:r>
          </a:p>
        </p:txBody>
      </p:sp>
      <p:sp>
        <p:nvSpPr>
          <p:cNvPr id="11" name="Rectangle 10"/>
          <p:cNvSpPr/>
          <p:nvPr/>
        </p:nvSpPr>
        <p:spPr>
          <a:xfrm>
            <a:off x="457200" y="47548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7548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PBR GGX</a:t>
            </a:r>
          </a:p>
        </p:txBody>
      </p:sp>
      <p:sp>
        <p:nvSpPr>
          <p:cNvPr id="13" name="Rectangle 12"/>
          <p:cNvSpPr/>
          <p:nvPr/>
        </p:nvSpPr>
        <p:spPr>
          <a:xfrm>
            <a:off x="3291840" y="47548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1840" y="47548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Shadows</a:t>
            </a:r>
          </a:p>
        </p:txBody>
      </p:sp>
      <p:sp>
        <p:nvSpPr>
          <p:cNvPr id="15" name="Rectangle 14"/>
          <p:cNvSpPr/>
          <p:nvPr/>
        </p:nvSpPr>
        <p:spPr>
          <a:xfrm>
            <a:off x="6126480" y="47548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47548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SSAO</a:t>
            </a:r>
          </a:p>
        </p:txBody>
      </p:sp>
      <p:sp>
        <p:nvSpPr>
          <p:cNvPr id="17" name="Rectangle 16"/>
          <p:cNvSpPr/>
          <p:nvPr/>
        </p:nvSpPr>
        <p:spPr>
          <a:xfrm>
            <a:off x="8961120" y="47548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47548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Fog</a:t>
            </a:r>
          </a:p>
        </p:txBody>
      </p:sp>
      <p:sp>
        <p:nvSpPr>
          <p:cNvPr id="19" name="Rectangle 18"/>
          <p:cNvSpPr/>
          <p:nvPr/>
        </p:nvSpPr>
        <p:spPr>
          <a:xfrm>
            <a:off x="457200" y="56692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6692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TAA</a:t>
            </a:r>
          </a:p>
        </p:txBody>
      </p:sp>
      <p:sp>
        <p:nvSpPr>
          <p:cNvPr id="21" name="Rectangle 20"/>
          <p:cNvSpPr/>
          <p:nvPr/>
        </p:nvSpPr>
        <p:spPr>
          <a:xfrm>
            <a:off x="3291840" y="56692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91840" y="56692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SSR</a:t>
            </a:r>
          </a:p>
        </p:txBody>
      </p:sp>
      <p:sp>
        <p:nvSpPr>
          <p:cNvPr id="23" name="Rectangle 22"/>
          <p:cNvSpPr/>
          <p:nvPr/>
        </p:nvSpPr>
        <p:spPr>
          <a:xfrm>
            <a:off x="6126480" y="56692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0" y="56692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Bloom</a:t>
            </a:r>
          </a:p>
        </p:txBody>
      </p:sp>
      <p:sp>
        <p:nvSpPr>
          <p:cNvPr id="25" name="Rectangle 24"/>
          <p:cNvSpPr/>
          <p:nvPr/>
        </p:nvSpPr>
        <p:spPr>
          <a:xfrm>
            <a:off x="8961120" y="5669280"/>
            <a:ext cx="2697480" cy="73152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0" y="5669280"/>
            <a:ext cx="2697480" cy="731520"/>
          </a:xfrm>
          <a:prstGeom prst="rect">
            <a:avLst/>
          </a:prstGeom>
          <a:noFill/>
        </p:spPr>
        <p:txBody>
          <a:bodyPr wrap="square" anchor="ctr" lIns="45720" rIns="45720">
            <a:spAutoFit/>
          </a:bodyPr>
          <a:lstStyle/>
          <a:p>
            <a:pPr algn="ctr">
              <a:spcAft>
                <a:spcPts val="769"/>
              </a:spcAft>
            </a:pPr>
            <a:r>
              <a:rPr sz="2200" b="1">
                <a:solidFill>
                  <a:srgbClr val="FFFFFF"/>
                </a:solidFill>
                <a:latin typeface="Calibri"/>
              </a:rPr>
              <a:t>Thermal sensor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8  |  SIMULATION</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Autonomy and game logic</a:t>
            </a:r>
          </a:p>
        </p:txBody>
      </p:sp>
      <p:pic>
        <p:nvPicPr>
          <p:cNvPr id="5" name="Picture 4" descr="img14.jpg"/>
          <p:cNvPicPr>
            <a:picLocks noChangeAspect="1"/>
          </p:cNvPicPr>
          <p:nvPr/>
        </p:nvPicPr>
        <p:blipFill>
          <a:blip r:embed="rId3"/>
          <a:srcRect l="3125" r="3125"/>
          <a:stretch>
            <a:fillRect/>
          </a:stretch>
        </p:blipFill>
        <p:spPr>
          <a:xfrm>
            <a:off x="457200" y="1463040"/>
            <a:ext cx="3657600" cy="2194560"/>
          </a:xfrm>
          <a:prstGeom prst="rect">
            <a:avLst/>
          </a:prstGeom>
        </p:spPr>
      </p:pic>
      <p:sp>
        <p:nvSpPr>
          <p:cNvPr id="6" name="Rectangle 5"/>
          <p:cNvSpPr/>
          <p:nvPr/>
        </p:nvSpPr>
        <p:spPr>
          <a:xfrm>
            <a:off x="457200" y="331012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31012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Thermal tracking</a:t>
            </a:r>
          </a:p>
        </p:txBody>
      </p:sp>
      <p:pic>
        <p:nvPicPr>
          <p:cNvPr id="8" name="Picture 7" descr="img15.jpg"/>
          <p:cNvPicPr>
            <a:picLocks noChangeAspect="1"/>
          </p:cNvPicPr>
          <p:nvPr/>
        </p:nvPicPr>
        <p:blipFill>
          <a:blip r:embed="rId4"/>
          <a:srcRect l="3125" r="3125"/>
          <a:stretch>
            <a:fillRect/>
          </a:stretch>
        </p:blipFill>
        <p:spPr>
          <a:xfrm>
            <a:off x="4251960" y="1463040"/>
            <a:ext cx="3657600" cy="2194560"/>
          </a:xfrm>
          <a:prstGeom prst="rect">
            <a:avLst/>
          </a:prstGeom>
        </p:spPr>
      </p:pic>
      <p:sp>
        <p:nvSpPr>
          <p:cNvPr id="9" name="Rectangle 8"/>
          <p:cNvSpPr/>
          <p:nvPr/>
        </p:nvSpPr>
        <p:spPr>
          <a:xfrm>
            <a:off x="4251960" y="331012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331012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Blast</a:t>
            </a:r>
          </a:p>
        </p:txBody>
      </p:sp>
      <p:pic>
        <p:nvPicPr>
          <p:cNvPr id="11" name="Picture 10" descr="img16.jpg"/>
          <p:cNvPicPr>
            <a:picLocks noChangeAspect="1"/>
          </p:cNvPicPr>
          <p:nvPr/>
        </p:nvPicPr>
        <p:blipFill>
          <a:blip r:embed="rId5"/>
          <a:srcRect l="3125" r="3125"/>
          <a:stretch>
            <a:fillRect/>
          </a:stretch>
        </p:blipFill>
        <p:spPr>
          <a:xfrm>
            <a:off x="8046720" y="1463040"/>
            <a:ext cx="3657600" cy="2194560"/>
          </a:xfrm>
          <a:prstGeom prst="rect">
            <a:avLst/>
          </a:prstGeom>
        </p:spPr>
      </p:pic>
      <p:sp>
        <p:nvSpPr>
          <p:cNvPr id="12" name="Rectangle 11"/>
          <p:cNvSpPr/>
          <p:nvPr/>
        </p:nvSpPr>
        <p:spPr>
          <a:xfrm>
            <a:off x="8046720" y="3310128"/>
            <a:ext cx="365760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3310128"/>
            <a:ext cx="365760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Burning wreck / hiding rover</a:t>
            </a:r>
          </a:p>
        </p:txBody>
      </p:sp>
      <p:sp>
        <p:nvSpPr>
          <p:cNvPr id="14" name="Rectangle 13"/>
          <p:cNvSpPr/>
          <p:nvPr/>
        </p:nvSpPr>
        <p:spPr>
          <a:xfrm>
            <a:off x="457200"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Thermal track</a:t>
            </a:r>
          </a:p>
        </p:txBody>
      </p:sp>
      <p:sp>
        <p:nvSpPr>
          <p:cNvPr id="16" name="Rectangle 15"/>
          <p:cNvSpPr/>
          <p:nvPr/>
        </p:nvSpPr>
        <p:spPr>
          <a:xfrm>
            <a:off x="2350008"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50008"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Lock 1.5 s</a:t>
            </a:r>
          </a:p>
        </p:txBody>
      </p:sp>
      <p:sp>
        <p:nvSpPr>
          <p:cNvPr id="18" name="Rectangle 17"/>
          <p:cNvSpPr/>
          <p:nvPr/>
        </p:nvSpPr>
        <p:spPr>
          <a:xfrm>
            <a:off x="4242816"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2816"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Rail round</a:t>
            </a:r>
          </a:p>
        </p:txBody>
      </p:sp>
      <p:sp>
        <p:nvSpPr>
          <p:cNvPr id="20" name="Rectangle 19"/>
          <p:cNvSpPr/>
          <p:nvPr/>
        </p:nvSpPr>
        <p:spPr>
          <a:xfrm>
            <a:off x="6135623"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35623"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Blast</a:t>
            </a:r>
          </a:p>
        </p:txBody>
      </p:sp>
      <p:sp>
        <p:nvSpPr>
          <p:cNvPr id="22" name="Rectangle 21"/>
          <p:cNvSpPr/>
          <p:nvPr/>
        </p:nvSpPr>
        <p:spPr>
          <a:xfrm>
            <a:off x="8028431"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28431"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Debris + wreck</a:t>
            </a:r>
          </a:p>
        </p:txBody>
      </p:sp>
      <p:sp>
        <p:nvSpPr>
          <p:cNvPr id="24" name="Rectangle 23"/>
          <p:cNvSpPr/>
          <p:nvPr/>
        </p:nvSpPr>
        <p:spPr>
          <a:xfrm>
            <a:off x="9921240" y="4069080"/>
            <a:ext cx="1783080" cy="822960"/>
          </a:xfrm>
          <a:prstGeom prst="rect">
            <a:avLst/>
          </a:prstGeom>
          <a:solidFill>
            <a:srgbClr val="14181E"/>
          </a:solidFill>
          <a:ln w="12700">
            <a:solidFill>
              <a:srgbClr val="FF9E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21240" y="4069080"/>
            <a:ext cx="1783080" cy="822960"/>
          </a:xfrm>
          <a:prstGeom prst="rect">
            <a:avLst/>
          </a:prstGeom>
          <a:noFill/>
        </p:spPr>
        <p:txBody>
          <a:bodyPr wrap="square" anchor="ctr" lIns="45720" rIns="45720">
            <a:spAutoFit/>
          </a:bodyPr>
          <a:lstStyle/>
          <a:p>
            <a:pPr algn="ctr">
              <a:spcAft>
                <a:spcPts val="594"/>
              </a:spcAft>
            </a:pPr>
            <a:r>
              <a:rPr sz="1700" b="1">
                <a:solidFill>
                  <a:srgbClr val="FFFFFF"/>
                </a:solidFill>
                <a:latin typeface="Calibri"/>
              </a:rPr>
              <a:t>Respawn</a:t>
            </a:r>
          </a:p>
        </p:txBody>
      </p:sp>
      <p:sp>
        <p:nvSpPr>
          <p:cNvPr id="26" name="Rectangle 25"/>
          <p:cNvSpPr/>
          <p:nvPr/>
        </p:nvSpPr>
        <p:spPr>
          <a:xfrm>
            <a:off x="548640" y="5239512"/>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120640"/>
            <a:ext cx="10744200" cy="548640"/>
          </a:xfrm>
          <a:prstGeom prst="rect">
            <a:avLst/>
          </a:prstGeom>
          <a:noFill/>
        </p:spPr>
        <p:txBody>
          <a:bodyPr wrap="square" anchor="t" lIns="45720" rIns="45720">
            <a:spAutoFit/>
          </a:bodyPr>
          <a:lstStyle/>
          <a:p>
            <a:pPr algn="l">
              <a:spcAft>
                <a:spcPts val="630"/>
              </a:spcAft>
            </a:pPr>
            <a:r>
              <a:rPr sz="1800" b="0">
                <a:solidFill>
                  <a:srgbClr val="FFFFFF"/>
                </a:solidFill>
                <a:latin typeface="Calibri"/>
              </a:rPr>
              <a:t>Wreck stays hot: ignored 30 s;  friendly vehicles never targeted (IFF 4.5 m)</a:t>
            </a:r>
          </a:p>
        </p:txBody>
      </p:sp>
      <p:sp>
        <p:nvSpPr>
          <p:cNvPr id="28" name="Rectangle 27"/>
          <p:cNvSpPr/>
          <p:nvPr/>
        </p:nvSpPr>
        <p:spPr>
          <a:xfrm>
            <a:off x="548640" y="5788151"/>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79"/>
            <a:ext cx="10744200" cy="548640"/>
          </a:xfrm>
          <a:prstGeom prst="rect">
            <a:avLst/>
          </a:prstGeom>
          <a:noFill/>
        </p:spPr>
        <p:txBody>
          <a:bodyPr wrap="square" anchor="t" lIns="45720" rIns="45720">
            <a:spAutoFit/>
          </a:bodyPr>
          <a:lstStyle/>
          <a:p>
            <a:pPr algn="l">
              <a:spcAft>
                <a:spcPts val="630"/>
              </a:spcAft>
            </a:pPr>
            <a:r>
              <a:rPr sz="1800" b="0">
                <a:solidFill>
                  <a:srgbClr val="FFFFFF"/>
                </a:solidFill>
                <a:latin typeface="Calibri"/>
              </a:rPr>
              <a:t>Rovers hide: MicroMouse flood fill + line follower, 3 intruders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9  |  RESULTS</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Testing and results</a:t>
            </a:r>
          </a:p>
        </p:txBody>
      </p:sp>
      <p:sp>
        <p:nvSpPr>
          <p:cNvPr id="5" name="Rectangle 4"/>
          <p:cNvSpPr/>
          <p:nvPr/>
        </p:nvSpPr>
        <p:spPr>
          <a:xfrm>
            <a:off x="457200" y="1554480"/>
            <a:ext cx="265176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72768"/>
            <a:ext cx="265176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120 / 120</a:t>
            </a:r>
          </a:p>
        </p:txBody>
      </p:sp>
      <p:sp>
        <p:nvSpPr>
          <p:cNvPr id="7" name="TextBox 6"/>
          <p:cNvSpPr txBox="1"/>
          <p:nvPr/>
        </p:nvSpPr>
        <p:spPr>
          <a:xfrm>
            <a:off x="457200" y="2176272"/>
            <a:ext cx="265176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automated tests pass</a:t>
            </a:r>
          </a:p>
        </p:txBody>
      </p:sp>
      <p:sp>
        <p:nvSpPr>
          <p:cNvPr id="8" name="Rectangle 7"/>
          <p:cNvSpPr/>
          <p:nvPr/>
        </p:nvSpPr>
        <p:spPr>
          <a:xfrm>
            <a:off x="3246120" y="1554480"/>
            <a:ext cx="265176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46120" y="1572768"/>
            <a:ext cx="265176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18</a:t>
            </a:r>
          </a:p>
        </p:txBody>
      </p:sp>
      <p:sp>
        <p:nvSpPr>
          <p:cNvPr id="10" name="TextBox 9"/>
          <p:cNvSpPr txBox="1"/>
          <p:nvPr/>
        </p:nvSpPr>
        <p:spPr>
          <a:xfrm>
            <a:off x="3246120" y="2176272"/>
            <a:ext cx="265176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workbook sheets</a:t>
            </a:r>
          </a:p>
        </p:txBody>
      </p:sp>
      <p:sp>
        <p:nvSpPr>
          <p:cNvPr id="11" name="Rectangle 10"/>
          <p:cNvSpPr/>
          <p:nvPr/>
        </p:nvSpPr>
        <p:spPr>
          <a:xfrm>
            <a:off x="6035040" y="1554480"/>
            <a:ext cx="265176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1572768"/>
            <a:ext cx="265176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29</a:t>
            </a:r>
          </a:p>
        </p:txBody>
      </p:sp>
      <p:sp>
        <p:nvSpPr>
          <p:cNvPr id="13" name="TextBox 12"/>
          <p:cNvSpPr txBox="1"/>
          <p:nvPr/>
        </p:nvSpPr>
        <p:spPr>
          <a:xfrm>
            <a:off x="6035040" y="2176272"/>
            <a:ext cx="265176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report pages</a:t>
            </a:r>
          </a:p>
        </p:txBody>
      </p:sp>
      <p:sp>
        <p:nvSpPr>
          <p:cNvPr id="14" name="Rectangle 13"/>
          <p:cNvSpPr/>
          <p:nvPr/>
        </p:nvSpPr>
        <p:spPr>
          <a:xfrm>
            <a:off x="8823960" y="1554480"/>
            <a:ext cx="2926080" cy="1051560"/>
          </a:xfrm>
          <a:prstGeom prst="rect">
            <a:avLst/>
          </a:prstGeom>
          <a:solidFill>
            <a:srgbClr val="141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23960" y="1572768"/>
            <a:ext cx="2926080" cy="594360"/>
          </a:xfrm>
          <a:prstGeom prst="rect">
            <a:avLst/>
          </a:prstGeom>
          <a:noFill/>
        </p:spPr>
        <p:txBody>
          <a:bodyPr wrap="square" anchor="t" lIns="45720" rIns="45720">
            <a:spAutoFit/>
          </a:bodyPr>
          <a:lstStyle/>
          <a:p>
            <a:pPr algn="ctr">
              <a:spcAft>
                <a:spcPts val="1050"/>
              </a:spcAft>
            </a:pPr>
            <a:r>
              <a:rPr sz="3000" b="1">
                <a:solidFill>
                  <a:srgbClr val="FF9E1F"/>
                </a:solidFill>
                <a:latin typeface="Calibri"/>
              </a:rPr>
              <a:t>3</a:t>
            </a:r>
          </a:p>
        </p:txBody>
      </p:sp>
      <p:sp>
        <p:nvSpPr>
          <p:cNvPr id="16" name="TextBox 15"/>
          <p:cNvSpPr txBox="1"/>
          <p:nvPr/>
        </p:nvSpPr>
        <p:spPr>
          <a:xfrm>
            <a:off x="8823960" y="2176272"/>
            <a:ext cx="2926080" cy="365760"/>
          </a:xfrm>
          <a:prstGeom prst="rect">
            <a:avLst/>
          </a:prstGeom>
          <a:noFill/>
        </p:spPr>
        <p:txBody>
          <a:bodyPr wrap="square" anchor="t" lIns="45720" rIns="45720">
            <a:spAutoFit/>
          </a:bodyPr>
          <a:lstStyle/>
          <a:p>
            <a:pPr algn="ctr">
              <a:spcAft>
                <a:spcPts val="455"/>
              </a:spcAft>
            </a:pPr>
            <a:r>
              <a:rPr sz="1300" b="0">
                <a:solidFill>
                  <a:srgbClr val="A8B0BA"/>
                </a:solidFill>
                <a:latin typeface="Calibri"/>
              </a:rPr>
              <a:t>platforms</a:t>
            </a:r>
          </a:p>
        </p:txBody>
      </p:sp>
      <p:sp>
        <p:nvSpPr>
          <p:cNvPr id="17" name="Rectangle 16"/>
          <p:cNvSpPr/>
          <p:nvPr/>
        </p:nvSpPr>
        <p:spPr>
          <a:xfrm>
            <a:off x="548640" y="3044952"/>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2926080"/>
            <a:ext cx="5074920" cy="640080"/>
          </a:xfrm>
          <a:prstGeom prst="rect">
            <a:avLst/>
          </a:prstGeom>
          <a:noFill/>
        </p:spPr>
        <p:txBody>
          <a:bodyPr wrap="square" anchor="t" lIns="45720" rIns="45720">
            <a:spAutoFit/>
          </a:bodyPr>
          <a:lstStyle/>
          <a:p>
            <a:pPr algn="l">
              <a:spcAft>
                <a:spcPts val="665"/>
              </a:spcAft>
            </a:pPr>
            <a:r>
              <a:rPr sz="1900" b="0">
                <a:solidFill>
                  <a:srgbClr val="FFFFFF"/>
                </a:solidFill>
                <a:latin typeface="Calibri"/>
              </a:rPr>
              <a:t>CPU-only tests: no GPU, no window</a:t>
            </a:r>
          </a:p>
        </p:txBody>
      </p:sp>
      <p:sp>
        <p:nvSpPr>
          <p:cNvPr id="19" name="Rectangle 18"/>
          <p:cNvSpPr/>
          <p:nvPr/>
        </p:nvSpPr>
        <p:spPr>
          <a:xfrm>
            <a:off x="548640" y="3685032"/>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566160"/>
            <a:ext cx="5074920" cy="640080"/>
          </a:xfrm>
          <a:prstGeom prst="rect">
            <a:avLst/>
          </a:prstGeom>
          <a:noFill/>
        </p:spPr>
        <p:txBody>
          <a:bodyPr wrap="square" anchor="t" lIns="45720" rIns="45720">
            <a:spAutoFit/>
          </a:bodyPr>
          <a:lstStyle/>
          <a:p>
            <a:pPr algn="l">
              <a:spcAft>
                <a:spcPts val="665"/>
              </a:spcAft>
            </a:pPr>
            <a:r>
              <a:rPr sz="1900" b="0">
                <a:solidFill>
                  <a:srgbClr val="FFFFFF"/>
                </a:solidFill>
                <a:latin typeface="Calibri"/>
              </a:rPr>
              <a:t>Excel workbook, regenerated from the scene export</a:t>
            </a:r>
          </a:p>
        </p:txBody>
      </p:sp>
      <p:sp>
        <p:nvSpPr>
          <p:cNvPr id="21" name="Rectangle 20"/>
          <p:cNvSpPr/>
          <p:nvPr/>
        </p:nvSpPr>
        <p:spPr>
          <a:xfrm>
            <a:off x="548640" y="4325112"/>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206240"/>
            <a:ext cx="5074920" cy="640080"/>
          </a:xfrm>
          <a:prstGeom prst="rect">
            <a:avLst/>
          </a:prstGeom>
          <a:noFill/>
        </p:spPr>
        <p:txBody>
          <a:bodyPr wrap="square" anchor="t" lIns="45720" rIns="45720">
            <a:spAutoFit/>
          </a:bodyPr>
          <a:lstStyle/>
          <a:p>
            <a:pPr algn="l">
              <a:spcAft>
                <a:spcPts val="665"/>
              </a:spcAft>
            </a:pPr>
            <a:r>
              <a:rPr sz="1900" b="0">
                <a:solidFill>
                  <a:srgbClr val="FFFFFF"/>
                </a:solidFill>
                <a:latin typeface="Calibri"/>
              </a:rPr>
              <a:t>Report with audit appendix</a:t>
            </a:r>
          </a:p>
        </p:txBody>
      </p:sp>
      <p:sp>
        <p:nvSpPr>
          <p:cNvPr id="23" name="Rectangle 22"/>
          <p:cNvSpPr/>
          <p:nvPr/>
        </p:nvSpPr>
        <p:spPr>
          <a:xfrm>
            <a:off x="548640" y="4965192"/>
            <a:ext cx="109728" cy="109728"/>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846320"/>
            <a:ext cx="5074920" cy="640080"/>
          </a:xfrm>
          <a:prstGeom prst="rect">
            <a:avLst/>
          </a:prstGeom>
          <a:noFill/>
        </p:spPr>
        <p:txBody>
          <a:bodyPr wrap="square" anchor="t" lIns="45720" rIns="45720">
            <a:spAutoFit/>
          </a:bodyPr>
          <a:lstStyle/>
          <a:p>
            <a:pPr algn="l">
              <a:spcAft>
                <a:spcPts val="665"/>
              </a:spcAft>
            </a:pPr>
            <a:r>
              <a:rPr sz="1900" b="0">
                <a:solidFill>
                  <a:srgbClr val="FFFFFF"/>
                </a:solidFill>
                <a:latin typeface="Calibri"/>
              </a:rPr>
              <a:t>Windows (MinGW) · Linux · headless EGL</a:t>
            </a:r>
          </a:p>
        </p:txBody>
      </p:sp>
      <p:pic>
        <p:nvPicPr>
          <p:cNvPr id="25" name="Picture 24" descr="img1.jpg"/>
          <p:cNvPicPr>
            <a:picLocks noChangeAspect="1"/>
          </p:cNvPicPr>
          <p:nvPr/>
        </p:nvPicPr>
        <p:blipFill>
          <a:blip r:embed="rId3"/>
          <a:srcRect l="6010" r="6010"/>
          <a:stretch>
            <a:fillRect/>
          </a:stretch>
        </p:blipFill>
        <p:spPr>
          <a:xfrm>
            <a:off x="6126480" y="2926080"/>
            <a:ext cx="5577840" cy="3566160"/>
          </a:xfrm>
          <a:prstGeom prst="rect">
            <a:avLst/>
          </a:prstGeom>
        </p:spPr>
      </p:pic>
      <p:sp>
        <p:nvSpPr>
          <p:cNvPr id="26" name="Rectangle 25"/>
          <p:cNvSpPr/>
          <p:nvPr/>
        </p:nvSpPr>
        <p:spPr>
          <a:xfrm>
            <a:off x="6126480" y="6144768"/>
            <a:ext cx="5577840" cy="347472"/>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0" y="6144768"/>
            <a:ext cx="5577840" cy="347472"/>
          </a:xfrm>
          <a:prstGeom prst="rect">
            <a:avLst/>
          </a:prstGeom>
          <a:noFill/>
        </p:spPr>
        <p:txBody>
          <a:bodyPr wrap="square" anchor="ctr" lIns="45720" rIns="45720">
            <a:spAutoFit/>
          </a:bodyPr>
          <a:lstStyle/>
          <a:p>
            <a:pPr algn="l">
              <a:spcAft>
                <a:spcPts val="419"/>
              </a:spcAft>
            </a:pPr>
            <a:r>
              <a:rPr sz="1200" b="0">
                <a:solidFill>
                  <a:srgbClr val="FF9E1F"/>
                </a:solidFill>
                <a:latin typeface="Calibri"/>
              </a:rPr>
              <a:t>Results gallery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80A0D"/>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F9E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7315200" cy="320040"/>
          </a:xfrm>
          <a:prstGeom prst="rect">
            <a:avLst/>
          </a:prstGeom>
          <a:noFill/>
        </p:spPr>
        <p:txBody>
          <a:bodyPr wrap="square" anchor="t" lIns="45720" rIns="45720">
            <a:spAutoFit/>
          </a:bodyPr>
          <a:lstStyle/>
          <a:p>
            <a:pPr algn="l">
              <a:spcAft>
                <a:spcPts val="455"/>
              </a:spcAft>
            </a:pPr>
            <a:r>
              <a:rPr sz="1300" b="1">
                <a:solidFill>
                  <a:srgbClr val="FF9E1F"/>
                </a:solidFill>
                <a:latin typeface="Calibri"/>
              </a:rPr>
              <a:t>10  |  DEMONSTRATION, 2 MINUTES</a:t>
            </a:r>
          </a:p>
        </p:txBody>
      </p:sp>
      <p:sp>
        <p:nvSpPr>
          <p:cNvPr id="4" name="TextBox 3"/>
          <p:cNvSpPr txBox="1"/>
          <p:nvPr/>
        </p:nvSpPr>
        <p:spPr>
          <a:xfrm>
            <a:off x="457200" y="530352"/>
            <a:ext cx="11247120" cy="777240"/>
          </a:xfrm>
          <a:prstGeom prst="rect">
            <a:avLst/>
          </a:prstGeom>
          <a:noFill/>
        </p:spPr>
        <p:txBody>
          <a:bodyPr wrap="square" anchor="t" lIns="45720" rIns="45720">
            <a:spAutoFit/>
          </a:bodyPr>
          <a:lstStyle/>
          <a:p>
            <a:pPr algn="l">
              <a:spcAft>
                <a:spcPts val="1189"/>
              </a:spcAft>
            </a:pPr>
            <a:r>
              <a:rPr sz="3400" b="1">
                <a:solidFill>
                  <a:srgbClr val="FFFFFF"/>
                </a:solidFill>
                <a:latin typeface="Calibri"/>
              </a:rPr>
              <a:t>Demo video</a:t>
            </a:r>
          </a:p>
        </p:txBody>
      </p:sp>
      <p:pic>
        <p:nvPicPr>
          <p:cNvPr id="5" name="Picture 4" descr="img0.jpg"/>
          <p:cNvPicPr>
            <a:picLocks noChangeAspect="1"/>
          </p:cNvPicPr>
          <p:nvPr/>
        </p:nvPicPr>
        <p:blipFill>
          <a:blip r:embed="rId3"/>
          <a:stretch>
            <a:fillRect/>
          </a:stretch>
        </p:blipFill>
        <p:spPr>
          <a:xfrm>
            <a:off x="1527048" y="1371600"/>
            <a:ext cx="9144000" cy="5143500"/>
          </a:xfrm>
          <a:prstGeom prst="rect">
            <a:avLst/>
          </a:prstGeom>
        </p:spPr>
      </p:pic>
      <p:sp>
        <p:nvSpPr>
          <p:cNvPr id="6" name="Rectangle 5"/>
          <p:cNvSpPr/>
          <p:nvPr/>
        </p:nvSpPr>
        <p:spPr>
          <a:xfrm>
            <a:off x="1527048" y="3486150"/>
            <a:ext cx="9144000" cy="914400"/>
          </a:xfrm>
          <a:prstGeom prst="rect">
            <a:avLst/>
          </a:prstGeom>
          <a:solidFill>
            <a:srgbClr val="080A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27048" y="3486150"/>
            <a:ext cx="9144000" cy="914400"/>
          </a:xfrm>
          <a:prstGeom prst="rect">
            <a:avLst/>
          </a:prstGeom>
          <a:noFill/>
        </p:spPr>
        <p:txBody>
          <a:bodyPr wrap="square" anchor="ctr" lIns="45720" rIns="45720">
            <a:spAutoFit/>
          </a:bodyPr>
          <a:lstStyle/>
          <a:p>
            <a:pPr algn="ctr">
              <a:spcAft>
                <a:spcPts val="1260"/>
              </a:spcAft>
            </a:pPr>
            <a:r>
              <a:rPr sz="3600" b="1">
                <a:solidFill>
                  <a:srgbClr val="FF9E1F"/>
                </a:solidFill>
                <a:latin typeface="Calibri"/>
              </a:rPr>
              <a:t>demo_v4.mp4 pending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