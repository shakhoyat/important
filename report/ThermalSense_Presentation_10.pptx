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ThermalSense: a military outpost renderer and game for Computer Graphics Laboratory, CSE 4102, written in C++17 on OpenGL 3.3 core.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film, 3 minutes 38 seconds. Click the picture to play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parts: the pipeline, the numbers, the lighting written by hand, the rovers' path planning, the computer vision, and the defence with the vehicles the player can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of one frame: primitives are generated in code, placed by hierarchical transformations, lit by hand-written vector maths, drawn by the rasteriser or the ray tracer, then post-processed.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figures: 16 primitive generators build 62 designs and 5,474 parts; 905 calls of hand-written vector functions in 13 shader source files; 396 automated tests; a 192-page report and a film of 3 minutes 38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lighting equation is evaluated with the half vector (Blinn-Phong). Flat shading uses one normal per face, Gouraud lights the vertices, Phong lights every pixel. Dot, normalise, cross, reflect, refract, mix, clamp, step and smooth step are written out in one file and placed in front of every shader.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intruder rover plans like a micromouse and drives like a line-follower robot. Hiding, a breadth-first flood fill spreads distances from the cells out of sight; infiltrating, Dijkstra adds a cost for cells a camera can see. The path becomes a guide line that five sensors and a proportional-derivative law follow, and the plan is redone every 0.4 or 1.6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camera renders a 320 by 240 heat image. An Otsu threshold with a fixed floor, a despeckle step and two-pass union-find labelling give the blobs; a Kalman filter per track with gated Hungarian assignment keeps the identities. The image stage is linear in the pixels, and both cameras together cost about 2.9 milliseconds a frame in the benchmark, on a worker thread in the game.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defence is autonomous: two UAVs strike from their thermal tracks, alone when two intruders are far apart, together when one intruder gets both rounds. The player can also walk a soldier up to the tank, the anti-aircraft gun or a launcher, press E to get in, and fire in first person.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are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 Id="rId8" Type="http://schemas.openxmlformats.org/officeDocument/2006/relationships/image" Target="../media/image1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2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image" Target="../media/image26.jpg"/><Relationship Id="rId7" Type="http://schemas.openxmlformats.org/officeDocument/2006/relationships/image" Target="../media/image27.jpg"/><Relationship Id="rId8" Type="http://schemas.openxmlformats.org/officeDocument/2006/relationships/image" Target="../media/image2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9.jpg"/><Relationship Id="rId4" Type="http://schemas.openxmlformats.org/officeDocument/2006/relationships/image" Target="../media/image30.jpg"/><Relationship Id="rId5" Type="http://schemas.openxmlformats.org/officeDocument/2006/relationships/image" Target="../media/image31.jpg"/><Relationship Id="rId6" Type="http://schemas.openxmlformats.org/officeDocument/2006/relationships/image" Target="../media/image32.jpg"/><Relationship Id="rId7" Type="http://schemas.openxmlformats.org/officeDocument/2006/relationships/image" Target="../media/image33.jpg"/><Relationship Id="rId8" Type="http://schemas.openxmlformats.org/officeDocument/2006/relationships/image" Target="../media/image3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5.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pic>
        <p:nvPicPr>
          <p:cNvPr id="2" name="Picture 1" descr="img002.jpg"/>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548640" y="3401568"/>
            <a:ext cx="1280160" cy="6400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93008"/>
            <a:ext cx="10972800" cy="960120"/>
          </a:xfrm>
          <a:prstGeom prst="rect">
            <a:avLst/>
          </a:prstGeom>
          <a:noFill/>
        </p:spPr>
        <p:txBody>
          <a:bodyPr wrap="square" anchor="t" lIns="45720" rIns="45720" tIns="27432" bIns="27432">
            <a:spAutoFit/>
          </a:bodyPr>
          <a:lstStyle/>
          <a:p>
            <a:pPr algn="l">
              <a:spcAft>
                <a:spcPts val="1800"/>
              </a:spcAft>
            </a:pPr>
            <a:r>
              <a:rPr sz="6000" b="1">
                <a:solidFill>
                  <a:srgbClr val="FFFFFF"/>
                </a:solidFill>
                <a:latin typeface="Segoe UI"/>
              </a:rPr>
              <a:t>ThermalSense</a:t>
            </a:r>
          </a:p>
        </p:txBody>
      </p:sp>
      <p:sp>
        <p:nvSpPr>
          <p:cNvPr id="5" name="TextBox 4"/>
          <p:cNvSpPr txBox="1"/>
          <p:nvPr/>
        </p:nvSpPr>
        <p:spPr>
          <a:xfrm>
            <a:off x="548640" y="4434840"/>
            <a:ext cx="10972800" cy="548640"/>
          </a:xfrm>
          <a:prstGeom prst="rect">
            <a:avLst/>
          </a:prstGeom>
          <a:noFill/>
        </p:spPr>
        <p:txBody>
          <a:bodyPr wrap="square" anchor="t" lIns="45720" rIns="45720" tIns="27432" bIns="27432">
            <a:spAutoFit/>
          </a:bodyPr>
          <a:lstStyle/>
          <a:p>
            <a:pPr algn="l">
              <a:spcAft>
                <a:spcPts val="840"/>
              </a:spcAft>
            </a:pPr>
            <a:r>
              <a:rPr sz="2800" b="0">
                <a:solidFill>
                  <a:srgbClr val="FF9E1F"/>
                </a:solidFill>
                <a:latin typeface="Segoe UI"/>
              </a:rPr>
              <a:t>A graphics pipeline, end to end, in a military outpost</a:t>
            </a:r>
          </a:p>
        </p:txBody>
      </p:sp>
      <p:sp>
        <p:nvSpPr>
          <p:cNvPr id="6" name="TextBox 5"/>
          <p:cNvSpPr txBox="1"/>
          <p:nvPr/>
        </p:nvSpPr>
        <p:spPr>
          <a:xfrm>
            <a:off x="548640" y="5166360"/>
            <a:ext cx="10972800" cy="411480"/>
          </a:xfrm>
          <a:prstGeom prst="rect">
            <a:avLst/>
          </a:prstGeom>
          <a:noFill/>
        </p:spPr>
        <p:txBody>
          <a:bodyPr wrap="square" anchor="t" lIns="45720" rIns="45720" tIns="27432" bIns="27432">
            <a:spAutoFit/>
          </a:bodyPr>
          <a:lstStyle/>
          <a:p>
            <a:pPr algn="l">
              <a:spcAft>
                <a:spcPts val="600"/>
              </a:spcAft>
            </a:pPr>
            <a:r>
              <a:rPr sz="2000" b="1">
                <a:solidFill>
                  <a:srgbClr val="FFFFFF"/>
                </a:solidFill>
                <a:latin typeface="Segoe UI"/>
              </a:rPr>
              <a:t>Md. Shakhoyat Rahman Shujon</a:t>
            </a:r>
            <a:r>
              <a:rPr sz="2000" b="0">
                <a:solidFill>
                  <a:srgbClr val="FFFFFF"/>
                </a:solidFill>
                <a:latin typeface="Segoe UI"/>
              </a:rPr>
              <a:t>   |   Roll 2107104</a:t>
            </a:r>
          </a:p>
        </p:txBody>
      </p:sp>
      <p:sp>
        <p:nvSpPr>
          <p:cNvPr id="7" name="TextBox 6"/>
          <p:cNvSpPr txBox="1"/>
          <p:nvPr/>
        </p:nvSpPr>
        <p:spPr>
          <a:xfrm>
            <a:off x="548640" y="5596128"/>
            <a:ext cx="10972800" cy="365760"/>
          </a:xfrm>
          <a:prstGeom prst="rect">
            <a:avLst/>
          </a:prstGeom>
          <a:noFill/>
        </p:spPr>
        <p:txBody>
          <a:bodyPr wrap="square" anchor="t" lIns="45720" rIns="45720" tIns="27432" bIns="27432">
            <a:spAutoFit/>
          </a:bodyPr>
          <a:lstStyle/>
          <a:p>
            <a:pPr algn="l">
              <a:spcAft>
                <a:spcPts val="509"/>
              </a:spcAft>
            </a:pPr>
            <a:r>
              <a:rPr sz="1700" b="0">
                <a:solidFill>
                  <a:srgbClr val="A8B0BA"/>
                </a:solidFill>
                <a:latin typeface="Segoe UI"/>
              </a:rPr>
              <a:t>Computer Graphics Laboratory, CSE 4102</a:t>
            </a:r>
          </a:p>
        </p:txBody>
      </p:sp>
      <p:sp>
        <p:nvSpPr>
          <p:cNvPr id="8" name="TextBox 7"/>
          <p:cNvSpPr txBox="1"/>
          <p:nvPr/>
        </p:nvSpPr>
        <p:spPr>
          <a:xfrm>
            <a:off x="548640" y="5925312"/>
            <a:ext cx="10972800" cy="365760"/>
          </a:xfrm>
          <a:prstGeom prst="rect">
            <a:avLst/>
          </a:prstGeom>
          <a:noFill/>
        </p:spPr>
        <p:txBody>
          <a:bodyPr wrap="square" anchor="t" lIns="45720" rIns="45720" tIns="27432" bIns="27432">
            <a:spAutoFit/>
          </a:bodyPr>
          <a:lstStyle/>
          <a:p>
            <a:pPr algn="l">
              <a:spcAft>
                <a:spcPts val="509"/>
              </a:spcAft>
            </a:pPr>
            <a:r>
              <a:rPr sz="1700" b="0">
                <a:solidFill>
                  <a:srgbClr val="A8B0BA"/>
                </a:solidFill>
                <a:latin typeface="Segoe UI"/>
              </a:rPr>
              <a:t>Khulna University of Engineering &amp; Technology (KUET)</a:t>
            </a:r>
          </a:p>
        </p:txBody>
      </p:sp>
      <p:sp>
        <p:nvSpPr>
          <p:cNvPr id="9" name="TextBox 8"/>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10" name="TextBox 9"/>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thermalsense_final_slid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975207" y="292608"/>
            <a:ext cx="10241280" cy="5760720"/>
          </a:xfrm>
          <a:prstGeom prst="rect">
            <a:avLst/>
          </a:prstGeom>
        </p:spPr>
      </p:pic>
      <p:sp>
        <p:nvSpPr>
          <p:cNvPr id="4" name="TextBox 3"/>
          <p:cNvSpPr txBox="1"/>
          <p:nvPr/>
        </p:nvSpPr>
        <p:spPr>
          <a:xfrm>
            <a:off x="975207" y="6089904"/>
            <a:ext cx="10241280" cy="365760"/>
          </a:xfrm>
          <a:prstGeom prst="rect">
            <a:avLst/>
          </a:prstGeom>
          <a:noFill/>
        </p:spPr>
        <p:txBody>
          <a:bodyPr wrap="square" anchor="ctr" lIns="45720" rIns="45720" tIns="27432" bIns="27432">
            <a:spAutoFit/>
          </a:bodyPr>
          <a:lstStyle/>
          <a:p>
            <a:pPr algn="ctr">
              <a:spcAft>
                <a:spcPts val="480"/>
              </a:spcAft>
            </a:pPr>
            <a:r>
              <a:rPr sz="1600" b="1">
                <a:solidFill>
                  <a:srgbClr val="FFFFFF"/>
                </a:solidFill>
                <a:latin typeface="Segoe UI"/>
              </a:rPr>
              <a:t>Project film</a:t>
            </a:r>
            <a:r>
              <a:rPr sz="1600" b="0">
                <a:solidFill>
                  <a:srgbClr val="A8B0BA"/>
                </a:solidFill>
                <a:latin typeface="Segoe UI"/>
              </a:rPr>
              <a:t>   |   3 min 38 s   (1080p, audio enabled)</a:t>
            </a:r>
          </a:p>
        </p:txBody>
      </p:sp>
      <p:sp>
        <p:nvSpPr>
          <p:cNvPr id="5" name="TextBox 4"/>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6" name="TextBox 5"/>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2 / 10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8229600" cy="292608"/>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Segoe UI"/>
              </a:rPr>
              <a:t>3  |  OVERVIEW</a:t>
            </a:r>
          </a:p>
        </p:txBody>
      </p:sp>
      <p:sp>
        <p:nvSpPr>
          <p:cNvPr id="4" name="TextBox 3"/>
          <p:cNvSpPr txBox="1"/>
          <p:nvPr/>
        </p:nvSpPr>
        <p:spPr>
          <a:xfrm>
            <a:off x="457200" y="475488"/>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Segoe UI"/>
              </a:rPr>
              <a:t>Contents</a:t>
            </a:r>
          </a:p>
        </p:txBody>
      </p:sp>
      <p:pic>
        <p:nvPicPr>
          <p:cNvPr id="5" name="Picture 4" descr="img004.jpg"/>
          <p:cNvPicPr>
            <a:picLocks noChangeAspect="1"/>
          </p:cNvPicPr>
          <p:nvPr/>
        </p:nvPicPr>
        <p:blipFill>
          <a:blip r:embed="rId3"/>
          <a:stretch>
            <a:fillRect/>
          </a:stretch>
        </p:blipFill>
        <p:spPr>
          <a:xfrm>
            <a:off x="457200" y="1417320"/>
            <a:ext cx="3637178" cy="1874519"/>
          </a:xfrm>
          <a:prstGeom prst="rect">
            <a:avLst/>
          </a:prstGeom>
        </p:spPr>
      </p:pic>
      <p:sp>
        <p:nvSpPr>
          <p:cNvPr id="6" name="Rectangle 5"/>
          <p:cNvSpPr/>
          <p:nvPr/>
        </p:nvSpPr>
        <p:spPr>
          <a:xfrm>
            <a:off x="457200" y="3291839"/>
            <a:ext cx="3637178" cy="493776"/>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291839"/>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310127"/>
            <a:ext cx="594360" cy="457200"/>
          </a:xfrm>
          <a:prstGeom prst="rect">
            <a:avLst/>
          </a:prstGeom>
          <a:noFill/>
        </p:spPr>
        <p:txBody>
          <a:bodyPr wrap="square" anchor="ctr" lIns="45720" rIns="45720" tIns="27432" bIns="27432">
            <a:spAutoFit/>
          </a:bodyPr>
          <a:lstStyle/>
          <a:p>
            <a:pPr algn="l">
              <a:spcAft>
                <a:spcPts val="719"/>
              </a:spcAft>
            </a:pPr>
            <a:r>
              <a:rPr sz="2400" b="1">
                <a:solidFill>
                  <a:srgbClr val="FF9E1F"/>
                </a:solidFill>
                <a:latin typeface="Segoe UI"/>
              </a:rPr>
              <a:t>04</a:t>
            </a:r>
          </a:p>
        </p:txBody>
      </p:sp>
      <p:sp>
        <p:nvSpPr>
          <p:cNvPr id="9" name="TextBox 8"/>
          <p:cNvSpPr txBox="1"/>
          <p:nvPr/>
        </p:nvSpPr>
        <p:spPr>
          <a:xfrm>
            <a:off x="1170432" y="3310127"/>
            <a:ext cx="2832506" cy="457200"/>
          </a:xfrm>
          <a:prstGeom prst="rect">
            <a:avLst/>
          </a:prstGeom>
          <a:noFill/>
        </p:spPr>
        <p:txBody>
          <a:bodyPr wrap="square" anchor="ctr" lIns="45720" rIns="45720" tIns="27432" bIns="27432">
            <a:spAutoFit/>
          </a:bodyPr>
          <a:lstStyle/>
          <a:p>
            <a:pPr algn="l">
              <a:spcAft>
                <a:spcPts val="509"/>
              </a:spcAft>
            </a:pPr>
            <a:r>
              <a:rPr sz="1700" b="1">
                <a:solidFill>
                  <a:srgbClr val="FFFFFF"/>
                </a:solidFill>
                <a:latin typeface="Segoe UI"/>
              </a:rPr>
              <a:t>Graphics pipeline</a:t>
            </a:r>
          </a:p>
        </p:txBody>
      </p:sp>
      <p:pic>
        <p:nvPicPr>
          <p:cNvPr id="10" name="Picture 9" descr="img005.jpg"/>
          <p:cNvPicPr>
            <a:picLocks noChangeAspect="1"/>
          </p:cNvPicPr>
          <p:nvPr/>
        </p:nvPicPr>
        <p:blipFill>
          <a:blip r:embed="rId4"/>
          <a:stretch>
            <a:fillRect/>
          </a:stretch>
        </p:blipFill>
        <p:spPr>
          <a:xfrm>
            <a:off x="4277258" y="1417320"/>
            <a:ext cx="3637178" cy="1874519"/>
          </a:xfrm>
          <a:prstGeom prst="rect">
            <a:avLst/>
          </a:prstGeom>
        </p:spPr>
      </p:pic>
      <p:sp>
        <p:nvSpPr>
          <p:cNvPr id="11" name="Rectangle 10"/>
          <p:cNvSpPr/>
          <p:nvPr/>
        </p:nvSpPr>
        <p:spPr>
          <a:xfrm>
            <a:off x="4277258" y="3291839"/>
            <a:ext cx="3637178" cy="493776"/>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7258" y="3291839"/>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8698" y="3310127"/>
            <a:ext cx="594360" cy="457200"/>
          </a:xfrm>
          <a:prstGeom prst="rect">
            <a:avLst/>
          </a:prstGeom>
          <a:noFill/>
        </p:spPr>
        <p:txBody>
          <a:bodyPr wrap="square" anchor="ctr" lIns="45720" rIns="45720" tIns="27432" bIns="27432">
            <a:spAutoFit/>
          </a:bodyPr>
          <a:lstStyle/>
          <a:p>
            <a:pPr algn="l">
              <a:spcAft>
                <a:spcPts val="719"/>
              </a:spcAft>
            </a:pPr>
            <a:r>
              <a:rPr sz="2400" b="1">
                <a:solidFill>
                  <a:srgbClr val="FF9E1F"/>
                </a:solidFill>
                <a:latin typeface="Segoe UI"/>
              </a:rPr>
              <a:t>05</a:t>
            </a:r>
          </a:p>
        </p:txBody>
      </p:sp>
      <p:sp>
        <p:nvSpPr>
          <p:cNvPr id="14" name="TextBox 13"/>
          <p:cNvSpPr txBox="1"/>
          <p:nvPr/>
        </p:nvSpPr>
        <p:spPr>
          <a:xfrm>
            <a:off x="4990490" y="3310127"/>
            <a:ext cx="2832506" cy="457200"/>
          </a:xfrm>
          <a:prstGeom prst="rect">
            <a:avLst/>
          </a:prstGeom>
          <a:noFill/>
        </p:spPr>
        <p:txBody>
          <a:bodyPr wrap="square" anchor="ctr" lIns="45720" rIns="45720" tIns="27432" bIns="27432">
            <a:spAutoFit/>
          </a:bodyPr>
          <a:lstStyle/>
          <a:p>
            <a:pPr algn="l">
              <a:spcAft>
                <a:spcPts val="509"/>
              </a:spcAft>
            </a:pPr>
            <a:r>
              <a:rPr sz="1700" b="1">
                <a:solidFill>
                  <a:srgbClr val="FFFFFF"/>
                </a:solidFill>
                <a:latin typeface="Segoe UI"/>
              </a:rPr>
              <a:t>Project in numbers</a:t>
            </a:r>
          </a:p>
        </p:txBody>
      </p:sp>
      <p:pic>
        <p:nvPicPr>
          <p:cNvPr id="15" name="Picture 14" descr="img006.jpg"/>
          <p:cNvPicPr>
            <a:picLocks noChangeAspect="1"/>
          </p:cNvPicPr>
          <p:nvPr/>
        </p:nvPicPr>
        <p:blipFill>
          <a:blip r:embed="rId5"/>
          <a:stretch>
            <a:fillRect/>
          </a:stretch>
        </p:blipFill>
        <p:spPr>
          <a:xfrm>
            <a:off x="8097316" y="1417320"/>
            <a:ext cx="3637178" cy="1874519"/>
          </a:xfrm>
          <a:prstGeom prst="rect">
            <a:avLst/>
          </a:prstGeom>
        </p:spPr>
      </p:pic>
      <p:sp>
        <p:nvSpPr>
          <p:cNvPr id="16" name="Rectangle 15"/>
          <p:cNvSpPr/>
          <p:nvPr/>
        </p:nvSpPr>
        <p:spPr>
          <a:xfrm>
            <a:off x="8097316" y="3291839"/>
            <a:ext cx="3637178" cy="493776"/>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7316" y="3291839"/>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8756" y="3310127"/>
            <a:ext cx="594360" cy="457200"/>
          </a:xfrm>
          <a:prstGeom prst="rect">
            <a:avLst/>
          </a:prstGeom>
          <a:noFill/>
        </p:spPr>
        <p:txBody>
          <a:bodyPr wrap="square" anchor="ctr" lIns="45720" rIns="45720" tIns="27432" bIns="27432">
            <a:spAutoFit/>
          </a:bodyPr>
          <a:lstStyle/>
          <a:p>
            <a:pPr algn="l">
              <a:spcAft>
                <a:spcPts val="719"/>
              </a:spcAft>
            </a:pPr>
            <a:r>
              <a:rPr sz="2400" b="1">
                <a:solidFill>
                  <a:srgbClr val="FF9E1F"/>
                </a:solidFill>
                <a:latin typeface="Segoe UI"/>
              </a:rPr>
              <a:t>06</a:t>
            </a:r>
          </a:p>
        </p:txBody>
      </p:sp>
      <p:sp>
        <p:nvSpPr>
          <p:cNvPr id="19" name="TextBox 18"/>
          <p:cNvSpPr txBox="1"/>
          <p:nvPr/>
        </p:nvSpPr>
        <p:spPr>
          <a:xfrm>
            <a:off x="8810548" y="3310127"/>
            <a:ext cx="2832506" cy="457200"/>
          </a:xfrm>
          <a:prstGeom prst="rect">
            <a:avLst/>
          </a:prstGeom>
          <a:noFill/>
        </p:spPr>
        <p:txBody>
          <a:bodyPr wrap="square" anchor="ctr" lIns="45720" rIns="45720" tIns="27432" bIns="27432">
            <a:spAutoFit/>
          </a:bodyPr>
          <a:lstStyle/>
          <a:p>
            <a:pPr algn="l">
              <a:spcAft>
                <a:spcPts val="509"/>
              </a:spcAft>
            </a:pPr>
            <a:r>
              <a:rPr sz="1700" b="1">
                <a:solidFill>
                  <a:srgbClr val="FFFFFF"/>
                </a:solidFill>
                <a:latin typeface="Segoe UI"/>
              </a:rPr>
              <a:t>Lighting by hand</a:t>
            </a:r>
          </a:p>
        </p:txBody>
      </p:sp>
      <p:pic>
        <p:nvPicPr>
          <p:cNvPr id="20" name="Picture 19" descr="img007.jpg"/>
          <p:cNvPicPr>
            <a:picLocks noChangeAspect="1"/>
          </p:cNvPicPr>
          <p:nvPr/>
        </p:nvPicPr>
        <p:blipFill>
          <a:blip r:embed="rId6"/>
          <a:stretch>
            <a:fillRect/>
          </a:stretch>
        </p:blipFill>
        <p:spPr>
          <a:xfrm>
            <a:off x="457200" y="3931920"/>
            <a:ext cx="3637178" cy="1874519"/>
          </a:xfrm>
          <a:prstGeom prst="rect">
            <a:avLst/>
          </a:prstGeom>
        </p:spPr>
      </p:pic>
      <p:sp>
        <p:nvSpPr>
          <p:cNvPr id="21" name="Rectangle 20"/>
          <p:cNvSpPr/>
          <p:nvPr/>
        </p:nvSpPr>
        <p:spPr>
          <a:xfrm>
            <a:off x="457200" y="5806440"/>
            <a:ext cx="3637178" cy="493776"/>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5806440"/>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824727"/>
            <a:ext cx="594360" cy="457200"/>
          </a:xfrm>
          <a:prstGeom prst="rect">
            <a:avLst/>
          </a:prstGeom>
          <a:noFill/>
        </p:spPr>
        <p:txBody>
          <a:bodyPr wrap="square" anchor="ctr" lIns="45720" rIns="45720" tIns="27432" bIns="27432">
            <a:spAutoFit/>
          </a:bodyPr>
          <a:lstStyle/>
          <a:p>
            <a:pPr algn="l">
              <a:spcAft>
                <a:spcPts val="719"/>
              </a:spcAft>
            </a:pPr>
            <a:r>
              <a:rPr sz="2400" b="1">
                <a:solidFill>
                  <a:srgbClr val="FF9E1F"/>
                </a:solidFill>
                <a:latin typeface="Segoe UI"/>
              </a:rPr>
              <a:t>07</a:t>
            </a:r>
          </a:p>
        </p:txBody>
      </p:sp>
      <p:sp>
        <p:nvSpPr>
          <p:cNvPr id="24" name="TextBox 23"/>
          <p:cNvSpPr txBox="1"/>
          <p:nvPr/>
        </p:nvSpPr>
        <p:spPr>
          <a:xfrm>
            <a:off x="1170432" y="5824727"/>
            <a:ext cx="2832506" cy="457200"/>
          </a:xfrm>
          <a:prstGeom prst="rect">
            <a:avLst/>
          </a:prstGeom>
          <a:noFill/>
        </p:spPr>
        <p:txBody>
          <a:bodyPr wrap="square" anchor="ctr" lIns="45720" rIns="45720" tIns="27432" bIns="27432">
            <a:spAutoFit/>
          </a:bodyPr>
          <a:lstStyle/>
          <a:p>
            <a:pPr algn="l">
              <a:spcAft>
                <a:spcPts val="509"/>
              </a:spcAft>
            </a:pPr>
            <a:r>
              <a:rPr sz="1700" b="1">
                <a:solidFill>
                  <a:srgbClr val="FFFFFF"/>
                </a:solidFill>
                <a:latin typeface="Segoe UI"/>
              </a:rPr>
              <a:t>Rover path planning</a:t>
            </a:r>
          </a:p>
        </p:txBody>
      </p:sp>
      <p:pic>
        <p:nvPicPr>
          <p:cNvPr id="25" name="Picture 24" descr="img008.jpg"/>
          <p:cNvPicPr>
            <a:picLocks noChangeAspect="1"/>
          </p:cNvPicPr>
          <p:nvPr/>
        </p:nvPicPr>
        <p:blipFill>
          <a:blip r:embed="rId7"/>
          <a:stretch>
            <a:fillRect/>
          </a:stretch>
        </p:blipFill>
        <p:spPr>
          <a:xfrm>
            <a:off x="4277258" y="3931920"/>
            <a:ext cx="3637178" cy="1874519"/>
          </a:xfrm>
          <a:prstGeom prst="rect">
            <a:avLst/>
          </a:prstGeom>
        </p:spPr>
      </p:pic>
      <p:sp>
        <p:nvSpPr>
          <p:cNvPr id="26" name="Rectangle 25"/>
          <p:cNvSpPr/>
          <p:nvPr/>
        </p:nvSpPr>
        <p:spPr>
          <a:xfrm>
            <a:off x="4277258" y="5806440"/>
            <a:ext cx="3637178" cy="493776"/>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77258" y="5806440"/>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68698" y="5824727"/>
            <a:ext cx="594360" cy="457200"/>
          </a:xfrm>
          <a:prstGeom prst="rect">
            <a:avLst/>
          </a:prstGeom>
          <a:noFill/>
        </p:spPr>
        <p:txBody>
          <a:bodyPr wrap="square" anchor="ctr" lIns="45720" rIns="45720" tIns="27432" bIns="27432">
            <a:spAutoFit/>
          </a:bodyPr>
          <a:lstStyle/>
          <a:p>
            <a:pPr algn="l">
              <a:spcAft>
                <a:spcPts val="719"/>
              </a:spcAft>
            </a:pPr>
            <a:r>
              <a:rPr sz="2400" b="1">
                <a:solidFill>
                  <a:srgbClr val="FF9E1F"/>
                </a:solidFill>
                <a:latin typeface="Segoe UI"/>
              </a:rPr>
              <a:t>08</a:t>
            </a:r>
          </a:p>
        </p:txBody>
      </p:sp>
      <p:sp>
        <p:nvSpPr>
          <p:cNvPr id="29" name="TextBox 28"/>
          <p:cNvSpPr txBox="1"/>
          <p:nvPr/>
        </p:nvSpPr>
        <p:spPr>
          <a:xfrm>
            <a:off x="4990490" y="5824727"/>
            <a:ext cx="2832506" cy="457200"/>
          </a:xfrm>
          <a:prstGeom prst="rect">
            <a:avLst/>
          </a:prstGeom>
          <a:noFill/>
        </p:spPr>
        <p:txBody>
          <a:bodyPr wrap="square" anchor="ctr" lIns="45720" rIns="45720" tIns="27432" bIns="27432">
            <a:spAutoFit/>
          </a:bodyPr>
          <a:lstStyle/>
          <a:p>
            <a:pPr algn="l">
              <a:spcAft>
                <a:spcPts val="509"/>
              </a:spcAft>
            </a:pPr>
            <a:r>
              <a:rPr sz="1700" b="1">
                <a:solidFill>
                  <a:srgbClr val="FFFFFF"/>
                </a:solidFill>
                <a:latin typeface="Segoe UI"/>
              </a:rPr>
              <a:t>Real-time vision</a:t>
            </a:r>
          </a:p>
        </p:txBody>
      </p:sp>
      <p:pic>
        <p:nvPicPr>
          <p:cNvPr id="30" name="Picture 29" descr="img009.jpg"/>
          <p:cNvPicPr>
            <a:picLocks noChangeAspect="1"/>
          </p:cNvPicPr>
          <p:nvPr/>
        </p:nvPicPr>
        <p:blipFill>
          <a:blip r:embed="rId8"/>
          <a:stretch>
            <a:fillRect/>
          </a:stretch>
        </p:blipFill>
        <p:spPr>
          <a:xfrm>
            <a:off x="8097316" y="3931920"/>
            <a:ext cx="3637178" cy="1874519"/>
          </a:xfrm>
          <a:prstGeom prst="rect">
            <a:avLst/>
          </a:prstGeom>
        </p:spPr>
      </p:pic>
      <p:sp>
        <p:nvSpPr>
          <p:cNvPr id="31" name="Rectangle 30"/>
          <p:cNvSpPr/>
          <p:nvPr/>
        </p:nvSpPr>
        <p:spPr>
          <a:xfrm>
            <a:off x="8097316" y="5806440"/>
            <a:ext cx="3637178" cy="493776"/>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7316" y="5806440"/>
            <a:ext cx="3637178"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88756" y="5824727"/>
            <a:ext cx="594360" cy="457200"/>
          </a:xfrm>
          <a:prstGeom prst="rect">
            <a:avLst/>
          </a:prstGeom>
          <a:noFill/>
        </p:spPr>
        <p:txBody>
          <a:bodyPr wrap="square" anchor="ctr" lIns="45720" rIns="45720" tIns="27432" bIns="27432">
            <a:spAutoFit/>
          </a:bodyPr>
          <a:lstStyle/>
          <a:p>
            <a:pPr algn="l">
              <a:spcAft>
                <a:spcPts val="719"/>
              </a:spcAft>
            </a:pPr>
            <a:r>
              <a:rPr sz="2400" b="1">
                <a:solidFill>
                  <a:srgbClr val="FF9E1F"/>
                </a:solidFill>
                <a:latin typeface="Segoe UI"/>
              </a:rPr>
              <a:t>09</a:t>
            </a:r>
          </a:p>
        </p:txBody>
      </p:sp>
      <p:sp>
        <p:nvSpPr>
          <p:cNvPr id="34" name="TextBox 33"/>
          <p:cNvSpPr txBox="1"/>
          <p:nvPr/>
        </p:nvSpPr>
        <p:spPr>
          <a:xfrm>
            <a:off x="8810548" y="5824727"/>
            <a:ext cx="2832506" cy="457200"/>
          </a:xfrm>
          <a:prstGeom prst="rect">
            <a:avLst/>
          </a:prstGeom>
          <a:noFill/>
        </p:spPr>
        <p:txBody>
          <a:bodyPr wrap="square" anchor="ctr" lIns="45720" rIns="45720" tIns="27432" bIns="27432">
            <a:spAutoFit/>
          </a:bodyPr>
          <a:lstStyle/>
          <a:p>
            <a:pPr algn="l">
              <a:spcAft>
                <a:spcPts val="509"/>
              </a:spcAft>
            </a:pPr>
            <a:r>
              <a:rPr sz="1700" b="1">
                <a:solidFill>
                  <a:srgbClr val="FFFFFF"/>
                </a:solidFill>
                <a:latin typeface="Segoe UI"/>
              </a:rPr>
              <a:t>Defence and vehicles</a:t>
            </a:r>
          </a:p>
        </p:txBody>
      </p:sp>
      <p:sp>
        <p:nvSpPr>
          <p:cNvPr id="35" name="TextBox 34"/>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36" name="TextBox 35"/>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8229600" cy="292608"/>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Segoe UI"/>
              </a:rPr>
              <a:t>4  |  PIPELINE</a:t>
            </a:r>
          </a:p>
        </p:txBody>
      </p:sp>
      <p:sp>
        <p:nvSpPr>
          <p:cNvPr id="4" name="TextBox 3"/>
          <p:cNvSpPr txBox="1"/>
          <p:nvPr/>
        </p:nvSpPr>
        <p:spPr>
          <a:xfrm>
            <a:off x="457200" y="475488"/>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Segoe UI"/>
              </a:rPr>
              <a:t>The graphics pipeline, end to end</a:t>
            </a:r>
          </a:p>
        </p:txBody>
      </p:sp>
      <p:pic>
        <p:nvPicPr>
          <p:cNvPr id="5" name="Picture 4" descr="img014.jpg"/>
          <p:cNvPicPr>
            <a:picLocks noChangeAspect="1"/>
          </p:cNvPicPr>
          <p:nvPr/>
        </p:nvPicPr>
        <p:blipFill>
          <a:blip r:embed="rId3"/>
          <a:stretch>
            <a:fillRect/>
          </a:stretch>
        </p:blipFill>
        <p:spPr>
          <a:xfrm>
            <a:off x="457200" y="1417320"/>
            <a:ext cx="2057400" cy="3218688"/>
          </a:xfrm>
          <a:prstGeom prst="rect">
            <a:avLst/>
          </a:prstGeom>
        </p:spPr>
      </p:pic>
      <p:sp>
        <p:nvSpPr>
          <p:cNvPr id="6" name="Rectangle 5"/>
          <p:cNvSpPr/>
          <p:nvPr/>
        </p:nvSpPr>
        <p:spPr>
          <a:xfrm>
            <a:off x="457200" y="141732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1732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1</a:t>
            </a:r>
          </a:p>
        </p:txBody>
      </p:sp>
      <p:sp>
        <p:nvSpPr>
          <p:cNvPr id="8" name="Rectangle 7"/>
          <p:cNvSpPr/>
          <p:nvPr/>
        </p:nvSpPr>
        <p:spPr>
          <a:xfrm>
            <a:off x="457200" y="4636008"/>
            <a:ext cx="2057400" cy="84124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463600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4709160"/>
            <a:ext cx="1911095" cy="731520"/>
          </a:xfrm>
          <a:prstGeom prst="rect">
            <a:avLst/>
          </a:prstGeom>
          <a:noFill/>
        </p:spPr>
        <p:txBody>
          <a:bodyPr wrap="square" anchor="t" lIns="45720" rIns="45720" tIns="27432" bIns="27432">
            <a:spAutoFit/>
          </a:bodyPr>
          <a:lstStyle/>
          <a:p>
            <a:pPr algn="l">
              <a:spcAft>
                <a:spcPts val="270"/>
              </a:spcAft>
            </a:pPr>
            <a:r>
              <a:rPr sz="1500" b="1">
                <a:solidFill>
                  <a:srgbClr val="FFFFFF"/>
                </a:solidFill>
                <a:latin typeface="Segoe UI"/>
              </a:rPr>
              <a:t>Primitives</a:t>
            </a:r>
          </a:p>
          <a:p>
            <a:pPr algn="l">
              <a:spcAft>
                <a:spcPts val="270"/>
              </a:spcAft>
            </a:pPr>
            <a:r>
              <a:rPr sz="1500" b="0">
                <a:solidFill>
                  <a:srgbClr val="A8B0BA"/>
                </a:solidFill>
                <a:latin typeface="Segoe UI"/>
              </a:rPr>
              <a:t>16 generators in code</a:t>
            </a:r>
          </a:p>
        </p:txBody>
      </p:sp>
      <p:sp>
        <p:nvSpPr>
          <p:cNvPr id="11" name="Right Arrow 10"/>
          <p:cNvSpPr/>
          <p:nvPr/>
        </p:nvSpPr>
        <p:spPr>
          <a:xfrm>
            <a:off x="2519514" y="2889504"/>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15.jpg"/>
          <p:cNvPicPr>
            <a:picLocks noChangeAspect="1"/>
          </p:cNvPicPr>
          <p:nvPr/>
        </p:nvPicPr>
        <p:blipFill>
          <a:blip r:embed="rId4"/>
          <a:stretch>
            <a:fillRect/>
          </a:stretch>
        </p:blipFill>
        <p:spPr>
          <a:xfrm>
            <a:off x="2762173" y="1417320"/>
            <a:ext cx="2057400" cy="3218688"/>
          </a:xfrm>
          <a:prstGeom prst="rect">
            <a:avLst/>
          </a:prstGeom>
        </p:spPr>
      </p:pic>
      <p:sp>
        <p:nvSpPr>
          <p:cNvPr id="13" name="Rectangle 12"/>
          <p:cNvSpPr/>
          <p:nvPr/>
        </p:nvSpPr>
        <p:spPr>
          <a:xfrm>
            <a:off x="2762173" y="141732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62173" y="141732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2</a:t>
            </a:r>
          </a:p>
        </p:txBody>
      </p:sp>
      <p:sp>
        <p:nvSpPr>
          <p:cNvPr id="15" name="Rectangle 14"/>
          <p:cNvSpPr/>
          <p:nvPr/>
        </p:nvSpPr>
        <p:spPr>
          <a:xfrm>
            <a:off x="2762173" y="4636008"/>
            <a:ext cx="2057400" cy="84124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62173" y="463600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35325" y="4709160"/>
            <a:ext cx="1911095" cy="731520"/>
          </a:xfrm>
          <a:prstGeom prst="rect">
            <a:avLst/>
          </a:prstGeom>
          <a:noFill/>
        </p:spPr>
        <p:txBody>
          <a:bodyPr wrap="square" anchor="t" lIns="45720" rIns="45720" tIns="27432" bIns="27432">
            <a:spAutoFit/>
          </a:bodyPr>
          <a:lstStyle/>
          <a:p>
            <a:pPr algn="l">
              <a:spcAft>
                <a:spcPts val="270"/>
              </a:spcAft>
            </a:pPr>
            <a:r>
              <a:rPr sz="1500" b="1">
                <a:solidFill>
                  <a:srgbClr val="FFFFFF"/>
                </a:solidFill>
                <a:latin typeface="Segoe UI"/>
              </a:rPr>
              <a:t>Hierarchy</a:t>
            </a:r>
          </a:p>
          <a:p>
            <a:pPr algn="l">
              <a:spcAft>
                <a:spcPts val="270"/>
              </a:spcAft>
            </a:pPr>
            <a:r>
              <a:rPr sz="1500" b="0">
                <a:solidFill>
                  <a:srgbClr val="A8B0BA"/>
                </a:solidFill>
                <a:latin typeface="Segoe UI"/>
              </a:rPr>
              <a:t>M = T · R · S, graph</a:t>
            </a:r>
          </a:p>
        </p:txBody>
      </p:sp>
      <p:sp>
        <p:nvSpPr>
          <p:cNvPr id="18" name="Right Arrow 17"/>
          <p:cNvSpPr/>
          <p:nvPr/>
        </p:nvSpPr>
        <p:spPr>
          <a:xfrm>
            <a:off x="4824488" y="2889504"/>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g016.jpg"/>
          <p:cNvPicPr>
            <a:picLocks noChangeAspect="1"/>
          </p:cNvPicPr>
          <p:nvPr/>
        </p:nvPicPr>
        <p:blipFill>
          <a:blip r:embed="rId5"/>
          <a:stretch>
            <a:fillRect/>
          </a:stretch>
        </p:blipFill>
        <p:spPr>
          <a:xfrm>
            <a:off x="5067147" y="1417320"/>
            <a:ext cx="2057400" cy="3218688"/>
          </a:xfrm>
          <a:prstGeom prst="rect">
            <a:avLst/>
          </a:prstGeom>
        </p:spPr>
      </p:pic>
      <p:sp>
        <p:nvSpPr>
          <p:cNvPr id="20" name="Rectangle 19"/>
          <p:cNvSpPr/>
          <p:nvPr/>
        </p:nvSpPr>
        <p:spPr>
          <a:xfrm>
            <a:off x="5067147" y="141732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67147" y="141732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3</a:t>
            </a:r>
          </a:p>
        </p:txBody>
      </p:sp>
      <p:sp>
        <p:nvSpPr>
          <p:cNvPr id="22" name="Rectangle 21"/>
          <p:cNvSpPr/>
          <p:nvPr/>
        </p:nvSpPr>
        <p:spPr>
          <a:xfrm>
            <a:off x="5067147" y="4636008"/>
            <a:ext cx="2057400" cy="84124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67147" y="463600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0299" y="4709160"/>
            <a:ext cx="1911095" cy="731520"/>
          </a:xfrm>
          <a:prstGeom prst="rect">
            <a:avLst/>
          </a:prstGeom>
          <a:noFill/>
        </p:spPr>
        <p:txBody>
          <a:bodyPr wrap="square" anchor="t" lIns="45720" rIns="45720" tIns="27432" bIns="27432">
            <a:spAutoFit/>
          </a:bodyPr>
          <a:lstStyle/>
          <a:p>
            <a:pPr algn="l">
              <a:spcAft>
                <a:spcPts val="270"/>
              </a:spcAft>
            </a:pPr>
            <a:r>
              <a:rPr sz="1500" b="1">
                <a:solidFill>
                  <a:srgbClr val="FFFFFF"/>
                </a:solidFill>
                <a:latin typeface="Segoe UI"/>
              </a:rPr>
              <a:t>Lighting</a:t>
            </a:r>
          </a:p>
          <a:p>
            <a:pPr algn="l">
              <a:spcAft>
                <a:spcPts val="270"/>
              </a:spcAft>
            </a:pPr>
            <a:r>
              <a:rPr sz="1500" b="0">
                <a:solidFill>
                  <a:srgbClr val="A8B0BA"/>
                </a:solidFill>
                <a:latin typeface="Segoe UI"/>
              </a:rPr>
              <a:t>vector maths by hand</a:t>
            </a:r>
          </a:p>
        </p:txBody>
      </p:sp>
      <p:sp>
        <p:nvSpPr>
          <p:cNvPr id="25" name="Right Arrow 24"/>
          <p:cNvSpPr/>
          <p:nvPr/>
        </p:nvSpPr>
        <p:spPr>
          <a:xfrm>
            <a:off x="7129462" y="2889504"/>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g017.jpg"/>
          <p:cNvPicPr>
            <a:picLocks noChangeAspect="1"/>
          </p:cNvPicPr>
          <p:nvPr/>
        </p:nvPicPr>
        <p:blipFill>
          <a:blip r:embed="rId6"/>
          <a:stretch>
            <a:fillRect/>
          </a:stretch>
        </p:blipFill>
        <p:spPr>
          <a:xfrm>
            <a:off x="7372121" y="1417320"/>
            <a:ext cx="2057400" cy="1586484"/>
          </a:xfrm>
          <a:prstGeom prst="rect">
            <a:avLst/>
          </a:prstGeom>
        </p:spPr>
      </p:pic>
      <p:pic>
        <p:nvPicPr>
          <p:cNvPr id="27" name="Picture 26" descr="img018.jpg"/>
          <p:cNvPicPr>
            <a:picLocks noChangeAspect="1"/>
          </p:cNvPicPr>
          <p:nvPr/>
        </p:nvPicPr>
        <p:blipFill>
          <a:blip r:embed="rId7"/>
          <a:stretch>
            <a:fillRect/>
          </a:stretch>
        </p:blipFill>
        <p:spPr>
          <a:xfrm>
            <a:off x="7372121" y="3049524"/>
            <a:ext cx="2057400" cy="1586484"/>
          </a:xfrm>
          <a:prstGeom prst="rect">
            <a:avLst/>
          </a:prstGeom>
        </p:spPr>
      </p:pic>
      <p:sp>
        <p:nvSpPr>
          <p:cNvPr id="28" name="Rectangle 27"/>
          <p:cNvSpPr/>
          <p:nvPr/>
        </p:nvSpPr>
        <p:spPr>
          <a:xfrm>
            <a:off x="7372121" y="141732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72121" y="141732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4</a:t>
            </a:r>
          </a:p>
        </p:txBody>
      </p:sp>
      <p:sp>
        <p:nvSpPr>
          <p:cNvPr id="30" name="Rectangle 29"/>
          <p:cNvSpPr/>
          <p:nvPr/>
        </p:nvSpPr>
        <p:spPr>
          <a:xfrm>
            <a:off x="7372121" y="4636008"/>
            <a:ext cx="2057400" cy="84124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72121" y="463600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45273" y="4709160"/>
            <a:ext cx="1911095" cy="731520"/>
          </a:xfrm>
          <a:prstGeom prst="rect">
            <a:avLst/>
          </a:prstGeom>
          <a:noFill/>
        </p:spPr>
        <p:txBody>
          <a:bodyPr wrap="square" anchor="t" lIns="45720" rIns="45720" tIns="27432" bIns="27432">
            <a:spAutoFit/>
          </a:bodyPr>
          <a:lstStyle/>
          <a:p>
            <a:pPr algn="l">
              <a:spcAft>
                <a:spcPts val="270"/>
              </a:spcAft>
            </a:pPr>
            <a:r>
              <a:rPr sz="1500" b="1">
                <a:solidFill>
                  <a:srgbClr val="FFFFFF"/>
                </a:solidFill>
                <a:latin typeface="Segoe UI"/>
              </a:rPr>
              <a:t>Rendering</a:t>
            </a:r>
          </a:p>
          <a:p>
            <a:pPr algn="l">
              <a:spcAft>
                <a:spcPts val="270"/>
              </a:spcAft>
            </a:pPr>
            <a:r>
              <a:rPr sz="1500" b="0">
                <a:solidFill>
                  <a:srgbClr val="A8B0BA"/>
                </a:solidFill>
                <a:latin typeface="Segoe UI"/>
              </a:rPr>
              <a:t>raster / ray tracer</a:t>
            </a:r>
          </a:p>
        </p:txBody>
      </p:sp>
      <p:sp>
        <p:nvSpPr>
          <p:cNvPr id="33" name="Right Arrow 32"/>
          <p:cNvSpPr/>
          <p:nvPr/>
        </p:nvSpPr>
        <p:spPr>
          <a:xfrm>
            <a:off x="9434436" y="2889504"/>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g019.jpg"/>
          <p:cNvPicPr>
            <a:picLocks noChangeAspect="1"/>
          </p:cNvPicPr>
          <p:nvPr/>
        </p:nvPicPr>
        <p:blipFill>
          <a:blip r:embed="rId8"/>
          <a:stretch>
            <a:fillRect/>
          </a:stretch>
        </p:blipFill>
        <p:spPr>
          <a:xfrm>
            <a:off x="9677095" y="1417320"/>
            <a:ext cx="2057400" cy="3218688"/>
          </a:xfrm>
          <a:prstGeom prst="rect">
            <a:avLst/>
          </a:prstGeom>
        </p:spPr>
      </p:pic>
      <p:sp>
        <p:nvSpPr>
          <p:cNvPr id="35" name="Rectangle 34"/>
          <p:cNvSpPr/>
          <p:nvPr/>
        </p:nvSpPr>
        <p:spPr>
          <a:xfrm>
            <a:off x="9677095" y="1417320"/>
            <a:ext cx="384048" cy="38404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77095" y="1417320"/>
            <a:ext cx="384048" cy="384048"/>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5</a:t>
            </a:r>
          </a:p>
        </p:txBody>
      </p:sp>
      <p:sp>
        <p:nvSpPr>
          <p:cNvPr id="37" name="Rectangle 36"/>
          <p:cNvSpPr/>
          <p:nvPr/>
        </p:nvSpPr>
        <p:spPr>
          <a:xfrm>
            <a:off x="9677095" y="4636008"/>
            <a:ext cx="2057400" cy="841248"/>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77095" y="463600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50247" y="4709160"/>
            <a:ext cx="1911095" cy="731520"/>
          </a:xfrm>
          <a:prstGeom prst="rect">
            <a:avLst/>
          </a:prstGeom>
          <a:noFill/>
        </p:spPr>
        <p:txBody>
          <a:bodyPr wrap="square" anchor="t" lIns="45720" rIns="45720" tIns="27432" bIns="27432">
            <a:spAutoFit/>
          </a:bodyPr>
          <a:lstStyle/>
          <a:p>
            <a:pPr algn="l">
              <a:spcAft>
                <a:spcPts val="270"/>
              </a:spcAft>
            </a:pPr>
            <a:r>
              <a:rPr sz="1500" b="1">
                <a:solidFill>
                  <a:srgbClr val="FFFFFF"/>
                </a:solidFill>
                <a:latin typeface="Segoe UI"/>
              </a:rPr>
              <a:t>Post-process</a:t>
            </a:r>
          </a:p>
          <a:p>
            <a:pPr algn="l">
              <a:spcAft>
                <a:spcPts val="270"/>
              </a:spcAft>
            </a:pPr>
            <a:r>
              <a:rPr sz="1500" b="0">
                <a:solidFill>
                  <a:srgbClr val="A8B0BA"/>
                </a:solidFill>
                <a:latin typeface="Segoe UI"/>
              </a:rPr>
              <a:t>fog, bloom, tonemap</a:t>
            </a:r>
          </a:p>
        </p:txBody>
      </p:sp>
      <p:sp>
        <p:nvSpPr>
          <p:cNvPr id="40" name="TextBox 39"/>
          <p:cNvSpPr txBox="1"/>
          <p:nvPr/>
        </p:nvSpPr>
        <p:spPr>
          <a:xfrm>
            <a:off x="457200" y="5641848"/>
            <a:ext cx="11277295" cy="411480"/>
          </a:xfrm>
          <a:prstGeom prst="rect">
            <a:avLst/>
          </a:prstGeom>
          <a:noFill/>
        </p:spPr>
        <p:txBody>
          <a:bodyPr wrap="square" anchor="ctr" lIns="45720" rIns="45720" tIns="27432" bIns="27432">
            <a:spAutoFit/>
          </a:bodyPr>
          <a:lstStyle/>
          <a:p>
            <a:pPr algn="ctr">
              <a:spcAft>
                <a:spcPts val="540"/>
              </a:spcAft>
            </a:pPr>
            <a:r>
              <a:rPr sz="1800" b="1">
                <a:solidFill>
                  <a:srgbClr val="FF9E1F"/>
                </a:solidFill>
                <a:latin typeface="Segoe UI"/>
              </a:rPr>
              <a:t>No built-in vector function in any shader</a:t>
            </a:r>
            <a:r>
              <a:rPr sz="1800" b="0">
                <a:solidFill>
                  <a:srgbClr val="2A313A"/>
                </a:solidFill>
                <a:latin typeface="Segoe UI"/>
              </a:rPr>
              <a:t>     |     </a:t>
            </a:r>
            <a:r>
              <a:rPr sz="1800" b="1">
                <a:solidFill>
                  <a:srgbClr val="FF9E1F"/>
                </a:solidFill>
                <a:latin typeface="Segoe UI"/>
              </a:rPr>
              <a:t>No mathematics library</a:t>
            </a:r>
            <a:r>
              <a:rPr sz="1800" b="0">
                <a:solidFill>
                  <a:srgbClr val="2A313A"/>
                </a:solidFill>
                <a:latin typeface="Segoe UI"/>
              </a:rPr>
              <a:t>     |     </a:t>
            </a:r>
            <a:r>
              <a:rPr sz="1800" b="0">
                <a:solidFill>
                  <a:srgbClr val="FFFFFF"/>
                </a:solidFill>
                <a:latin typeface="Segoe UI"/>
              </a:rPr>
              <a:t>C++17, OpenGL 3.3 core</a:t>
            </a:r>
          </a:p>
        </p:txBody>
      </p:sp>
      <p:sp>
        <p:nvSpPr>
          <p:cNvPr id="41" name="TextBox 40"/>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42" name="TextBox 41"/>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8229600" cy="292608"/>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Segoe UI"/>
              </a:rPr>
              <a:t>5  |  SCALE</a:t>
            </a:r>
          </a:p>
        </p:txBody>
      </p:sp>
      <p:sp>
        <p:nvSpPr>
          <p:cNvPr id="4" name="TextBox 3"/>
          <p:cNvSpPr txBox="1"/>
          <p:nvPr/>
        </p:nvSpPr>
        <p:spPr>
          <a:xfrm>
            <a:off x="457200" y="475488"/>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Segoe UI"/>
              </a:rPr>
              <a:t>The project in numbers</a:t>
            </a:r>
          </a:p>
        </p:txBody>
      </p:sp>
      <p:graphicFrame>
        <p:nvGraphicFramePr>
          <p:cNvPr id="5" name="Table 4"/>
          <p:cNvGraphicFramePr>
            <a:graphicFrameLocks noGrp="1"/>
          </p:cNvGraphicFramePr>
          <p:nvPr/>
        </p:nvGraphicFramePr>
        <p:xfrm>
          <a:off x="457200" y="1417320"/>
          <a:ext cx="4754879" cy="4873748"/>
        </p:xfrm>
        <a:graphic>
          <a:graphicData uri="http://schemas.openxmlformats.org/drawingml/2006/table">
            <a:tbl>
              <a:tblPr firstRow="1">
                <a:tableStyleId>{2D5ABB26-0587-4C30-8999-92F81FD0307C}</a:tableStyleId>
              </a:tblPr>
              <a:tblGrid>
                <a:gridCol w="2880360"/>
                <a:gridCol w="1874519"/>
              </a:tblGrid>
              <a:tr h="443068">
                <a:tc>
                  <a:txBody>
                    <a:bodyPr wrap="square"/>
                    <a:lstStyle/>
                    <a:p>
                      <a:pPr algn="l"/>
                      <a:r>
                        <a:rPr sz="1300" b="1">
                          <a:solidFill>
                            <a:srgbClr val="FF9E1F"/>
                          </a:solidFill>
                          <a:latin typeface="Segoe UI"/>
                        </a:rPr>
                        <a:t>Measure</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300" b="1">
                          <a:solidFill>
                            <a:srgbClr val="FF9E1F"/>
                          </a:solidFill>
                          <a:latin typeface="Segoe UI"/>
                        </a:rPr>
                        <a:t>Value</a:t>
                      </a:r>
                    </a:p>
                  </a:txBody>
                  <a:tcPr marL="109728" marR="109728" marT="27432" marB="27432" anchor="ctr">
                    <a:lnL w="0">
                      <a:noFill/>
                    </a:lnL>
                    <a:lnR w="0">
                      <a:noFill/>
                    </a:lnR>
                    <a:lnT w="0">
                      <a:noFill/>
                    </a:lnT>
                    <a:lnB w="19050" cap="flat" cmpd="sng">
                      <a:solidFill>
                        <a:srgbClr val="FF9E1F"/>
                      </a:solidFill>
                    </a:lnB>
                    <a:solidFill>
                      <a:srgbClr val="14181E"/>
                    </a:solidFill>
                  </a:tcPr>
                </a:tc>
              </a:tr>
              <a:tr h="443068">
                <a:tc>
                  <a:txBody>
                    <a:bodyPr wrap="square"/>
                    <a:lstStyle/>
                    <a:p>
                      <a:pPr algn="l"/>
                      <a:r>
                        <a:rPr sz="1500" b="0">
                          <a:solidFill>
                            <a:srgbClr val="FFFFFF"/>
                          </a:solidFill>
                          <a:latin typeface="Segoe UI"/>
                        </a:rPr>
                        <a:t>Primitive generators</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500" b="1">
                          <a:solidFill>
                            <a:srgbClr val="FF9E1F"/>
                          </a:solidFill>
                          <a:latin typeface="Segoe UI"/>
                        </a:rPr>
                        <a:t>16</a:t>
                      </a:r>
                    </a:p>
                  </a:txBody>
                  <a:tcPr marL="109728" marR="109728" marT="27432" marB="27432" anchor="ctr">
                    <a:lnL w="0">
                      <a:noFill/>
                    </a:lnL>
                    <a:lnR w="0">
                      <a:noFill/>
                    </a:lnR>
                    <a:lnT w="0">
                      <a:noFill/>
                    </a:lnT>
                    <a:lnB w="9525" cap="flat" cmpd="sng">
                      <a:solidFill>
                        <a:srgbClr val="2A313A"/>
                      </a:solidFill>
                    </a:lnB>
                    <a:solidFill>
                      <a:srgbClr val="0F1217"/>
                    </a:solidFill>
                  </a:tcPr>
                </a:tc>
              </a:tr>
              <a:tr h="443068">
                <a:tc>
                  <a:txBody>
                    <a:bodyPr wrap="square"/>
                    <a:lstStyle/>
                    <a:p>
                      <a:pPr algn="l"/>
                      <a:r>
                        <a:rPr sz="1500" b="0">
                          <a:solidFill>
                            <a:srgbClr val="FFFFFF"/>
                          </a:solidFill>
                          <a:latin typeface="Segoe UI"/>
                        </a:rPr>
                        <a:t>Designs built from them</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500" b="1">
                          <a:solidFill>
                            <a:srgbClr val="FF9E1F"/>
                          </a:solidFill>
                          <a:latin typeface="Segoe UI"/>
                        </a:rPr>
                        <a:t>62</a:t>
                      </a:r>
                    </a:p>
                  </a:txBody>
                  <a:tcPr marL="109728" marR="109728" marT="27432" marB="27432" anchor="ctr">
                    <a:lnL w="0">
                      <a:noFill/>
                    </a:lnL>
                    <a:lnR w="0">
                      <a:noFill/>
                    </a:lnR>
                    <a:lnT w="0">
                      <a:noFill/>
                    </a:lnT>
                    <a:lnB w="9525" cap="flat" cmpd="sng">
                      <a:solidFill>
                        <a:srgbClr val="2A313A"/>
                      </a:solidFill>
                    </a:lnB>
                    <a:solidFill>
                      <a:srgbClr val="080A0D"/>
                    </a:solidFill>
                  </a:tcPr>
                </a:tc>
              </a:tr>
              <a:tr h="443068">
                <a:tc>
                  <a:txBody>
                    <a:bodyPr wrap="square"/>
                    <a:lstStyle/>
                    <a:p>
                      <a:pPr algn="l"/>
                      <a:r>
                        <a:rPr sz="1500" b="0">
                          <a:solidFill>
                            <a:srgbClr val="FFFFFF"/>
                          </a:solidFill>
                          <a:latin typeface="Segoe UI"/>
                        </a:rPr>
                        <a:t>Parts in the scene</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500" b="1">
                          <a:solidFill>
                            <a:srgbClr val="FF9E1F"/>
                          </a:solidFill>
                          <a:latin typeface="Segoe UI"/>
                        </a:rPr>
                        <a:t>5,474</a:t>
                      </a:r>
                    </a:p>
                  </a:txBody>
                  <a:tcPr marL="109728" marR="109728" marT="27432" marB="27432" anchor="ctr">
                    <a:lnL w="0">
                      <a:noFill/>
                    </a:lnL>
                    <a:lnR w="0">
                      <a:noFill/>
                    </a:lnR>
                    <a:lnT w="0">
                      <a:noFill/>
                    </a:lnT>
                    <a:lnB w="9525" cap="flat" cmpd="sng">
                      <a:solidFill>
                        <a:srgbClr val="2A313A"/>
                      </a:solidFill>
                    </a:lnB>
                    <a:solidFill>
                      <a:srgbClr val="0F1217"/>
                    </a:solidFill>
                  </a:tcPr>
                </a:tc>
              </a:tr>
              <a:tr h="443068">
                <a:tc>
                  <a:txBody>
                    <a:bodyPr wrap="square"/>
                    <a:lstStyle/>
                    <a:p>
                      <a:pPr algn="l"/>
                      <a:r>
                        <a:rPr sz="1500" b="0">
                          <a:solidFill>
                            <a:srgbClr val="FFFFFF"/>
                          </a:solidFill>
                          <a:latin typeface="Segoe UI"/>
                        </a:rPr>
                        <a:t>Calls of hand-written vector functions</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500" b="1">
                          <a:solidFill>
                            <a:srgbClr val="FF9E1F"/>
                          </a:solidFill>
                          <a:latin typeface="Segoe UI"/>
                        </a:rPr>
                        <a:t>905, in 13 shader files</a:t>
                      </a:r>
                    </a:p>
                  </a:txBody>
                  <a:tcPr marL="109728" marR="109728" marT="27432" marB="27432" anchor="ctr">
                    <a:lnL w="0">
                      <a:noFill/>
                    </a:lnL>
                    <a:lnR w="0">
                      <a:noFill/>
                    </a:lnR>
                    <a:lnT w="0">
                      <a:noFill/>
                    </a:lnT>
                    <a:lnB w="9525" cap="flat" cmpd="sng">
                      <a:solidFill>
                        <a:srgbClr val="2A313A"/>
                      </a:solidFill>
                    </a:lnB>
                    <a:solidFill>
                      <a:srgbClr val="080A0D"/>
                    </a:solidFill>
                  </a:tcPr>
                </a:tc>
              </a:tr>
              <a:tr h="443068">
                <a:tc>
                  <a:txBody>
                    <a:bodyPr wrap="square"/>
                    <a:lstStyle/>
                    <a:p>
                      <a:pPr algn="l"/>
                      <a:r>
                        <a:rPr sz="1500" b="0">
                          <a:solidFill>
                            <a:srgbClr val="FFFFFF"/>
                          </a:solidFill>
                          <a:latin typeface="Segoe UI"/>
                        </a:rPr>
                        <a:t>Automated tests</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500" b="1">
                          <a:solidFill>
                            <a:srgbClr val="FF9E1F"/>
                          </a:solidFill>
                          <a:latin typeface="Segoe UI"/>
                        </a:rPr>
                        <a:t>396</a:t>
                      </a:r>
                    </a:p>
                  </a:txBody>
                  <a:tcPr marL="109728" marR="109728" marT="27432" marB="27432" anchor="ctr">
                    <a:lnL w="0">
                      <a:noFill/>
                    </a:lnL>
                    <a:lnR w="0">
                      <a:noFill/>
                    </a:lnR>
                    <a:lnT w="0">
                      <a:noFill/>
                    </a:lnT>
                    <a:lnB w="9525" cap="flat" cmpd="sng">
                      <a:solidFill>
                        <a:srgbClr val="2A313A"/>
                      </a:solidFill>
                    </a:lnB>
                    <a:solidFill>
                      <a:srgbClr val="0F1217"/>
                    </a:solidFill>
                  </a:tcPr>
                </a:tc>
              </a:tr>
              <a:tr h="443068">
                <a:tc>
                  <a:txBody>
                    <a:bodyPr wrap="square"/>
                    <a:lstStyle/>
                    <a:p>
                      <a:pPr algn="l"/>
                      <a:r>
                        <a:rPr sz="1500" b="0">
                          <a:solidFill>
                            <a:srgbClr val="FFFFFF"/>
                          </a:solidFill>
                          <a:latin typeface="Segoe UI"/>
                        </a:rPr>
                        <a:t>Report</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500" b="1">
                          <a:solidFill>
                            <a:srgbClr val="FF9E1F"/>
                          </a:solidFill>
                          <a:latin typeface="Segoe UI"/>
                        </a:rPr>
                        <a:t>192 pages</a:t>
                      </a:r>
                    </a:p>
                  </a:txBody>
                  <a:tcPr marL="109728" marR="109728" marT="27432" marB="27432" anchor="ctr">
                    <a:lnL w="0">
                      <a:noFill/>
                    </a:lnL>
                    <a:lnR w="0">
                      <a:noFill/>
                    </a:lnR>
                    <a:lnT w="0">
                      <a:noFill/>
                    </a:lnT>
                    <a:lnB w="9525" cap="flat" cmpd="sng">
                      <a:solidFill>
                        <a:srgbClr val="2A313A"/>
                      </a:solidFill>
                    </a:lnB>
                    <a:solidFill>
                      <a:srgbClr val="080A0D"/>
                    </a:solidFill>
                  </a:tcPr>
                </a:tc>
              </a:tr>
              <a:tr h="443068">
                <a:tc>
                  <a:txBody>
                    <a:bodyPr wrap="square"/>
                    <a:lstStyle/>
                    <a:p>
                      <a:pPr algn="l"/>
                      <a:r>
                        <a:rPr sz="1500" b="0">
                          <a:solidFill>
                            <a:srgbClr val="FFFFFF"/>
                          </a:solidFill>
                          <a:latin typeface="Segoe UI"/>
                        </a:rPr>
                        <a:t>Film</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500" b="1">
                          <a:solidFill>
                            <a:srgbClr val="FF9E1F"/>
                          </a:solidFill>
                          <a:latin typeface="Segoe UI"/>
                        </a:rPr>
                        <a:t>3 min 38 s</a:t>
                      </a:r>
                    </a:p>
                  </a:txBody>
                  <a:tcPr marL="109728" marR="109728" marT="27432" marB="27432" anchor="ctr">
                    <a:lnL w="0">
                      <a:noFill/>
                    </a:lnL>
                    <a:lnR w="0">
                      <a:noFill/>
                    </a:lnR>
                    <a:lnT w="0">
                      <a:noFill/>
                    </a:lnT>
                    <a:lnB w="9525" cap="flat" cmpd="sng">
                      <a:solidFill>
                        <a:srgbClr val="2A313A"/>
                      </a:solidFill>
                    </a:lnB>
                    <a:solidFill>
                      <a:srgbClr val="0F1217"/>
                    </a:solidFill>
                  </a:tcPr>
                </a:tc>
              </a:tr>
              <a:tr h="443068">
                <a:tc>
                  <a:txBody>
                    <a:bodyPr wrap="square"/>
                    <a:lstStyle/>
                    <a:p>
                      <a:pPr algn="l"/>
                      <a:r>
                        <a:rPr sz="1500" b="0">
                          <a:solidFill>
                            <a:srgbClr val="FFFFFF"/>
                          </a:solidFill>
                          <a:latin typeface="Segoe UI"/>
                        </a:rPr>
                        <a:t>Language and graphics interface</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500" b="1">
                          <a:solidFill>
                            <a:srgbClr val="FF9E1F"/>
                          </a:solidFill>
                          <a:latin typeface="Segoe UI"/>
                        </a:rPr>
                        <a:t>C++17, OpenGL 3.3 core</a:t>
                      </a:r>
                    </a:p>
                  </a:txBody>
                  <a:tcPr marL="109728" marR="109728" marT="27432" marB="27432" anchor="ctr">
                    <a:lnL w="0">
                      <a:noFill/>
                    </a:lnL>
                    <a:lnR w="0">
                      <a:noFill/>
                    </a:lnR>
                    <a:lnT w="0">
                      <a:noFill/>
                    </a:lnT>
                    <a:lnB w="9525" cap="flat" cmpd="sng">
                      <a:solidFill>
                        <a:srgbClr val="2A313A"/>
                      </a:solidFill>
                    </a:lnB>
                    <a:solidFill>
                      <a:srgbClr val="080A0D"/>
                    </a:solidFill>
                  </a:tcPr>
                </a:tc>
              </a:tr>
              <a:tr h="443068">
                <a:tc>
                  <a:txBody>
                    <a:bodyPr wrap="square"/>
                    <a:lstStyle/>
                    <a:p>
                      <a:pPr algn="l"/>
                      <a:r>
                        <a:rPr sz="1500" b="0">
                          <a:solidFill>
                            <a:srgbClr val="FFFFFF"/>
                          </a:solidFill>
                          <a:latin typeface="Segoe UI"/>
                        </a:rPr>
                        <a:t>Ray tracer</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500" b="1">
                          <a:solidFill>
                            <a:srgbClr val="FF9E1F"/>
                          </a:solidFill>
                          <a:latin typeface="Segoe UI"/>
                        </a:rPr>
                        <a:t>OpenGL 4.3 compute</a:t>
                      </a:r>
                    </a:p>
                  </a:txBody>
                  <a:tcPr marL="109728" marR="109728" marT="27432" marB="27432" anchor="ctr">
                    <a:lnL w="0">
                      <a:noFill/>
                    </a:lnL>
                    <a:lnR w="0">
                      <a:noFill/>
                    </a:lnR>
                    <a:lnT w="0">
                      <a:noFill/>
                    </a:lnT>
                    <a:lnB w="9525" cap="flat" cmpd="sng">
                      <a:solidFill>
                        <a:srgbClr val="2A313A"/>
                      </a:solidFill>
                    </a:lnB>
                    <a:solidFill>
                      <a:srgbClr val="0F1217"/>
                    </a:solidFill>
                  </a:tcPr>
                </a:tc>
              </a:tr>
              <a:tr h="443068">
                <a:tc>
                  <a:txBody>
                    <a:bodyPr wrap="square"/>
                    <a:lstStyle/>
                    <a:p>
                      <a:pPr algn="l"/>
                      <a:r>
                        <a:rPr sz="1500" b="0">
                          <a:solidFill>
                            <a:srgbClr val="FFFFFF"/>
                          </a:solidFill>
                          <a:latin typeface="Segoe UI"/>
                        </a:rPr>
                        <a:t>Mathematics library</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500" b="1">
                          <a:solidFill>
                            <a:srgbClr val="FF9E1F"/>
                          </a:solidFill>
                          <a:latin typeface="Segoe UI"/>
                        </a:rPr>
                        <a:t>none</a:t>
                      </a:r>
                    </a:p>
                  </a:txBody>
                  <a:tcPr marL="109728" marR="109728" marT="27432" marB="27432" anchor="ctr">
                    <a:lnL w="0">
                      <a:noFill/>
                    </a:lnL>
                    <a:lnR w="0">
                      <a:noFill/>
                    </a:lnR>
                    <a:lnT w="0">
                      <a:noFill/>
                    </a:lnT>
                    <a:lnB w="9525" cap="flat" cmpd="sng">
                      <a:solidFill>
                        <a:srgbClr val="2A313A"/>
                      </a:solidFill>
                    </a:lnB>
                    <a:solidFill>
                      <a:srgbClr val="080A0D"/>
                    </a:solidFill>
                  </a:tcPr>
                </a:tc>
              </a:tr>
            </a:tbl>
          </a:graphicData>
        </a:graphic>
      </p:graphicFrame>
      <p:pic>
        <p:nvPicPr>
          <p:cNvPr id="6" name="Picture 5" descr="img020.jpg"/>
          <p:cNvPicPr>
            <a:picLocks noChangeAspect="1"/>
          </p:cNvPicPr>
          <p:nvPr/>
        </p:nvPicPr>
        <p:blipFill>
          <a:blip r:embed="rId3"/>
          <a:stretch>
            <a:fillRect/>
          </a:stretch>
        </p:blipFill>
        <p:spPr>
          <a:xfrm>
            <a:off x="5486400" y="1417320"/>
            <a:ext cx="6248095" cy="4507992"/>
          </a:xfrm>
          <a:prstGeom prst="rect">
            <a:avLst/>
          </a:prstGeom>
        </p:spPr>
      </p:pic>
      <p:sp>
        <p:nvSpPr>
          <p:cNvPr id="7" name="Rectangle 6"/>
          <p:cNvSpPr/>
          <p:nvPr/>
        </p:nvSpPr>
        <p:spPr>
          <a:xfrm>
            <a:off x="5486400" y="5925312"/>
            <a:ext cx="6248095" cy="3657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59552" y="5925312"/>
            <a:ext cx="6101791" cy="365760"/>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Segoe UI"/>
              </a:rPr>
              <a:t>The camp drawn by primitive type: cube, sphere, cylinder, cone</a:t>
            </a:r>
          </a:p>
        </p:txBody>
      </p:sp>
      <p:sp>
        <p:nvSpPr>
          <p:cNvPr id="9" name="TextBox 8"/>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10" name="TextBox 9"/>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8229600" cy="292608"/>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Segoe UI"/>
              </a:rPr>
              <a:t>6  |  ILLUMINATION</a:t>
            </a:r>
          </a:p>
        </p:txBody>
      </p:sp>
      <p:sp>
        <p:nvSpPr>
          <p:cNvPr id="4" name="TextBox 3"/>
          <p:cNvSpPr txBox="1"/>
          <p:nvPr/>
        </p:nvSpPr>
        <p:spPr>
          <a:xfrm>
            <a:off x="457200" y="475488"/>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Segoe UI"/>
              </a:rPr>
              <a:t>Lighting and shading, written by hand</a:t>
            </a:r>
          </a:p>
        </p:txBody>
      </p:sp>
      <p:sp>
        <p:nvSpPr>
          <p:cNvPr id="5" name="Rectangle 4"/>
          <p:cNvSpPr/>
          <p:nvPr/>
        </p:nvSpPr>
        <p:spPr>
          <a:xfrm>
            <a:off x="457200" y="1417320"/>
            <a:ext cx="11277295" cy="150876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417320"/>
            <a:ext cx="54864" cy="150876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q_main.png"/>
          <p:cNvPicPr>
            <a:picLocks noChangeAspect="1"/>
          </p:cNvPicPr>
          <p:nvPr/>
        </p:nvPicPr>
        <p:blipFill>
          <a:blip r:embed="rId3"/>
          <a:stretch>
            <a:fillRect/>
          </a:stretch>
        </p:blipFill>
        <p:spPr>
          <a:xfrm>
            <a:off x="731520" y="1686763"/>
            <a:ext cx="7863840" cy="969873"/>
          </a:xfrm>
          <a:prstGeom prst="rect">
            <a:avLst/>
          </a:prstGeom>
        </p:spPr>
      </p:pic>
      <p:pic>
        <p:nvPicPr>
          <p:cNvPr id="8" name="Picture 7" descr="eq_half.png"/>
          <p:cNvPicPr>
            <a:picLocks noChangeAspect="1"/>
          </p:cNvPicPr>
          <p:nvPr/>
        </p:nvPicPr>
        <p:blipFill>
          <a:blip r:embed="rId4"/>
          <a:stretch>
            <a:fillRect/>
          </a:stretch>
        </p:blipFill>
        <p:spPr>
          <a:xfrm>
            <a:off x="9120486" y="1581912"/>
            <a:ext cx="2058706" cy="658368"/>
          </a:xfrm>
          <a:prstGeom prst="rect">
            <a:avLst/>
          </a:prstGeom>
        </p:spPr>
      </p:pic>
      <p:pic>
        <p:nvPicPr>
          <p:cNvPr id="9" name="Picture 8" descr="eq_phong.png"/>
          <p:cNvPicPr>
            <a:picLocks noChangeAspect="1"/>
          </p:cNvPicPr>
          <p:nvPr/>
        </p:nvPicPr>
        <p:blipFill>
          <a:blip r:embed="rId5"/>
          <a:stretch>
            <a:fillRect/>
          </a:stretch>
        </p:blipFill>
        <p:spPr>
          <a:xfrm>
            <a:off x="8823960" y="2411496"/>
            <a:ext cx="2651760" cy="297646"/>
          </a:xfrm>
          <a:prstGeom prst="rect">
            <a:avLst/>
          </a:prstGeom>
        </p:spPr>
      </p:pic>
      <p:pic>
        <p:nvPicPr>
          <p:cNvPr id="10" name="Picture 9" descr="img021.jpg"/>
          <p:cNvPicPr>
            <a:picLocks noChangeAspect="1"/>
          </p:cNvPicPr>
          <p:nvPr/>
        </p:nvPicPr>
        <p:blipFill>
          <a:blip r:embed="rId6"/>
          <a:stretch>
            <a:fillRect/>
          </a:stretch>
        </p:blipFill>
        <p:spPr>
          <a:xfrm>
            <a:off x="457200" y="3090672"/>
            <a:ext cx="2697480" cy="2697479"/>
          </a:xfrm>
          <a:prstGeom prst="rect">
            <a:avLst/>
          </a:prstGeom>
        </p:spPr>
      </p:pic>
      <p:sp>
        <p:nvSpPr>
          <p:cNvPr id="11" name="Rectangle 10"/>
          <p:cNvSpPr/>
          <p:nvPr/>
        </p:nvSpPr>
        <p:spPr>
          <a:xfrm>
            <a:off x="457200" y="5788152"/>
            <a:ext cx="2697480" cy="50292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 y="5788152"/>
            <a:ext cx="2551176" cy="502920"/>
          </a:xfrm>
          <a:prstGeom prst="rect">
            <a:avLst/>
          </a:prstGeom>
          <a:noFill/>
        </p:spPr>
        <p:txBody>
          <a:bodyPr wrap="square" anchor="ctr" lIns="45720" rIns="45720" tIns="27432" bIns="27432">
            <a:spAutoFit/>
          </a:bodyPr>
          <a:lstStyle/>
          <a:p>
            <a:pPr algn="l">
              <a:spcAft>
                <a:spcPts val="420"/>
              </a:spcAft>
            </a:pPr>
            <a:r>
              <a:rPr sz="1400" b="1">
                <a:solidFill>
                  <a:srgbClr val="FFFFFF"/>
                </a:solidFill>
                <a:latin typeface="Segoe UI"/>
              </a:rPr>
              <a:t>Flat</a:t>
            </a:r>
            <a:r>
              <a:rPr sz="1400" b="0">
                <a:solidFill>
                  <a:srgbClr val="A8B0BA"/>
                </a:solidFill>
                <a:latin typeface="Segoe UI"/>
              </a:rPr>
              <a:t>   one normal per face</a:t>
            </a:r>
          </a:p>
        </p:txBody>
      </p:sp>
      <p:pic>
        <p:nvPicPr>
          <p:cNvPr id="13" name="Picture 12" descr="img022.jpg"/>
          <p:cNvPicPr>
            <a:picLocks noChangeAspect="1"/>
          </p:cNvPicPr>
          <p:nvPr/>
        </p:nvPicPr>
        <p:blipFill>
          <a:blip r:embed="rId7"/>
          <a:stretch>
            <a:fillRect/>
          </a:stretch>
        </p:blipFill>
        <p:spPr>
          <a:xfrm>
            <a:off x="3300984" y="3090672"/>
            <a:ext cx="2697480" cy="2697479"/>
          </a:xfrm>
          <a:prstGeom prst="rect">
            <a:avLst/>
          </a:prstGeom>
        </p:spPr>
      </p:pic>
      <p:sp>
        <p:nvSpPr>
          <p:cNvPr id="14" name="Rectangle 13"/>
          <p:cNvSpPr/>
          <p:nvPr/>
        </p:nvSpPr>
        <p:spPr>
          <a:xfrm>
            <a:off x="3300984" y="5788152"/>
            <a:ext cx="2697480" cy="50292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4136" y="5788152"/>
            <a:ext cx="2551176" cy="502920"/>
          </a:xfrm>
          <a:prstGeom prst="rect">
            <a:avLst/>
          </a:prstGeom>
          <a:noFill/>
        </p:spPr>
        <p:txBody>
          <a:bodyPr wrap="square" anchor="ctr" lIns="45720" rIns="45720" tIns="27432" bIns="27432">
            <a:spAutoFit/>
          </a:bodyPr>
          <a:lstStyle/>
          <a:p>
            <a:pPr algn="l">
              <a:spcAft>
                <a:spcPts val="420"/>
              </a:spcAft>
            </a:pPr>
            <a:r>
              <a:rPr sz="1400" b="1">
                <a:solidFill>
                  <a:srgbClr val="FFFFFF"/>
                </a:solidFill>
                <a:latin typeface="Segoe UI"/>
              </a:rPr>
              <a:t>Gouraud</a:t>
            </a:r>
            <a:r>
              <a:rPr sz="1400" b="0">
                <a:solidFill>
                  <a:srgbClr val="A8B0BA"/>
                </a:solidFill>
                <a:latin typeface="Segoe UI"/>
              </a:rPr>
              <a:t>   lit at vertices</a:t>
            </a:r>
          </a:p>
        </p:txBody>
      </p:sp>
      <p:pic>
        <p:nvPicPr>
          <p:cNvPr id="16" name="Picture 15" descr="img023.jpg"/>
          <p:cNvPicPr>
            <a:picLocks noChangeAspect="1"/>
          </p:cNvPicPr>
          <p:nvPr/>
        </p:nvPicPr>
        <p:blipFill>
          <a:blip r:embed="rId8"/>
          <a:stretch>
            <a:fillRect/>
          </a:stretch>
        </p:blipFill>
        <p:spPr>
          <a:xfrm>
            <a:off x="6144768" y="3090672"/>
            <a:ext cx="2697480" cy="2697479"/>
          </a:xfrm>
          <a:prstGeom prst="rect">
            <a:avLst/>
          </a:prstGeom>
        </p:spPr>
      </p:pic>
      <p:sp>
        <p:nvSpPr>
          <p:cNvPr id="17" name="Rectangle 16"/>
          <p:cNvSpPr/>
          <p:nvPr/>
        </p:nvSpPr>
        <p:spPr>
          <a:xfrm>
            <a:off x="6144768" y="5788152"/>
            <a:ext cx="2697480" cy="50292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5788152"/>
            <a:ext cx="2551176" cy="502920"/>
          </a:xfrm>
          <a:prstGeom prst="rect">
            <a:avLst/>
          </a:prstGeom>
          <a:noFill/>
        </p:spPr>
        <p:txBody>
          <a:bodyPr wrap="square" anchor="ctr" lIns="45720" rIns="45720" tIns="27432" bIns="27432">
            <a:spAutoFit/>
          </a:bodyPr>
          <a:lstStyle/>
          <a:p>
            <a:pPr algn="l">
              <a:spcAft>
                <a:spcPts val="420"/>
              </a:spcAft>
            </a:pPr>
            <a:r>
              <a:rPr sz="1400" b="1">
                <a:solidFill>
                  <a:srgbClr val="FFFFFF"/>
                </a:solidFill>
                <a:latin typeface="Segoe UI"/>
              </a:rPr>
              <a:t>Phong</a:t>
            </a:r>
            <a:r>
              <a:rPr sz="1400" b="0">
                <a:solidFill>
                  <a:srgbClr val="A8B0BA"/>
                </a:solidFill>
                <a:latin typeface="Segoe UI"/>
              </a:rPr>
              <a:t>   lit at every pixel</a:t>
            </a:r>
          </a:p>
        </p:txBody>
      </p:sp>
      <p:sp>
        <p:nvSpPr>
          <p:cNvPr id="19" name="Rectangle 18"/>
          <p:cNvSpPr/>
          <p:nvPr/>
        </p:nvSpPr>
        <p:spPr>
          <a:xfrm>
            <a:off x="9043416" y="3090672"/>
            <a:ext cx="2691079" cy="3200399"/>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43416" y="3090672"/>
            <a:ext cx="2691079"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71432" y="3200400"/>
            <a:ext cx="2435047" cy="256032"/>
          </a:xfrm>
          <a:prstGeom prst="rect">
            <a:avLst/>
          </a:prstGeom>
          <a:noFill/>
        </p:spPr>
        <p:txBody>
          <a:bodyPr wrap="square" anchor="t" lIns="45720" rIns="45720" tIns="27432" bIns="27432">
            <a:spAutoFit/>
          </a:bodyPr>
          <a:lstStyle/>
          <a:p>
            <a:pPr algn="l">
              <a:spcAft>
                <a:spcPts val="359"/>
              </a:spcAft>
            </a:pPr>
            <a:r>
              <a:rPr sz="1200" b="1">
                <a:solidFill>
                  <a:srgbClr val="A8B0BA"/>
                </a:solidFill>
                <a:latin typeface="Segoe UI"/>
              </a:rPr>
              <a:t>VECTOR MATHS IN SHADERS</a:t>
            </a:r>
          </a:p>
        </p:txBody>
      </p:sp>
      <p:sp>
        <p:nvSpPr>
          <p:cNvPr id="22" name="TextBox 21"/>
          <p:cNvSpPr txBox="1"/>
          <p:nvPr/>
        </p:nvSpPr>
        <p:spPr>
          <a:xfrm>
            <a:off x="9171432" y="3493008"/>
            <a:ext cx="2435047" cy="1280160"/>
          </a:xfrm>
          <a:prstGeom prst="rect">
            <a:avLst/>
          </a:prstGeom>
          <a:noFill/>
        </p:spPr>
        <p:txBody>
          <a:bodyPr wrap="square" anchor="t" lIns="45720" rIns="45720" tIns="27432" bIns="27432">
            <a:spAutoFit/>
          </a:bodyPr>
          <a:lstStyle/>
          <a:p>
            <a:pPr algn="l">
              <a:spcAft>
                <a:spcPts val="260"/>
              </a:spcAft>
            </a:pPr>
            <a:r>
              <a:rPr sz="1300" b="0">
                <a:solidFill>
                  <a:srgbClr val="FFFFFF"/>
                </a:solidFill>
                <a:latin typeface="Consolas"/>
              </a:rPr>
              <a:t>tsDot         tsLength</a:t>
            </a:r>
          </a:p>
          <a:p>
            <a:pPr algn="l">
              <a:spcAft>
                <a:spcPts val="260"/>
              </a:spcAft>
            </a:pPr>
            <a:r>
              <a:rPr sz="1300" b="0">
                <a:solidFill>
                  <a:srgbClr val="FFFFFF"/>
                </a:solidFill>
                <a:latin typeface="Consolas"/>
              </a:rPr>
              <a:t>tsNormalize   tsCross</a:t>
            </a:r>
          </a:p>
          <a:p>
            <a:pPr algn="l">
              <a:spcAft>
                <a:spcPts val="260"/>
              </a:spcAft>
            </a:pPr>
            <a:r>
              <a:rPr sz="1300" b="0">
                <a:solidFill>
                  <a:srgbClr val="FFFFFF"/>
                </a:solidFill>
                <a:latin typeface="Consolas"/>
              </a:rPr>
              <a:t>tsReflect     tsRefract</a:t>
            </a:r>
          </a:p>
          <a:p>
            <a:pPr algn="l">
              <a:spcAft>
                <a:spcPts val="260"/>
              </a:spcAft>
            </a:pPr>
            <a:r>
              <a:rPr sz="1300" b="0">
                <a:solidFill>
                  <a:srgbClr val="FFFFFF"/>
                </a:solidFill>
                <a:latin typeface="Consolas"/>
              </a:rPr>
              <a:t>tsMix         tsClamp</a:t>
            </a:r>
          </a:p>
          <a:p>
            <a:pPr algn="l">
              <a:spcAft>
                <a:spcPts val="260"/>
              </a:spcAft>
            </a:pPr>
            <a:r>
              <a:rPr sz="1300" b="0">
                <a:solidFill>
                  <a:srgbClr val="FFFFFF"/>
                </a:solidFill>
                <a:latin typeface="Consolas"/>
              </a:rPr>
              <a:t>tsStep        tsSmoothstep</a:t>
            </a:r>
          </a:p>
        </p:txBody>
      </p:sp>
      <p:sp>
        <p:nvSpPr>
          <p:cNvPr id="23" name="TextBox 22"/>
          <p:cNvSpPr txBox="1"/>
          <p:nvPr/>
        </p:nvSpPr>
        <p:spPr>
          <a:xfrm>
            <a:off x="9171432" y="5239512"/>
            <a:ext cx="2435047" cy="457200"/>
          </a:xfrm>
          <a:prstGeom prst="rect">
            <a:avLst/>
          </a:prstGeom>
          <a:noFill/>
        </p:spPr>
        <p:txBody>
          <a:bodyPr wrap="square" anchor="t" lIns="45720" rIns="45720" tIns="27432" bIns="27432">
            <a:spAutoFit/>
          </a:bodyPr>
          <a:lstStyle/>
          <a:p>
            <a:pPr algn="l">
              <a:spcAft>
                <a:spcPts val="600"/>
              </a:spcAft>
            </a:pPr>
            <a:r>
              <a:rPr sz="2000" b="1">
                <a:solidFill>
                  <a:srgbClr val="FF9E1F"/>
                </a:solidFill>
                <a:latin typeface="Segoe UI"/>
              </a:rPr>
              <a:t>905 calls</a:t>
            </a:r>
            <a:r>
              <a:rPr sz="2000" b="0">
                <a:solidFill>
                  <a:srgbClr val="FFFFFF"/>
                </a:solidFill>
                <a:latin typeface="Segoe UI"/>
              </a:rPr>
              <a:t>  in 13 shaders</a:t>
            </a:r>
          </a:p>
        </p:txBody>
      </p:sp>
      <p:sp>
        <p:nvSpPr>
          <p:cNvPr id="24" name="TextBox 23"/>
          <p:cNvSpPr txBox="1"/>
          <p:nvPr/>
        </p:nvSpPr>
        <p:spPr>
          <a:xfrm>
            <a:off x="9171432" y="5760720"/>
            <a:ext cx="2435047" cy="438912"/>
          </a:xfrm>
          <a:prstGeom prst="rect">
            <a:avLst/>
          </a:prstGeom>
          <a:noFill/>
        </p:spPr>
        <p:txBody>
          <a:bodyPr wrap="square" anchor="t" lIns="45720" rIns="45720" tIns="27432" bIns="27432">
            <a:spAutoFit/>
          </a:bodyPr>
          <a:lstStyle/>
          <a:p>
            <a:pPr algn="l">
              <a:spcAft>
                <a:spcPts val="390"/>
              </a:spcAft>
            </a:pPr>
            <a:r>
              <a:rPr sz="1300" b="0">
                <a:solidFill>
                  <a:srgbClr val="A8B0BA"/>
                </a:solidFill>
                <a:latin typeface="Segoe UI"/>
              </a:rPr>
              <a:t>Built-in GLSL calls refused</a:t>
            </a:r>
          </a:p>
        </p:txBody>
      </p:sp>
      <p:sp>
        <p:nvSpPr>
          <p:cNvPr id="25" name="TextBox 24"/>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26" name="TextBox 25"/>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8229600" cy="292608"/>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Segoe UI"/>
              </a:rPr>
              <a:t>7  |  FLOOD FILL, DIJKSTRA, LINE FOLLOWER</a:t>
            </a:r>
          </a:p>
        </p:txBody>
      </p:sp>
      <p:sp>
        <p:nvSpPr>
          <p:cNvPr id="4" name="TextBox 3"/>
          <p:cNvSpPr txBox="1"/>
          <p:nvPr/>
        </p:nvSpPr>
        <p:spPr>
          <a:xfrm>
            <a:off x="457200" y="475488"/>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Segoe UI"/>
              </a:rPr>
              <a:t>Intruder rovers: path planning</a:t>
            </a:r>
          </a:p>
        </p:txBody>
      </p:sp>
      <p:sp>
        <p:nvSpPr>
          <p:cNvPr id="5" name="Rectangle 4"/>
          <p:cNvSpPr/>
          <p:nvPr/>
        </p:nvSpPr>
        <p:spPr>
          <a:xfrm>
            <a:off x="457200" y="1417320"/>
            <a:ext cx="6355080" cy="464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g024.jpg"/>
          <p:cNvPicPr>
            <a:picLocks noChangeAspect="1"/>
          </p:cNvPicPr>
          <p:nvPr/>
        </p:nvPicPr>
        <p:blipFill>
          <a:blip r:embed="rId3"/>
          <a:stretch>
            <a:fillRect/>
          </a:stretch>
        </p:blipFill>
        <p:spPr>
          <a:xfrm>
            <a:off x="502920" y="1463040"/>
            <a:ext cx="6263640" cy="4552656"/>
          </a:xfrm>
          <a:prstGeom prst="rect">
            <a:avLst/>
          </a:prstGeom>
        </p:spPr>
      </p:pic>
      <p:sp>
        <p:nvSpPr>
          <p:cNvPr id="7" name="TextBox 6"/>
          <p:cNvSpPr txBox="1"/>
          <p:nvPr/>
        </p:nvSpPr>
        <p:spPr>
          <a:xfrm>
            <a:off x="457200" y="6116280"/>
            <a:ext cx="6355080" cy="274320"/>
          </a:xfrm>
          <a:prstGeom prst="rect">
            <a:avLst/>
          </a:prstGeom>
          <a:noFill/>
        </p:spPr>
        <p:txBody>
          <a:bodyPr wrap="square" anchor="t" lIns="45720" rIns="45720" tIns="27432" bIns="27432">
            <a:spAutoFit/>
          </a:bodyPr>
          <a:lstStyle/>
          <a:p>
            <a:pPr algn="l">
              <a:spcAft>
                <a:spcPts val="390"/>
              </a:spcAft>
            </a:pPr>
            <a:r>
              <a:rPr sz="1300" b="0">
                <a:solidFill>
                  <a:srgbClr val="A8B0BA"/>
                </a:solidFill>
                <a:latin typeface="Segoe UI"/>
              </a:rPr>
              <a:t>Route map: 4 rovers, two UAVs (uncrewed aerial vehicles), 130 s mission</a:t>
            </a:r>
          </a:p>
        </p:txBody>
      </p:sp>
      <p:sp>
        <p:nvSpPr>
          <p:cNvPr id="8" name="Rectangle 7"/>
          <p:cNvSpPr/>
          <p:nvPr/>
        </p:nvSpPr>
        <p:spPr>
          <a:xfrm>
            <a:off x="7068312" y="1417320"/>
            <a:ext cx="1433474" cy="96012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68312" y="1417320"/>
            <a:ext cx="1433474"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23176" y="1508760"/>
            <a:ext cx="1323746" cy="850392"/>
          </a:xfrm>
          <a:prstGeom prst="rect">
            <a:avLst/>
          </a:prstGeom>
          <a:noFill/>
        </p:spPr>
        <p:txBody>
          <a:bodyPr wrap="square" anchor="t" lIns="45720" rIns="45720" tIns="27432" bIns="27432">
            <a:spAutoFit/>
          </a:bodyPr>
          <a:lstStyle/>
          <a:p>
            <a:pPr algn="l">
              <a:spcAft>
                <a:spcPts val="260"/>
              </a:spcAft>
            </a:pPr>
            <a:r>
              <a:rPr sz="1300" b="1">
                <a:solidFill>
                  <a:srgbClr val="FF9E1F"/>
                </a:solidFill>
                <a:latin typeface="Segoe UI"/>
              </a:rPr>
              <a:t>1  </a:t>
            </a:r>
            <a:r>
              <a:rPr sz="1300" b="1">
                <a:solidFill>
                  <a:srgbClr val="FFFFFF"/>
                </a:solidFill>
                <a:latin typeface="Segoe UI"/>
              </a:rPr>
              <a:t>Flood fill</a:t>
            </a:r>
          </a:p>
          <a:p>
            <a:pPr algn="l">
              <a:spcAft>
                <a:spcPts val="260"/>
              </a:spcAft>
            </a:pPr>
            <a:r>
              <a:rPr sz="1300" b="0">
                <a:solidFill>
                  <a:srgbClr val="A8B0BA"/>
                </a:solidFill>
                <a:latin typeface="Segoe UI"/>
              </a:rPr>
              <a:t>BFS cover</a:t>
            </a:r>
          </a:p>
        </p:txBody>
      </p:sp>
      <p:sp>
        <p:nvSpPr>
          <p:cNvPr id="11" name="Right Arrow 10"/>
          <p:cNvSpPr/>
          <p:nvPr/>
        </p:nvSpPr>
        <p:spPr>
          <a:xfrm>
            <a:off x="8474354" y="176022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4666" y="1417320"/>
            <a:ext cx="1433474" cy="96012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84666" y="1417320"/>
            <a:ext cx="1433474"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9530" y="1508760"/>
            <a:ext cx="1323746" cy="850392"/>
          </a:xfrm>
          <a:prstGeom prst="rect">
            <a:avLst/>
          </a:prstGeom>
          <a:noFill/>
        </p:spPr>
        <p:txBody>
          <a:bodyPr wrap="square" anchor="t" lIns="45720" rIns="45720" tIns="27432" bIns="27432">
            <a:spAutoFit/>
          </a:bodyPr>
          <a:lstStyle/>
          <a:p>
            <a:pPr algn="l">
              <a:spcAft>
                <a:spcPts val="260"/>
              </a:spcAft>
            </a:pPr>
            <a:r>
              <a:rPr sz="1300" b="1">
                <a:solidFill>
                  <a:srgbClr val="FF9E1F"/>
                </a:solidFill>
                <a:latin typeface="Segoe UI"/>
              </a:rPr>
              <a:t>2  </a:t>
            </a:r>
            <a:r>
              <a:rPr sz="1300" b="1">
                <a:solidFill>
                  <a:srgbClr val="FFFFFF"/>
                </a:solidFill>
                <a:latin typeface="Segoe UI"/>
              </a:rPr>
              <a:t>Dijkstra</a:t>
            </a:r>
          </a:p>
          <a:p>
            <a:pPr algn="l">
              <a:spcAft>
                <a:spcPts val="260"/>
              </a:spcAft>
            </a:pPr>
            <a:r>
              <a:rPr sz="1300" b="0">
                <a:solidFill>
                  <a:srgbClr val="A8B0BA"/>
                </a:solidFill>
                <a:latin typeface="Segoe UI"/>
              </a:rPr>
              <a:t>cost + exposure</a:t>
            </a:r>
          </a:p>
        </p:txBody>
      </p:sp>
      <p:sp>
        <p:nvSpPr>
          <p:cNvPr id="15" name="Right Arrow 14"/>
          <p:cNvSpPr/>
          <p:nvPr/>
        </p:nvSpPr>
        <p:spPr>
          <a:xfrm>
            <a:off x="10090708" y="1760220"/>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301020" y="1417320"/>
            <a:ext cx="1433474" cy="960120"/>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1020" y="1417320"/>
            <a:ext cx="1433474"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55884" y="1508760"/>
            <a:ext cx="1323746" cy="850392"/>
          </a:xfrm>
          <a:prstGeom prst="rect">
            <a:avLst/>
          </a:prstGeom>
          <a:noFill/>
        </p:spPr>
        <p:txBody>
          <a:bodyPr wrap="square" anchor="t" lIns="45720" rIns="45720" tIns="27432" bIns="27432">
            <a:spAutoFit/>
          </a:bodyPr>
          <a:lstStyle/>
          <a:p>
            <a:pPr algn="l">
              <a:spcAft>
                <a:spcPts val="260"/>
              </a:spcAft>
            </a:pPr>
            <a:r>
              <a:rPr sz="1300" b="1">
                <a:solidFill>
                  <a:srgbClr val="FF9E1F"/>
                </a:solidFill>
                <a:latin typeface="Segoe UI"/>
              </a:rPr>
              <a:t>3  </a:t>
            </a:r>
            <a:r>
              <a:rPr sz="1300" b="1">
                <a:solidFill>
                  <a:srgbClr val="FFFFFF"/>
                </a:solidFill>
                <a:latin typeface="Segoe UI"/>
              </a:rPr>
              <a:t>Line follow</a:t>
            </a:r>
          </a:p>
          <a:p>
            <a:pPr algn="l">
              <a:spcAft>
                <a:spcPts val="260"/>
              </a:spcAft>
            </a:pPr>
            <a:r>
              <a:rPr sz="1300" b="0">
                <a:solidFill>
                  <a:srgbClr val="A8B0BA"/>
                </a:solidFill>
                <a:latin typeface="Segoe UI"/>
              </a:rPr>
              <a:t>5-sensor PD</a:t>
            </a:r>
          </a:p>
        </p:txBody>
      </p:sp>
      <p:graphicFrame>
        <p:nvGraphicFramePr>
          <p:cNvPr id="19" name="Table 18"/>
          <p:cNvGraphicFramePr>
            <a:graphicFrameLocks noGrp="1"/>
          </p:cNvGraphicFramePr>
          <p:nvPr/>
        </p:nvGraphicFramePr>
        <p:xfrm>
          <a:off x="7068312" y="2542032"/>
          <a:ext cx="4666183" cy="2103120"/>
        </p:xfrm>
        <a:graphic>
          <a:graphicData uri="http://schemas.openxmlformats.org/drawingml/2006/table">
            <a:tbl>
              <a:tblPr firstRow="1">
                <a:tableStyleId>{2D5ABB26-0587-4C30-8999-92F81FD0307C}</a:tableStyleId>
              </a:tblPr>
              <a:tblGrid>
                <a:gridCol w="1234440"/>
                <a:gridCol w="1694383"/>
                <a:gridCol w="1051560"/>
                <a:gridCol w="685800"/>
              </a:tblGrid>
              <a:tr h="420624">
                <a:tc>
                  <a:txBody>
                    <a:bodyPr wrap="square"/>
                    <a:lstStyle/>
                    <a:p>
                      <a:pPr algn="l"/>
                      <a:r>
                        <a:rPr sz="1200" b="1">
                          <a:solidFill>
                            <a:srgbClr val="FF9E1F"/>
                          </a:solidFill>
                          <a:latin typeface="Segoe UI"/>
                        </a:rPr>
                        <a:t>Algorithm</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Segoe UI"/>
                        </a:rPr>
                        <a:t>In the code</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Segoe UI"/>
                        </a:rPr>
                        <a:t>Time</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Segoe UI"/>
                        </a:rPr>
                        <a:t>Space</a:t>
                      </a:r>
                    </a:p>
                  </a:txBody>
                  <a:tcPr marL="109728" marR="109728" marT="27432" marB="27432" anchor="ctr">
                    <a:lnL w="0">
                      <a:noFill/>
                    </a:lnL>
                    <a:lnR w="0">
                      <a:noFill/>
                    </a:lnR>
                    <a:lnT w="0">
                      <a:noFill/>
                    </a:lnT>
                    <a:lnB w="19050" cap="flat" cmpd="sng">
                      <a:solidFill>
                        <a:srgbClr val="FF9E1F"/>
                      </a:solidFill>
                    </a:lnB>
                    <a:solidFill>
                      <a:srgbClr val="14181E"/>
                    </a:solidFill>
                  </a:tcPr>
                </a:tc>
              </a:tr>
              <a:tr h="420624">
                <a:tc>
                  <a:txBody>
                    <a:bodyPr wrap="square"/>
                    <a:lstStyle/>
                    <a:p>
                      <a:pPr algn="l"/>
                      <a:r>
                        <a:rPr sz="1300" b="1">
                          <a:solidFill>
                            <a:srgbClr val="FFFFFF"/>
                          </a:solidFill>
                          <a:latin typeface="Segoe UI"/>
                        </a:rPr>
                        <a:t>Flood fill</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Segoe UI"/>
                        </a:rPr>
                        <a:t>BFS (breadth-first)</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Segoe UI"/>
                        </a:rPr>
                        <a:t>O(N)</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Segoe UI"/>
                        </a:rPr>
                        <a:t>O(N)</a:t>
                      </a:r>
                    </a:p>
                  </a:txBody>
                  <a:tcPr marL="109728" marR="109728" marT="27432" marB="27432" anchor="ctr">
                    <a:lnL w="0">
                      <a:noFill/>
                    </a:lnL>
                    <a:lnR w="0">
                      <a:noFill/>
                    </a:lnR>
                    <a:lnT w="0">
                      <a:noFill/>
                    </a:lnT>
                    <a:lnB w="9525" cap="flat" cmpd="sng">
                      <a:solidFill>
                        <a:srgbClr val="2A313A"/>
                      </a:solidFill>
                    </a:lnB>
                    <a:solidFill>
                      <a:srgbClr val="0F1217"/>
                    </a:solidFill>
                  </a:tcPr>
                </a:tc>
              </a:tr>
              <a:tr h="420624">
                <a:tc>
                  <a:txBody>
                    <a:bodyPr wrap="square"/>
                    <a:lstStyle/>
                    <a:p>
                      <a:pPr algn="l"/>
                      <a:r>
                        <a:rPr sz="1300" b="1">
                          <a:solidFill>
                            <a:srgbClr val="FFFFFF"/>
                          </a:solidFill>
                          <a:latin typeface="Segoe UI"/>
                        </a:rPr>
                        <a:t>Dijkstra</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FFFF"/>
                          </a:solidFill>
                          <a:latin typeface="Segoe UI"/>
                        </a:rPr>
                        <a:t>binary heap (priority queue)</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Segoe UI"/>
                        </a:rPr>
                        <a:t>O(N log N)</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Segoe UI"/>
                        </a:rPr>
                        <a:t>O(N)</a:t>
                      </a:r>
                    </a:p>
                  </a:txBody>
                  <a:tcPr marL="109728" marR="109728" marT="27432" marB="27432" anchor="ctr">
                    <a:lnL w="0">
                      <a:noFill/>
                    </a:lnL>
                    <a:lnR w="0">
                      <a:noFill/>
                    </a:lnR>
                    <a:lnT w="0">
                      <a:noFill/>
                    </a:lnT>
                    <a:lnB w="9525" cap="flat" cmpd="sng">
                      <a:solidFill>
                        <a:srgbClr val="2A313A"/>
                      </a:solidFill>
                    </a:lnB>
                    <a:solidFill>
                      <a:srgbClr val="080A0D"/>
                    </a:solidFill>
                  </a:tcPr>
                </a:tc>
              </a:tr>
              <a:tr h="420624">
                <a:tc>
                  <a:txBody>
                    <a:bodyPr wrap="square"/>
                    <a:lstStyle/>
                    <a:p>
                      <a:pPr algn="l"/>
                      <a:r>
                        <a:rPr sz="1300" b="1">
                          <a:solidFill>
                            <a:srgbClr val="FFFFFF"/>
                          </a:solidFill>
                          <a:latin typeface="Segoe UI"/>
                        </a:rPr>
                        <a:t>Path</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Segoe UI"/>
                        </a:rPr>
                        <a:t>steepest descent, L cells</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Segoe UI"/>
                        </a:rPr>
                        <a:t>O(L)</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Segoe UI"/>
                        </a:rPr>
                        <a:t>O(L)</a:t>
                      </a:r>
                    </a:p>
                  </a:txBody>
                  <a:tcPr marL="109728" marR="109728" marT="27432" marB="27432" anchor="ctr">
                    <a:lnL w="0">
                      <a:noFill/>
                    </a:lnL>
                    <a:lnR w="0">
                      <a:noFill/>
                    </a:lnR>
                    <a:lnT w="0">
                      <a:noFill/>
                    </a:lnT>
                    <a:lnB w="9525" cap="flat" cmpd="sng">
                      <a:solidFill>
                        <a:srgbClr val="2A313A"/>
                      </a:solidFill>
                    </a:lnB>
                    <a:solidFill>
                      <a:srgbClr val="0F1217"/>
                    </a:solidFill>
                  </a:tcPr>
                </a:tc>
              </a:tr>
              <a:tr h="420624">
                <a:tc>
                  <a:txBody>
                    <a:bodyPr wrap="square"/>
                    <a:lstStyle/>
                    <a:p>
                      <a:pPr algn="l"/>
                      <a:r>
                        <a:rPr sz="1300" b="1">
                          <a:solidFill>
                            <a:srgbClr val="FFFFFF"/>
                          </a:solidFill>
                          <a:latin typeface="Segoe UI"/>
                        </a:rPr>
                        <a:t>Line follower</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FFFF"/>
                          </a:solidFill>
                          <a:latin typeface="Segoe UI"/>
                        </a:rPr>
                        <a:t>5 sensors × M line points</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Segoe UI"/>
                        </a:rPr>
                        <a:t>O(M)</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Segoe UI"/>
                        </a:rPr>
                        <a:t>O(M)</a:t>
                      </a:r>
                    </a:p>
                  </a:txBody>
                  <a:tcPr marL="109728" marR="109728" marT="27432" marB="27432" anchor="ctr">
                    <a:lnL w="0">
                      <a:noFill/>
                    </a:lnL>
                    <a:lnR w="0">
                      <a:noFill/>
                    </a:lnR>
                    <a:lnT w="0">
                      <a:noFill/>
                    </a:lnT>
                    <a:lnB w="9525" cap="flat" cmpd="sng">
                      <a:solidFill>
                        <a:srgbClr val="2A313A"/>
                      </a:solidFill>
                    </a:lnB>
                    <a:solidFill>
                      <a:srgbClr val="080A0D"/>
                    </a:solidFill>
                  </a:tcPr>
                </a:tc>
              </a:tr>
            </a:tbl>
          </a:graphicData>
        </a:graphic>
      </p:graphicFrame>
      <p:sp>
        <p:nvSpPr>
          <p:cNvPr id="20" name="TextBox 19"/>
          <p:cNvSpPr txBox="1"/>
          <p:nvPr/>
        </p:nvSpPr>
        <p:spPr>
          <a:xfrm>
            <a:off x="7068312" y="4700016"/>
            <a:ext cx="4666183" cy="256032"/>
          </a:xfrm>
          <a:prstGeom prst="rect">
            <a:avLst/>
          </a:prstGeom>
          <a:noFill/>
        </p:spPr>
        <p:txBody>
          <a:bodyPr wrap="square" anchor="t" lIns="45720" rIns="45720" tIns="27432" bIns="27432">
            <a:spAutoFit/>
          </a:bodyPr>
          <a:lstStyle/>
          <a:p>
            <a:pPr algn="l">
              <a:spcAft>
                <a:spcPts val="359"/>
              </a:spcAft>
            </a:pPr>
            <a:r>
              <a:rPr sz="1200" b="0">
                <a:solidFill>
                  <a:srgbClr val="A8B0BA"/>
                </a:solidFill>
                <a:latin typeface="Segoe UI"/>
              </a:rPr>
              <a:t>N = 80 × 80 = 6,400 cells (0.5 m);  line follower: per frame</a:t>
            </a:r>
          </a:p>
        </p:txBody>
      </p:sp>
      <p:sp>
        <p:nvSpPr>
          <p:cNvPr id="21" name="Rectangle 20"/>
          <p:cNvSpPr/>
          <p:nvPr/>
        </p:nvSpPr>
        <p:spPr>
          <a:xfrm>
            <a:off x="7114032" y="5084064"/>
            <a:ext cx="91440" cy="9144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480" y="4974336"/>
            <a:ext cx="4465015" cy="347472"/>
          </a:xfrm>
          <a:prstGeom prst="rect">
            <a:avLst/>
          </a:prstGeom>
          <a:noFill/>
        </p:spPr>
        <p:txBody>
          <a:bodyPr wrap="square" anchor="t" lIns="45720" rIns="45720" tIns="27432" bIns="27432">
            <a:spAutoFit/>
          </a:bodyPr>
          <a:lstStyle/>
          <a:p>
            <a:pPr algn="l">
              <a:spcAft>
                <a:spcPts val="450"/>
              </a:spcAft>
            </a:pPr>
            <a:r>
              <a:rPr sz="1500" b="0">
                <a:solidFill>
                  <a:srgbClr val="FFFFFF"/>
                </a:solidFill>
                <a:latin typeface="Segoe UI"/>
              </a:rPr>
              <a:t>Re-plans every 0.4 s hiding, 1.6 s infiltrating</a:t>
            </a:r>
          </a:p>
        </p:txBody>
      </p:sp>
      <p:sp>
        <p:nvSpPr>
          <p:cNvPr id="23" name="Rectangle 22"/>
          <p:cNvSpPr/>
          <p:nvPr/>
        </p:nvSpPr>
        <p:spPr>
          <a:xfrm>
            <a:off x="7114032" y="5449824"/>
            <a:ext cx="91440" cy="9144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9480" y="5340096"/>
            <a:ext cx="4465015" cy="347472"/>
          </a:xfrm>
          <a:prstGeom prst="rect">
            <a:avLst/>
          </a:prstGeom>
          <a:noFill/>
        </p:spPr>
        <p:txBody>
          <a:bodyPr wrap="square" anchor="t" lIns="45720" rIns="45720" tIns="27432" bIns="27432">
            <a:spAutoFit/>
          </a:bodyPr>
          <a:lstStyle/>
          <a:p>
            <a:pPr algn="l">
              <a:spcAft>
                <a:spcPts val="450"/>
              </a:spcAft>
            </a:pPr>
            <a:r>
              <a:rPr sz="1500" b="0">
                <a:solidFill>
                  <a:srgbClr val="FFFFFF"/>
                </a:solidFill>
                <a:latin typeface="Segoe UI"/>
              </a:rPr>
              <a:t>PD steering: Kp 3.2, Kd 0.25</a:t>
            </a:r>
          </a:p>
        </p:txBody>
      </p:sp>
      <p:sp>
        <p:nvSpPr>
          <p:cNvPr id="25" name="TextBox 24"/>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26" name="TextBox 25"/>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8229600" cy="292608"/>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Segoe UI"/>
              </a:rPr>
              <a:t>8  |  THERMAL IMAGE TO TRACKS</a:t>
            </a:r>
          </a:p>
        </p:txBody>
      </p:sp>
      <p:sp>
        <p:nvSpPr>
          <p:cNvPr id="4" name="TextBox 3"/>
          <p:cNvSpPr txBox="1"/>
          <p:nvPr/>
        </p:nvSpPr>
        <p:spPr>
          <a:xfrm>
            <a:off x="457200" y="475488"/>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Segoe UI"/>
              </a:rPr>
              <a:t>Computer vision that tracks in real time</a:t>
            </a:r>
          </a:p>
        </p:txBody>
      </p:sp>
      <p:pic>
        <p:nvPicPr>
          <p:cNvPr id="5" name="Picture 4" descr="img025.jpg"/>
          <p:cNvPicPr>
            <a:picLocks noChangeAspect="1"/>
          </p:cNvPicPr>
          <p:nvPr/>
        </p:nvPicPr>
        <p:blipFill>
          <a:blip r:embed="rId3"/>
          <a:stretch>
            <a:fillRect/>
          </a:stretch>
        </p:blipFill>
        <p:spPr>
          <a:xfrm>
            <a:off x="457200" y="1417320"/>
            <a:ext cx="2057400" cy="1481328"/>
          </a:xfrm>
          <a:prstGeom prst="rect">
            <a:avLst/>
          </a:prstGeom>
        </p:spPr>
      </p:pic>
      <p:sp>
        <p:nvSpPr>
          <p:cNvPr id="6" name="Rectangle 5"/>
          <p:cNvSpPr/>
          <p:nvPr/>
        </p:nvSpPr>
        <p:spPr>
          <a:xfrm>
            <a:off x="457200" y="141732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1732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1</a:t>
            </a:r>
          </a:p>
        </p:txBody>
      </p:sp>
      <p:sp>
        <p:nvSpPr>
          <p:cNvPr id="8" name="Rectangle 7"/>
          <p:cNvSpPr/>
          <p:nvPr/>
        </p:nvSpPr>
        <p:spPr>
          <a:xfrm>
            <a:off x="457200" y="2898648"/>
            <a:ext cx="2057400" cy="713232"/>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89864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953512"/>
            <a:ext cx="1911095" cy="640080"/>
          </a:xfrm>
          <a:prstGeom prst="rect">
            <a:avLst/>
          </a:prstGeom>
          <a:noFill/>
        </p:spPr>
        <p:txBody>
          <a:bodyPr wrap="square" anchor="t" lIns="45720" rIns="45720" tIns="27432" bIns="27432">
            <a:spAutoFit/>
          </a:bodyPr>
          <a:lstStyle/>
          <a:p>
            <a:pPr algn="l">
              <a:spcAft>
                <a:spcPts val="168"/>
              </a:spcAft>
            </a:pPr>
            <a:r>
              <a:rPr sz="1400" b="1">
                <a:solidFill>
                  <a:srgbClr val="FFFFFF"/>
                </a:solidFill>
                <a:latin typeface="Segoe UI"/>
              </a:rPr>
              <a:t>Thermal image</a:t>
            </a:r>
          </a:p>
          <a:p>
            <a:pPr algn="l">
              <a:spcAft>
                <a:spcPts val="168"/>
              </a:spcAft>
            </a:pPr>
            <a:r>
              <a:rPr sz="1400" b="0">
                <a:solidFill>
                  <a:srgbClr val="A8B0BA"/>
                </a:solidFill>
                <a:latin typeface="Segoe UI"/>
              </a:rPr>
              <a:t>320 × 240 per camera</a:t>
            </a:r>
          </a:p>
        </p:txBody>
      </p:sp>
      <p:sp>
        <p:nvSpPr>
          <p:cNvPr id="11" name="Right Arrow 10"/>
          <p:cNvSpPr/>
          <p:nvPr/>
        </p:nvSpPr>
        <p:spPr>
          <a:xfrm>
            <a:off x="2519514" y="2020824"/>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26.jpg"/>
          <p:cNvPicPr>
            <a:picLocks noChangeAspect="1"/>
          </p:cNvPicPr>
          <p:nvPr/>
        </p:nvPicPr>
        <p:blipFill>
          <a:blip r:embed="rId4"/>
          <a:stretch>
            <a:fillRect/>
          </a:stretch>
        </p:blipFill>
        <p:spPr>
          <a:xfrm>
            <a:off x="2762173" y="1417320"/>
            <a:ext cx="2057400" cy="1481328"/>
          </a:xfrm>
          <a:prstGeom prst="rect">
            <a:avLst/>
          </a:prstGeom>
        </p:spPr>
      </p:pic>
      <p:sp>
        <p:nvSpPr>
          <p:cNvPr id="13" name="Rectangle 12"/>
          <p:cNvSpPr/>
          <p:nvPr/>
        </p:nvSpPr>
        <p:spPr>
          <a:xfrm>
            <a:off x="2762173" y="141732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62173" y="141732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2</a:t>
            </a:r>
          </a:p>
        </p:txBody>
      </p:sp>
      <p:sp>
        <p:nvSpPr>
          <p:cNvPr id="15" name="Rectangle 14"/>
          <p:cNvSpPr/>
          <p:nvPr/>
        </p:nvSpPr>
        <p:spPr>
          <a:xfrm>
            <a:off x="2762173" y="2898648"/>
            <a:ext cx="2057400" cy="713232"/>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62173" y="289864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35325" y="2953512"/>
            <a:ext cx="1911095" cy="640080"/>
          </a:xfrm>
          <a:prstGeom prst="rect">
            <a:avLst/>
          </a:prstGeom>
          <a:noFill/>
        </p:spPr>
        <p:txBody>
          <a:bodyPr wrap="square" anchor="t" lIns="45720" rIns="45720" tIns="27432" bIns="27432">
            <a:spAutoFit/>
          </a:bodyPr>
          <a:lstStyle/>
          <a:p>
            <a:pPr algn="l">
              <a:spcAft>
                <a:spcPts val="168"/>
              </a:spcAft>
            </a:pPr>
            <a:r>
              <a:rPr sz="1400" b="1">
                <a:solidFill>
                  <a:srgbClr val="FFFFFF"/>
                </a:solidFill>
                <a:latin typeface="Segoe UI"/>
              </a:rPr>
              <a:t>Threshold</a:t>
            </a:r>
          </a:p>
          <a:p>
            <a:pPr algn="l">
              <a:spcAft>
                <a:spcPts val="168"/>
              </a:spcAft>
            </a:pPr>
            <a:r>
              <a:rPr sz="1400" b="0">
                <a:solidFill>
                  <a:srgbClr val="A8B0BA"/>
                </a:solidFill>
                <a:latin typeface="Segoe UI"/>
              </a:rPr>
              <a:t>Otsu, floor 204/255</a:t>
            </a:r>
          </a:p>
        </p:txBody>
      </p:sp>
      <p:sp>
        <p:nvSpPr>
          <p:cNvPr id="18" name="Right Arrow 17"/>
          <p:cNvSpPr/>
          <p:nvPr/>
        </p:nvSpPr>
        <p:spPr>
          <a:xfrm>
            <a:off x="4824488" y="2020824"/>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g027.jpg"/>
          <p:cNvPicPr>
            <a:picLocks noChangeAspect="1"/>
          </p:cNvPicPr>
          <p:nvPr/>
        </p:nvPicPr>
        <p:blipFill>
          <a:blip r:embed="rId5"/>
          <a:stretch>
            <a:fillRect/>
          </a:stretch>
        </p:blipFill>
        <p:spPr>
          <a:xfrm>
            <a:off x="5067147" y="1417320"/>
            <a:ext cx="2057400" cy="1481328"/>
          </a:xfrm>
          <a:prstGeom prst="rect">
            <a:avLst/>
          </a:prstGeom>
        </p:spPr>
      </p:pic>
      <p:sp>
        <p:nvSpPr>
          <p:cNvPr id="20" name="Rectangle 19"/>
          <p:cNvSpPr/>
          <p:nvPr/>
        </p:nvSpPr>
        <p:spPr>
          <a:xfrm>
            <a:off x="5067147" y="141732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67147" y="141732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3</a:t>
            </a:r>
          </a:p>
        </p:txBody>
      </p:sp>
      <p:sp>
        <p:nvSpPr>
          <p:cNvPr id="22" name="Rectangle 21"/>
          <p:cNvSpPr/>
          <p:nvPr/>
        </p:nvSpPr>
        <p:spPr>
          <a:xfrm>
            <a:off x="5067147" y="2898648"/>
            <a:ext cx="2057400" cy="713232"/>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67147" y="289864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0299" y="2953512"/>
            <a:ext cx="1911095" cy="640080"/>
          </a:xfrm>
          <a:prstGeom prst="rect">
            <a:avLst/>
          </a:prstGeom>
          <a:noFill/>
        </p:spPr>
        <p:txBody>
          <a:bodyPr wrap="square" anchor="t" lIns="45720" rIns="45720" tIns="27432" bIns="27432">
            <a:spAutoFit/>
          </a:bodyPr>
          <a:lstStyle/>
          <a:p>
            <a:pPr algn="l">
              <a:spcAft>
                <a:spcPts val="168"/>
              </a:spcAft>
            </a:pPr>
            <a:r>
              <a:rPr sz="1400" b="1">
                <a:solidFill>
                  <a:srgbClr val="FFFFFF"/>
                </a:solidFill>
                <a:latin typeface="Segoe UI"/>
              </a:rPr>
              <a:t>Blobs</a:t>
            </a:r>
          </a:p>
          <a:p>
            <a:pPr algn="l">
              <a:spcAft>
                <a:spcPts val="168"/>
              </a:spcAft>
            </a:pPr>
            <a:r>
              <a:rPr sz="1400" b="0">
                <a:solidFill>
                  <a:srgbClr val="A8B0BA"/>
                </a:solidFill>
                <a:latin typeface="Segoe UI"/>
              </a:rPr>
              <a:t>union-find, moments</a:t>
            </a:r>
          </a:p>
        </p:txBody>
      </p:sp>
      <p:sp>
        <p:nvSpPr>
          <p:cNvPr id="25" name="Right Arrow 24"/>
          <p:cNvSpPr/>
          <p:nvPr/>
        </p:nvSpPr>
        <p:spPr>
          <a:xfrm>
            <a:off x="7129462" y="2020824"/>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g028.jpg"/>
          <p:cNvPicPr>
            <a:picLocks noChangeAspect="1"/>
          </p:cNvPicPr>
          <p:nvPr/>
        </p:nvPicPr>
        <p:blipFill>
          <a:blip r:embed="rId6"/>
          <a:stretch>
            <a:fillRect/>
          </a:stretch>
        </p:blipFill>
        <p:spPr>
          <a:xfrm>
            <a:off x="7372121" y="1417320"/>
            <a:ext cx="2057400" cy="1481328"/>
          </a:xfrm>
          <a:prstGeom prst="rect">
            <a:avLst/>
          </a:prstGeom>
        </p:spPr>
      </p:pic>
      <p:sp>
        <p:nvSpPr>
          <p:cNvPr id="27" name="Rectangle 26"/>
          <p:cNvSpPr/>
          <p:nvPr/>
        </p:nvSpPr>
        <p:spPr>
          <a:xfrm>
            <a:off x="7372121" y="141732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72121" y="141732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4</a:t>
            </a:r>
          </a:p>
        </p:txBody>
      </p:sp>
      <p:sp>
        <p:nvSpPr>
          <p:cNvPr id="29" name="Rectangle 28"/>
          <p:cNvSpPr/>
          <p:nvPr/>
        </p:nvSpPr>
        <p:spPr>
          <a:xfrm>
            <a:off x="7372121" y="2898648"/>
            <a:ext cx="2057400" cy="713232"/>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72121" y="289864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45273" y="2953512"/>
            <a:ext cx="1911095" cy="640080"/>
          </a:xfrm>
          <a:prstGeom prst="rect">
            <a:avLst/>
          </a:prstGeom>
          <a:noFill/>
        </p:spPr>
        <p:txBody>
          <a:bodyPr wrap="square" anchor="t" lIns="45720" rIns="45720" tIns="27432" bIns="27432">
            <a:spAutoFit/>
          </a:bodyPr>
          <a:lstStyle/>
          <a:p>
            <a:pPr algn="l">
              <a:spcAft>
                <a:spcPts val="168"/>
              </a:spcAft>
            </a:pPr>
            <a:r>
              <a:rPr sz="1400" b="1">
                <a:solidFill>
                  <a:srgbClr val="FFFFFF"/>
                </a:solidFill>
                <a:latin typeface="Segoe UI"/>
              </a:rPr>
              <a:t>Tracker</a:t>
            </a:r>
          </a:p>
          <a:p>
            <a:pPr algn="l">
              <a:spcAft>
                <a:spcPts val="168"/>
              </a:spcAft>
            </a:pPr>
            <a:r>
              <a:rPr sz="1400" b="0">
                <a:solidFill>
                  <a:srgbClr val="A8B0BA"/>
                </a:solidFill>
                <a:latin typeface="Segoe UI"/>
              </a:rPr>
              <a:t>Kalman + association</a:t>
            </a:r>
          </a:p>
        </p:txBody>
      </p:sp>
      <p:sp>
        <p:nvSpPr>
          <p:cNvPr id="32" name="Right Arrow 31"/>
          <p:cNvSpPr/>
          <p:nvPr/>
        </p:nvSpPr>
        <p:spPr>
          <a:xfrm>
            <a:off x="9434436" y="2020824"/>
            <a:ext cx="237744" cy="274320"/>
          </a:xfrm>
          <a:prstGeom prst="rightArrow">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mg029.jpg"/>
          <p:cNvPicPr>
            <a:picLocks noChangeAspect="1"/>
          </p:cNvPicPr>
          <p:nvPr/>
        </p:nvPicPr>
        <p:blipFill>
          <a:blip r:embed="rId7"/>
          <a:stretch>
            <a:fillRect/>
          </a:stretch>
        </p:blipFill>
        <p:spPr>
          <a:xfrm>
            <a:off x="9677095" y="1417320"/>
            <a:ext cx="2057400" cy="1481328"/>
          </a:xfrm>
          <a:prstGeom prst="rect">
            <a:avLst/>
          </a:prstGeom>
        </p:spPr>
      </p:pic>
      <p:sp>
        <p:nvSpPr>
          <p:cNvPr id="34" name="Rectangle 33"/>
          <p:cNvSpPr/>
          <p:nvPr/>
        </p:nvSpPr>
        <p:spPr>
          <a:xfrm>
            <a:off x="9677095" y="1417320"/>
            <a:ext cx="329184" cy="3291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7095" y="1417320"/>
            <a:ext cx="329184" cy="329184"/>
          </a:xfrm>
          <a:prstGeom prst="rect">
            <a:avLst/>
          </a:prstGeom>
          <a:noFill/>
        </p:spPr>
        <p:txBody>
          <a:bodyPr wrap="square" anchor="ctr" lIns="45720" rIns="45720" tIns="27432" bIns="27432">
            <a:spAutoFit/>
          </a:bodyPr>
          <a:lstStyle/>
          <a:p>
            <a:pPr algn="ctr">
              <a:spcAft>
                <a:spcPts val="480"/>
              </a:spcAft>
            </a:pPr>
            <a:r>
              <a:rPr sz="1600" b="1">
                <a:solidFill>
                  <a:srgbClr val="080A0D"/>
                </a:solidFill>
                <a:latin typeface="Segoe UI"/>
              </a:rPr>
              <a:t>5</a:t>
            </a:r>
          </a:p>
        </p:txBody>
      </p:sp>
      <p:sp>
        <p:nvSpPr>
          <p:cNvPr id="36" name="Rectangle 35"/>
          <p:cNvSpPr/>
          <p:nvPr/>
        </p:nvSpPr>
        <p:spPr>
          <a:xfrm>
            <a:off x="9677095" y="2898648"/>
            <a:ext cx="2057400" cy="713232"/>
          </a:xfrm>
          <a:prstGeom prst="rect">
            <a:avLst/>
          </a:prstGeom>
          <a:solidFill>
            <a:srgbClr val="1418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677095" y="2898648"/>
            <a:ext cx="2057400" cy="36576"/>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50247" y="2953512"/>
            <a:ext cx="1911095" cy="640080"/>
          </a:xfrm>
          <a:prstGeom prst="rect">
            <a:avLst/>
          </a:prstGeom>
          <a:noFill/>
        </p:spPr>
        <p:txBody>
          <a:bodyPr wrap="square" anchor="t" lIns="45720" rIns="45720" tIns="27432" bIns="27432">
            <a:spAutoFit/>
          </a:bodyPr>
          <a:lstStyle/>
          <a:p>
            <a:pPr algn="l">
              <a:spcAft>
                <a:spcPts val="168"/>
              </a:spcAft>
            </a:pPr>
            <a:r>
              <a:rPr sz="1400" b="1">
                <a:solidFill>
                  <a:srgbClr val="FFFFFF"/>
                </a:solidFill>
                <a:latin typeface="Segoe UI"/>
              </a:rPr>
              <a:t>Track boxes</a:t>
            </a:r>
          </a:p>
          <a:p>
            <a:pPr algn="l">
              <a:spcAft>
                <a:spcPts val="168"/>
              </a:spcAft>
            </a:pPr>
            <a:r>
              <a:rPr sz="1400" b="0">
                <a:solidFill>
                  <a:srgbClr val="A8B0BA"/>
                </a:solidFill>
                <a:latin typeface="Segoe UI"/>
              </a:rPr>
              <a:t>identity &amp; range</a:t>
            </a:r>
          </a:p>
        </p:txBody>
      </p:sp>
      <p:pic>
        <p:nvPicPr>
          <p:cNvPr id="39" name="Picture 38" descr="img030.jpg"/>
          <p:cNvPicPr>
            <a:picLocks noChangeAspect="1"/>
          </p:cNvPicPr>
          <p:nvPr/>
        </p:nvPicPr>
        <p:blipFill>
          <a:blip r:embed="rId8"/>
          <a:stretch>
            <a:fillRect/>
          </a:stretch>
        </p:blipFill>
        <p:spPr>
          <a:xfrm>
            <a:off x="457200" y="3776472"/>
            <a:ext cx="4470400" cy="2514600"/>
          </a:xfrm>
          <a:prstGeom prst="rect">
            <a:avLst/>
          </a:prstGeom>
        </p:spPr>
      </p:pic>
      <p:sp>
        <p:nvSpPr>
          <p:cNvPr id="40" name="Rectangle 39"/>
          <p:cNvSpPr/>
          <p:nvPr/>
        </p:nvSpPr>
        <p:spPr>
          <a:xfrm>
            <a:off x="448056" y="5961888"/>
            <a:ext cx="4488688"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5961888"/>
            <a:ext cx="4378960"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Segoe UI"/>
              </a:rPr>
              <a:t>Through the UAV (uncrewed aerial vehicle) camera</a:t>
            </a:r>
          </a:p>
        </p:txBody>
      </p:sp>
      <p:graphicFrame>
        <p:nvGraphicFramePr>
          <p:cNvPr id="42" name="Table 41"/>
          <p:cNvGraphicFramePr>
            <a:graphicFrameLocks noGrp="1"/>
          </p:cNvGraphicFramePr>
          <p:nvPr/>
        </p:nvGraphicFramePr>
        <p:xfrm>
          <a:off x="5183632" y="3776472"/>
          <a:ext cx="6550863" cy="2084832"/>
        </p:xfrm>
        <a:graphic>
          <a:graphicData uri="http://schemas.openxmlformats.org/drawingml/2006/table">
            <a:tbl>
              <a:tblPr firstRow="1">
                <a:tableStyleId>{2D5ABB26-0587-4C30-8999-92F81FD0307C}</a:tableStyleId>
              </a:tblPr>
              <a:tblGrid>
                <a:gridCol w="1920240"/>
                <a:gridCol w="3761943"/>
                <a:gridCol w="868680"/>
              </a:tblGrid>
              <a:tr h="347472">
                <a:tc>
                  <a:txBody>
                    <a:bodyPr wrap="square"/>
                    <a:lstStyle/>
                    <a:p>
                      <a:pPr algn="l"/>
                      <a:r>
                        <a:rPr sz="1200" b="1">
                          <a:solidFill>
                            <a:srgbClr val="FF9E1F"/>
                          </a:solidFill>
                          <a:latin typeface="Segoe UI"/>
                        </a:rPr>
                        <a:t>Stage, every frame</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Segoe UI"/>
                        </a:rPr>
                        <a:t>Work</a:t>
                      </a:r>
                    </a:p>
                  </a:txBody>
                  <a:tcPr marL="109728" marR="109728" marT="27432" marB="27432" anchor="ctr">
                    <a:lnL w="0">
                      <a:noFill/>
                    </a:lnL>
                    <a:lnR w="0">
                      <a:noFill/>
                    </a:lnR>
                    <a:lnT w="0">
                      <a:noFill/>
                    </a:lnT>
                    <a:lnB w="19050" cap="flat" cmpd="sng">
                      <a:solidFill>
                        <a:srgbClr val="FF9E1F"/>
                      </a:solidFill>
                    </a:lnB>
                    <a:solidFill>
                      <a:srgbClr val="14181E"/>
                    </a:solidFill>
                  </a:tcPr>
                </a:tc>
                <a:tc>
                  <a:txBody>
                    <a:bodyPr wrap="square"/>
                    <a:lstStyle/>
                    <a:p>
                      <a:pPr algn="l"/>
                      <a:r>
                        <a:rPr sz="1200" b="1">
                          <a:solidFill>
                            <a:srgbClr val="FF9E1F"/>
                          </a:solidFill>
                          <a:latin typeface="Segoe UI"/>
                        </a:rPr>
                        <a:t>Cost</a:t>
                      </a:r>
                    </a:p>
                  </a:txBody>
                  <a:tcPr marL="109728" marR="109728" marT="27432" marB="27432" anchor="ctr">
                    <a:lnL w="0">
                      <a:noFill/>
                    </a:lnL>
                    <a:lnR w="0">
                      <a:noFill/>
                    </a:lnR>
                    <a:lnT w="0">
                      <a:noFill/>
                    </a:lnT>
                    <a:lnB w="19050" cap="flat" cmpd="sng">
                      <a:solidFill>
                        <a:srgbClr val="FF9E1F"/>
                      </a:solidFill>
                    </a:lnB>
                    <a:solidFill>
                      <a:srgbClr val="14181E"/>
                    </a:solidFill>
                  </a:tcPr>
                </a:tc>
              </a:tr>
              <a:tr h="347472">
                <a:tc>
                  <a:txBody>
                    <a:bodyPr wrap="square"/>
                    <a:lstStyle/>
                    <a:p>
                      <a:pPr algn="l"/>
                      <a:r>
                        <a:rPr sz="1300" b="1">
                          <a:solidFill>
                            <a:srgbClr val="FFFFFF"/>
                          </a:solidFill>
                          <a:latin typeface="Segoe UI"/>
                        </a:rPr>
                        <a:t>Threshold, despeckle</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Segoe UI"/>
                        </a:rPr>
                        <a:t>histogram, 3 × 3 neighbours</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Segoe UI"/>
                        </a:rPr>
                        <a:t>O(P)</a:t>
                      </a:r>
                    </a:p>
                  </a:txBody>
                  <a:tcPr marL="109728" marR="109728" marT="27432" marB="27432" anchor="ctr">
                    <a:lnL w="0">
                      <a:noFill/>
                    </a:lnL>
                    <a:lnR w="0">
                      <a:noFill/>
                    </a:lnR>
                    <a:lnT w="0">
                      <a:noFill/>
                    </a:lnT>
                    <a:lnB w="9525" cap="flat" cmpd="sng">
                      <a:solidFill>
                        <a:srgbClr val="2A313A"/>
                      </a:solidFill>
                    </a:lnB>
                    <a:solidFill>
                      <a:srgbClr val="0F1217"/>
                    </a:solidFill>
                  </a:tcPr>
                </a:tc>
              </a:tr>
              <a:tr h="347472">
                <a:tc>
                  <a:txBody>
                    <a:bodyPr wrap="square"/>
                    <a:lstStyle/>
                    <a:p>
                      <a:pPr algn="l"/>
                      <a:r>
                        <a:rPr sz="1300" b="1">
                          <a:solidFill>
                            <a:srgbClr val="FFFFFF"/>
                          </a:solidFill>
                          <a:latin typeface="Segoe UI"/>
                        </a:rPr>
                        <a:t>Blobs</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FFFF"/>
                          </a:solidFill>
                          <a:latin typeface="Segoe UI"/>
                        </a:rPr>
                        <a:t>two passes, union-find</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Segoe UI"/>
                        </a:rPr>
                        <a:t>≈ O(P)</a:t>
                      </a:r>
                    </a:p>
                  </a:txBody>
                  <a:tcPr marL="109728" marR="109728" marT="27432" marB="27432" anchor="ctr">
                    <a:lnL w="0">
                      <a:noFill/>
                    </a:lnL>
                    <a:lnR w="0">
                      <a:noFill/>
                    </a:lnR>
                    <a:lnT w="0">
                      <a:noFill/>
                    </a:lnT>
                    <a:lnB w="9525" cap="flat" cmpd="sng">
                      <a:solidFill>
                        <a:srgbClr val="2A313A"/>
                      </a:solidFill>
                    </a:lnB>
                    <a:solidFill>
                      <a:srgbClr val="080A0D"/>
                    </a:solidFill>
                  </a:tcPr>
                </a:tc>
              </a:tr>
              <a:tr h="347472">
                <a:tc>
                  <a:txBody>
                    <a:bodyPr wrap="square"/>
                    <a:lstStyle/>
                    <a:p>
                      <a:pPr algn="l"/>
                      <a:r>
                        <a:rPr sz="1300" b="1">
                          <a:solidFill>
                            <a:srgbClr val="FFFFFF"/>
                          </a:solidFill>
                          <a:latin typeface="Segoe UI"/>
                        </a:rPr>
                        <a:t>Kalman filter</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Segoe UI"/>
                        </a:rPr>
                        <a:t>state (x, z, vx, vz) per track</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Segoe UI"/>
                        </a:rPr>
                        <a:t>O(T)</a:t>
                      </a:r>
                    </a:p>
                  </a:txBody>
                  <a:tcPr marL="109728" marR="109728" marT="27432" marB="27432" anchor="ctr">
                    <a:lnL w="0">
                      <a:noFill/>
                    </a:lnL>
                    <a:lnR w="0">
                      <a:noFill/>
                    </a:lnR>
                    <a:lnT w="0">
                      <a:noFill/>
                    </a:lnT>
                    <a:lnB w="9525" cap="flat" cmpd="sng">
                      <a:solidFill>
                        <a:srgbClr val="2A313A"/>
                      </a:solidFill>
                    </a:lnB>
                    <a:solidFill>
                      <a:srgbClr val="0F1217"/>
                    </a:solidFill>
                  </a:tcPr>
                </a:tc>
              </a:tr>
              <a:tr h="347472">
                <a:tc>
                  <a:txBody>
                    <a:bodyPr wrap="square"/>
                    <a:lstStyle/>
                    <a:p>
                      <a:pPr algn="l"/>
                      <a:r>
                        <a:rPr sz="1300" b="1">
                          <a:solidFill>
                            <a:srgbClr val="FFFFFF"/>
                          </a:solidFill>
                          <a:latin typeface="Segoe UI"/>
                        </a:rPr>
                        <a:t>Data association</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FFFF"/>
                          </a:solidFill>
                          <a:latin typeface="Segoe UI"/>
                        </a:rPr>
                        <a:t>Hungarian, gate χ² = 9.21</a:t>
                      </a:r>
                    </a:p>
                  </a:txBody>
                  <a:tcPr marL="109728" marR="109728" marT="27432" marB="27432" anchor="ctr">
                    <a:lnL w="0">
                      <a:noFill/>
                    </a:lnL>
                    <a:lnR w="0">
                      <a:noFill/>
                    </a:lnR>
                    <a:lnT w="0">
                      <a:noFill/>
                    </a:lnT>
                    <a:lnB w="9525" cap="flat" cmpd="sng">
                      <a:solidFill>
                        <a:srgbClr val="2A313A"/>
                      </a:solidFill>
                    </a:lnB>
                    <a:solidFill>
                      <a:srgbClr val="080A0D"/>
                    </a:solidFill>
                  </a:tcPr>
                </a:tc>
                <a:tc>
                  <a:txBody>
                    <a:bodyPr wrap="square"/>
                    <a:lstStyle/>
                    <a:p>
                      <a:pPr algn="l"/>
                      <a:r>
                        <a:rPr sz="1300" b="0">
                          <a:solidFill>
                            <a:srgbClr val="FF9E1F"/>
                          </a:solidFill>
                          <a:latin typeface="Segoe UI"/>
                        </a:rPr>
                        <a:t>O(n³)</a:t>
                      </a:r>
                    </a:p>
                  </a:txBody>
                  <a:tcPr marL="109728" marR="109728" marT="27432" marB="27432" anchor="ctr">
                    <a:lnL w="0">
                      <a:noFill/>
                    </a:lnL>
                    <a:lnR w="0">
                      <a:noFill/>
                    </a:lnR>
                    <a:lnT w="0">
                      <a:noFill/>
                    </a:lnT>
                    <a:lnB w="9525" cap="flat" cmpd="sng">
                      <a:solidFill>
                        <a:srgbClr val="2A313A"/>
                      </a:solidFill>
                    </a:lnB>
                    <a:solidFill>
                      <a:srgbClr val="080A0D"/>
                    </a:solidFill>
                  </a:tcPr>
                </a:tc>
              </a:tr>
              <a:tr h="347472">
                <a:tc>
                  <a:txBody>
                    <a:bodyPr wrap="square"/>
                    <a:lstStyle/>
                    <a:p>
                      <a:pPr algn="l"/>
                      <a:r>
                        <a:rPr sz="1300" b="1">
                          <a:solidFill>
                            <a:srgbClr val="FFFFFF"/>
                          </a:solidFill>
                          <a:latin typeface="Segoe UI"/>
                        </a:rPr>
                        <a:t>Measured (benchmark)</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FFFF"/>
                          </a:solidFill>
                          <a:latin typeface="Segoe UI"/>
                        </a:rPr>
                        <a:t>both cameras, sensor + vision</a:t>
                      </a:r>
                    </a:p>
                  </a:txBody>
                  <a:tcPr marL="109728" marR="109728" marT="27432" marB="27432" anchor="ctr">
                    <a:lnL w="0">
                      <a:noFill/>
                    </a:lnL>
                    <a:lnR w="0">
                      <a:noFill/>
                    </a:lnR>
                    <a:lnT w="0">
                      <a:noFill/>
                    </a:lnT>
                    <a:lnB w="9525" cap="flat" cmpd="sng">
                      <a:solidFill>
                        <a:srgbClr val="2A313A"/>
                      </a:solidFill>
                    </a:lnB>
                    <a:solidFill>
                      <a:srgbClr val="0F1217"/>
                    </a:solidFill>
                  </a:tcPr>
                </a:tc>
                <a:tc>
                  <a:txBody>
                    <a:bodyPr wrap="square"/>
                    <a:lstStyle/>
                    <a:p>
                      <a:pPr algn="l"/>
                      <a:r>
                        <a:rPr sz="1300" b="0">
                          <a:solidFill>
                            <a:srgbClr val="FF9E1F"/>
                          </a:solidFill>
                          <a:latin typeface="Segoe UI"/>
                        </a:rPr>
                        <a:t>2.9 ms</a:t>
                      </a:r>
                    </a:p>
                  </a:txBody>
                  <a:tcPr marL="109728" marR="109728" marT="27432" marB="27432" anchor="ctr">
                    <a:lnL w="0">
                      <a:noFill/>
                    </a:lnL>
                    <a:lnR w="0">
                      <a:noFill/>
                    </a:lnR>
                    <a:lnT w="0">
                      <a:noFill/>
                    </a:lnT>
                    <a:lnB w="9525" cap="flat" cmpd="sng">
                      <a:solidFill>
                        <a:srgbClr val="2A313A"/>
                      </a:solidFill>
                    </a:lnB>
                    <a:solidFill>
                      <a:srgbClr val="0F1217"/>
                    </a:solidFill>
                  </a:tcPr>
                </a:tc>
              </a:tr>
            </a:tbl>
          </a:graphicData>
        </a:graphic>
      </p:graphicFrame>
      <p:sp>
        <p:nvSpPr>
          <p:cNvPr id="43" name="TextBox 42"/>
          <p:cNvSpPr txBox="1"/>
          <p:nvPr/>
        </p:nvSpPr>
        <p:spPr>
          <a:xfrm>
            <a:off x="5183632" y="5916168"/>
            <a:ext cx="6550863" cy="256032"/>
          </a:xfrm>
          <a:prstGeom prst="rect">
            <a:avLst/>
          </a:prstGeom>
          <a:noFill/>
        </p:spPr>
        <p:txBody>
          <a:bodyPr wrap="square" anchor="t" lIns="45720" rIns="45720" tIns="27432" bIns="27432">
            <a:spAutoFit/>
          </a:bodyPr>
          <a:lstStyle/>
          <a:p>
            <a:pPr algn="l">
              <a:spcAft>
                <a:spcPts val="359"/>
              </a:spcAft>
            </a:pPr>
            <a:r>
              <a:rPr sz="1200" b="0">
                <a:solidFill>
                  <a:srgbClr val="A8B0BA"/>
                </a:solidFill>
                <a:latin typeface="Segoe UI"/>
              </a:rPr>
              <a:t>P = 320 × 240 = 76,800 pixels;  T tracks;  n = tracks / blobs</a:t>
            </a:r>
          </a:p>
        </p:txBody>
      </p:sp>
      <p:sp>
        <p:nvSpPr>
          <p:cNvPr id="44" name="TextBox 43"/>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45" name="TextBox 44"/>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8229600" cy="292608"/>
          </a:xfrm>
          <a:prstGeom prst="rect">
            <a:avLst/>
          </a:prstGeom>
          <a:noFill/>
        </p:spPr>
        <p:txBody>
          <a:bodyPr wrap="square" anchor="t" lIns="45720" rIns="45720" tIns="27432" bIns="27432">
            <a:spAutoFit/>
          </a:bodyPr>
          <a:lstStyle/>
          <a:p>
            <a:pPr algn="l">
              <a:spcAft>
                <a:spcPts val="390"/>
              </a:spcAft>
            </a:pPr>
            <a:r>
              <a:rPr sz="1300" b="1">
                <a:solidFill>
                  <a:srgbClr val="FF9E1F"/>
                </a:solidFill>
                <a:latin typeface="Segoe UI"/>
              </a:rPr>
              <a:t>9  |  STRIKES AND VEHICLES</a:t>
            </a:r>
          </a:p>
        </p:txBody>
      </p:sp>
      <p:sp>
        <p:nvSpPr>
          <p:cNvPr id="4" name="TextBox 3"/>
          <p:cNvSpPr txBox="1"/>
          <p:nvPr/>
        </p:nvSpPr>
        <p:spPr>
          <a:xfrm>
            <a:off x="457200" y="475488"/>
            <a:ext cx="11277295" cy="731520"/>
          </a:xfrm>
          <a:prstGeom prst="rect">
            <a:avLst/>
          </a:prstGeom>
          <a:noFill/>
        </p:spPr>
        <p:txBody>
          <a:bodyPr wrap="square" anchor="t" lIns="45720" rIns="45720" tIns="27432" bIns="27432">
            <a:spAutoFit/>
          </a:bodyPr>
          <a:lstStyle/>
          <a:p>
            <a:pPr algn="l">
              <a:spcAft>
                <a:spcPts val="960"/>
              </a:spcAft>
            </a:pPr>
            <a:r>
              <a:rPr sz="3200" b="1">
                <a:solidFill>
                  <a:srgbClr val="FFFFFF"/>
                </a:solidFill>
                <a:latin typeface="Segoe UI"/>
              </a:rPr>
              <a:t>Autonomous defence and controllable vehicles</a:t>
            </a:r>
          </a:p>
        </p:txBody>
      </p:sp>
      <p:sp>
        <p:nvSpPr>
          <p:cNvPr id="5" name="Rectangle 4"/>
          <p:cNvSpPr/>
          <p:nvPr/>
        </p:nvSpPr>
        <p:spPr>
          <a:xfrm>
            <a:off x="457200" y="1444752"/>
            <a:ext cx="100584" cy="1005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44168"/>
            <a:ext cx="11094415" cy="310896"/>
          </a:xfrm>
          <a:prstGeom prst="rect">
            <a:avLst/>
          </a:prstGeom>
          <a:noFill/>
        </p:spPr>
        <p:txBody>
          <a:bodyPr wrap="square" anchor="ctr" lIns="45720" rIns="45720" tIns="27432" bIns="27432">
            <a:spAutoFit/>
          </a:bodyPr>
          <a:lstStyle/>
          <a:p>
            <a:pPr algn="l">
              <a:spcAft>
                <a:spcPts val="450"/>
              </a:spcAft>
            </a:pPr>
            <a:r>
              <a:rPr sz="1500" b="1">
                <a:solidFill>
                  <a:srgbClr val="FFFFFF"/>
                </a:solidFill>
                <a:latin typeface="Segoe UI"/>
              </a:rPr>
              <a:t>Autonomous: two UAVs (uncrewed aerial vehicles) strike from thermal tracks</a:t>
            </a:r>
          </a:p>
        </p:txBody>
      </p:sp>
      <p:pic>
        <p:nvPicPr>
          <p:cNvPr id="7" name="Picture 6" descr="img031.jpg"/>
          <p:cNvPicPr>
            <a:picLocks noChangeAspect="1"/>
          </p:cNvPicPr>
          <p:nvPr/>
        </p:nvPicPr>
        <p:blipFill>
          <a:blip r:embed="rId3"/>
          <a:stretch>
            <a:fillRect/>
          </a:stretch>
        </p:blipFill>
        <p:spPr>
          <a:xfrm>
            <a:off x="457200" y="1655064"/>
            <a:ext cx="3661562" cy="2059628"/>
          </a:xfrm>
          <a:prstGeom prst="rect">
            <a:avLst/>
          </a:prstGeom>
        </p:spPr>
      </p:pic>
      <p:sp>
        <p:nvSpPr>
          <p:cNvPr id="8" name="Rectangle 7"/>
          <p:cNvSpPr/>
          <p:nvPr/>
        </p:nvSpPr>
        <p:spPr>
          <a:xfrm>
            <a:off x="448056" y="3385508"/>
            <a:ext cx="3679850"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3385508"/>
            <a:ext cx="3570122"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Segoe UI"/>
              </a:rPr>
              <a:t>Thermal tracks</a:t>
            </a:r>
          </a:p>
        </p:txBody>
      </p:sp>
      <p:pic>
        <p:nvPicPr>
          <p:cNvPr id="10" name="Picture 9" descr="img032.jpg"/>
          <p:cNvPicPr>
            <a:picLocks noChangeAspect="1"/>
          </p:cNvPicPr>
          <p:nvPr/>
        </p:nvPicPr>
        <p:blipFill>
          <a:blip r:embed="rId4"/>
          <a:stretch>
            <a:fillRect/>
          </a:stretch>
        </p:blipFill>
        <p:spPr>
          <a:xfrm>
            <a:off x="4265066" y="1655064"/>
            <a:ext cx="3661562" cy="2059628"/>
          </a:xfrm>
          <a:prstGeom prst="rect">
            <a:avLst/>
          </a:prstGeom>
        </p:spPr>
      </p:pic>
      <p:sp>
        <p:nvSpPr>
          <p:cNvPr id="11" name="Rectangle 10"/>
          <p:cNvSpPr/>
          <p:nvPr/>
        </p:nvSpPr>
        <p:spPr>
          <a:xfrm>
            <a:off x="4255922" y="3385508"/>
            <a:ext cx="3679850"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10786" y="3385508"/>
            <a:ext cx="3570122"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Segoe UI"/>
              </a:rPr>
              <a:t>Single strike</a:t>
            </a:r>
          </a:p>
        </p:txBody>
      </p:sp>
      <p:pic>
        <p:nvPicPr>
          <p:cNvPr id="13" name="Picture 12" descr="img033.jpg"/>
          <p:cNvPicPr>
            <a:picLocks noChangeAspect="1"/>
          </p:cNvPicPr>
          <p:nvPr/>
        </p:nvPicPr>
        <p:blipFill>
          <a:blip r:embed="rId5"/>
          <a:stretch>
            <a:fillRect/>
          </a:stretch>
        </p:blipFill>
        <p:spPr>
          <a:xfrm>
            <a:off x="8072932" y="1655064"/>
            <a:ext cx="3661562" cy="2059628"/>
          </a:xfrm>
          <a:prstGeom prst="rect">
            <a:avLst/>
          </a:prstGeom>
        </p:spPr>
      </p:pic>
      <p:sp>
        <p:nvSpPr>
          <p:cNvPr id="14" name="Rectangle 13"/>
          <p:cNvSpPr/>
          <p:nvPr/>
        </p:nvSpPr>
        <p:spPr>
          <a:xfrm>
            <a:off x="8063788" y="3385508"/>
            <a:ext cx="3679850"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8652" y="3385508"/>
            <a:ext cx="3570122"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Segoe UI"/>
              </a:rPr>
              <a:t>Combined strike: both rounds together</a:t>
            </a:r>
          </a:p>
        </p:txBody>
      </p:sp>
      <p:sp>
        <p:nvSpPr>
          <p:cNvPr id="16" name="Rectangle 15"/>
          <p:cNvSpPr/>
          <p:nvPr/>
        </p:nvSpPr>
        <p:spPr>
          <a:xfrm>
            <a:off x="457200" y="3888428"/>
            <a:ext cx="100584" cy="100584"/>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787844"/>
            <a:ext cx="11094415" cy="310896"/>
          </a:xfrm>
          <a:prstGeom prst="rect">
            <a:avLst/>
          </a:prstGeom>
          <a:noFill/>
        </p:spPr>
        <p:txBody>
          <a:bodyPr wrap="square" anchor="ctr" lIns="45720" rIns="45720" tIns="27432" bIns="27432">
            <a:spAutoFit/>
          </a:bodyPr>
          <a:lstStyle/>
          <a:p>
            <a:pPr algn="l">
              <a:spcAft>
                <a:spcPts val="450"/>
              </a:spcAft>
            </a:pPr>
            <a:r>
              <a:rPr sz="1500" b="1">
                <a:solidFill>
                  <a:srgbClr val="FFFFFF"/>
                </a:solidFill>
                <a:latin typeface="Segoe UI"/>
              </a:rPr>
              <a:t>Playable: a soldier boards the tank, anti-aircraft gun or launcher (key E)</a:t>
            </a:r>
          </a:p>
        </p:txBody>
      </p:sp>
      <p:pic>
        <p:nvPicPr>
          <p:cNvPr id="18" name="Picture 17" descr="img034.jpg"/>
          <p:cNvPicPr>
            <a:picLocks noChangeAspect="1"/>
          </p:cNvPicPr>
          <p:nvPr/>
        </p:nvPicPr>
        <p:blipFill>
          <a:blip r:embed="rId6"/>
          <a:stretch>
            <a:fillRect/>
          </a:stretch>
        </p:blipFill>
        <p:spPr>
          <a:xfrm>
            <a:off x="457200" y="4098740"/>
            <a:ext cx="3661562" cy="2059628"/>
          </a:xfrm>
          <a:prstGeom prst="rect">
            <a:avLst/>
          </a:prstGeom>
        </p:spPr>
      </p:pic>
      <p:sp>
        <p:nvSpPr>
          <p:cNvPr id="19" name="Rectangle 18"/>
          <p:cNvSpPr/>
          <p:nvPr/>
        </p:nvSpPr>
        <p:spPr>
          <a:xfrm>
            <a:off x="448056" y="5829185"/>
            <a:ext cx="3679850"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5829185"/>
            <a:ext cx="3570122"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Segoe UI"/>
              </a:rPr>
              <a:t>Walk up, get in</a:t>
            </a:r>
          </a:p>
        </p:txBody>
      </p:sp>
      <p:pic>
        <p:nvPicPr>
          <p:cNvPr id="21" name="Picture 20" descr="img035.jpg"/>
          <p:cNvPicPr>
            <a:picLocks noChangeAspect="1"/>
          </p:cNvPicPr>
          <p:nvPr/>
        </p:nvPicPr>
        <p:blipFill>
          <a:blip r:embed="rId7"/>
          <a:stretch>
            <a:fillRect/>
          </a:stretch>
        </p:blipFill>
        <p:spPr>
          <a:xfrm>
            <a:off x="4265066" y="4098740"/>
            <a:ext cx="3661562" cy="2059628"/>
          </a:xfrm>
          <a:prstGeom prst="rect">
            <a:avLst/>
          </a:prstGeom>
        </p:spPr>
      </p:pic>
      <p:sp>
        <p:nvSpPr>
          <p:cNvPr id="22" name="Rectangle 21"/>
          <p:cNvSpPr/>
          <p:nvPr/>
        </p:nvSpPr>
        <p:spPr>
          <a:xfrm>
            <a:off x="4255922" y="5829185"/>
            <a:ext cx="3679850"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10786" y="5829185"/>
            <a:ext cx="3570122"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Segoe UI"/>
              </a:rPr>
              <a:t>Tank: gunner's sight</a:t>
            </a:r>
          </a:p>
        </p:txBody>
      </p:sp>
      <p:pic>
        <p:nvPicPr>
          <p:cNvPr id="24" name="Picture 23" descr="img036.jpg"/>
          <p:cNvPicPr>
            <a:picLocks noChangeAspect="1"/>
          </p:cNvPicPr>
          <p:nvPr/>
        </p:nvPicPr>
        <p:blipFill>
          <a:blip r:embed="rId8"/>
          <a:stretch>
            <a:fillRect/>
          </a:stretch>
        </p:blipFill>
        <p:spPr>
          <a:xfrm>
            <a:off x="8072932" y="4098740"/>
            <a:ext cx="3661562" cy="2059628"/>
          </a:xfrm>
          <a:prstGeom prst="rect">
            <a:avLst/>
          </a:prstGeom>
        </p:spPr>
      </p:pic>
      <p:sp>
        <p:nvSpPr>
          <p:cNvPr id="25" name="Rectangle 24"/>
          <p:cNvSpPr/>
          <p:nvPr/>
        </p:nvSpPr>
        <p:spPr>
          <a:xfrm>
            <a:off x="8063788" y="5829185"/>
            <a:ext cx="3679850" cy="347472"/>
          </a:xfrm>
          <a:prstGeom prst="rect">
            <a:avLst/>
          </a:prstGeom>
          <a:solidFill>
            <a:srgbClr val="080A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18652" y="5829185"/>
            <a:ext cx="3570122" cy="329184"/>
          </a:xfrm>
          <a:prstGeom prst="rect">
            <a:avLst/>
          </a:prstGeom>
          <a:noFill/>
        </p:spPr>
        <p:txBody>
          <a:bodyPr wrap="square" anchor="ctr" lIns="45720" rIns="45720" tIns="27432" bIns="27432">
            <a:spAutoFit/>
          </a:bodyPr>
          <a:lstStyle/>
          <a:p>
            <a:pPr algn="l">
              <a:spcAft>
                <a:spcPts val="390"/>
              </a:spcAft>
            </a:pPr>
            <a:r>
              <a:rPr sz="1300" b="0">
                <a:solidFill>
                  <a:srgbClr val="FF9E1F"/>
                </a:solidFill>
                <a:latin typeface="Segoe UI"/>
              </a:rPr>
              <a:t>Anti-aircraft gun: first person</a:t>
            </a:r>
          </a:p>
        </p:txBody>
      </p:sp>
      <p:sp>
        <p:nvSpPr>
          <p:cNvPr id="27" name="TextBox 26"/>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28" name="TextBox 27"/>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pic>
        <p:nvPicPr>
          <p:cNvPr id="2" name="Picture 1" descr="img038.jpg"/>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5455767" y="2331720"/>
            <a:ext cx="1280160" cy="64008"/>
          </a:xfrm>
          <a:prstGeom prst="rect">
            <a:avLst/>
          </a:prstGeom>
          <a:solidFill>
            <a:srgbClr val="FF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468880"/>
            <a:ext cx="11277295" cy="1188720"/>
          </a:xfrm>
          <a:prstGeom prst="rect">
            <a:avLst/>
          </a:prstGeom>
          <a:noFill/>
        </p:spPr>
        <p:txBody>
          <a:bodyPr wrap="square" anchor="ctr" lIns="45720" rIns="45720" tIns="27432" bIns="27432">
            <a:spAutoFit/>
          </a:bodyPr>
          <a:lstStyle/>
          <a:p>
            <a:pPr algn="ctr">
              <a:spcAft>
                <a:spcPts val="2160"/>
              </a:spcAft>
            </a:pPr>
            <a:r>
              <a:rPr sz="7200" b="1">
                <a:solidFill>
                  <a:srgbClr val="FFFFFF"/>
                </a:solidFill>
                <a:latin typeface="Segoe UI"/>
              </a:rPr>
              <a:t>Thank you</a:t>
            </a:r>
          </a:p>
        </p:txBody>
      </p:sp>
      <p:sp>
        <p:nvSpPr>
          <p:cNvPr id="5" name="TextBox 4"/>
          <p:cNvSpPr txBox="1"/>
          <p:nvPr/>
        </p:nvSpPr>
        <p:spPr>
          <a:xfrm>
            <a:off x="457200" y="3657600"/>
            <a:ext cx="11277295" cy="640080"/>
          </a:xfrm>
          <a:prstGeom prst="rect">
            <a:avLst/>
          </a:prstGeom>
          <a:noFill/>
        </p:spPr>
        <p:txBody>
          <a:bodyPr wrap="square" anchor="ctr" lIns="45720" rIns="45720" tIns="27432" bIns="27432">
            <a:spAutoFit/>
          </a:bodyPr>
          <a:lstStyle/>
          <a:p>
            <a:pPr algn="ctr">
              <a:spcAft>
                <a:spcPts val="960"/>
              </a:spcAft>
            </a:pPr>
            <a:r>
              <a:rPr sz="3200" b="0">
                <a:solidFill>
                  <a:srgbClr val="FF9E1F"/>
                </a:solidFill>
                <a:latin typeface="Segoe UI"/>
              </a:rPr>
              <a:t>Questions?</a:t>
            </a:r>
          </a:p>
        </p:txBody>
      </p:sp>
      <p:sp>
        <p:nvSpPr>
          <p:cNvPr id="6" name="TextBox 5"/>
          <p:cNvSpPr txBox="1"/>
          <p:nvPr/>
        </p:nvSpPr>
        <p:spPr>
          <a:xfrm>
            <a:off x="457200" y="5623560"/>
            <a:ext cx="11277295" cy="365760"/>
          </a:xfrm>
          <a:prstGeom prst="rect">
            <a:avLst/>
          </a:prstGeom>
          <a:noFill/>
        </p:spPr>
        <p:txBody>
          <a:bodyPr wrap="square" anchor="ctr" lIns="45720" rIns="45720" tIns="27432" bIns="27432">
            <a:spAutoFit/>
          </a:bodyPr>
          <a:lstStyle/>
          <a:p>
            <a:pPr algn="ctr">
              <a:spcAft>
                <a:spcPts val="450"/>
              </a:spcAft>
            </a:pPr>
            <a:r>
              <a:rPr sz="1500" b="0">
                <a:solidFill>
                  <a:srgbClr val="A8B0BA"/>
                </a:solidFill>
                <a:latin typeface="Segoe UI"/>
              </a:rPr>
              <a:t>Md. Shakhoyat Rahman Shujon   |   Roll 2107104   |   Computer Graphics Laboratory, CSE 4102</a:t>
            </a:r>
          </a:p>
        </p:txBody>
      </p:sp>
      <p:sp>
        <p:nvSpPr>
          <p:cNvPr id="7" name="TextBox 6"/>
          <p:cNvSpPr txBox="1"/>
          <p:nvPr/>
        </p:nvSpPr>
        <p:spPr>
          <a:xfrm>
            <a:off x="457200" y="6437376"/>
            <a:ext cx="3657600" cy="274320"/>
          </a:xfrm>
          <a:prstGeom prst="rect">
            <a:avLst/>
          </a:prstGeom>
          <a:noFill/>
        </p:spPr>
        <p:txBody>
          <a:bodyPr wrap="square" anchor="ctr" lIns="45720" rIns="45720" tIns="27432" bIns="27432">
            <a:spAutoFit/>
          </a:bodyPr>
          <a:lstStyle/>
          <a:p>
            <a:pPr algn="l">
              <a:spcAft>
                <a:spcPts val="330"/>
              </a:spcAft>
            </a:pPr>
            <a:r>
              <a:rPr sz="1100" b="0">
                <a:solidFill>
                  <a:srgbClr val="A8B0BA"/>
                </a:solidFill>
                <a:latin typeface="Segoe UI"/>
              </a:rPr>
              <a:t>11 October 2026</a:t>
            </a:r>
          </a:p>
        </p:txBody>
      </p:sp>
      <p:sp>
        <p:nvSpPr>
          <p:cNvPr id="8" name="TextBox 7"/>
          <p:cNvSpPr txBox="1"/>
          <p:nvPr/>
        </p:nvSpPr>
        <p:spPr>
          <a:xfrm>
            <a:off x="9905695" y="6437376"/>
            <a:ext cx="1828800" cy="274320"/>
          </a:xfrm>
          <a:prstGeom prst="rect">
            <a:avLst/>
          </a:prstGeom>
          <a:noFill/>
        </p:spPr>
        <p:txBody>
          <a:bodyPr wrap="square" anchor="ctr" lIns="45720" rIns="45720" tIns="27432" bIns="27432">
            <a:spAutoFit/>
          </a:bodyPr>
          <a:lstStyle/>
          <a:p>
            <a:pPr algn="r">
              <a:spcAft>
                <a:spcPts val="330"/>
              </a:spcAft>
            </a:pPr>
            <a:r>
              <a:rPr sz="1100" b="0">
                <a:solidFill>
                  <a:srgbClr val="A8B0BA"/>
                </a:solidFill>
                <a:latin typeface="Segoe U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ThermalSense: a graphics pipeline, end to end, in a military outpost</dc:title>
  <dc:subject>Computer Graphics Laboratory, CSE 4102</dc:subject>
  <dc:creator>Md. Shakhoyat Rahman Shujon</dc:creator>
  <cp:keywords>ThermalSense, OpenGL, C++17</cp:keywords>
  <dc:description/>
  <cp:lastModifiedBy>Md. Shakhoyat Rahman Shujon</cp:lastModifiedBy>
  <cp:revision>1</cp:revision>
  <dcterms:created xsi:type="dcterms:W3CDTF">2026-10-11T07:28:24Z</dcterms:created>
  <dcterms:modified xsi:type="dcterms:W3CDTF">2026-10-11T07:28:24Z</dcterms:modified>
  <cp:category/>
</cp:coreProperties>
</file>