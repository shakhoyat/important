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ThermalSense: a military outpost renderer and game for Computer Graphics Laboratory, CSE 4102, written in C++17 on OpenGL 3.3 core.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film, 3 minutes 38 seconds. Click the picture to play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parts: the pipeline, the numbers, the lighting written by hand, the rovers' path planning, the computer vision, and the defence with the vehicles the player can control.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flow of one frame: primitives are generated in code, placed by hierarchical transformations, lit by hand-written vector maths, drawn by the rasteriser or the ray tracer, then post-processed.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figures: 16 primitive generators build 62 designs and 5,474 parts; 905 calls of hand-written vector functions in 13 shader source files; 396 automated tests; a 192-page report and a film of 3 minutes 38 seconds.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lighting equation is evaluated with the half vector (Blinn-Phong). Flat shading uses one normal per face, Gouraud lights the vertices, Phong lights every pixel. Dot, normalise, cross, reflect, refract, mix, clamp, step and smooth step are written out in one file and placed in front of every shader.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intruder rover plans like a micromouse and drives like a line-follower robot. Hiding, a breadth-first flood fill spreads distances from the cells out of sight; infiltrating, Dijkstra adds a cost for cells a camera can see. The path becomes a guide line that five sensors and a proportional-derivative law follow, and the plan is redone every 0.4 or 1.6 seconds.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camera renders a 320 by 240 heat image. An Otsu threshold with a fixed floor, a despeckle step and two-pass union-find labelling give the blobs; a Kalman filter per track with gated Hungarian assignment keeps the identities. The image stage is linear in the pixels, and both cameras together cost about 2.9 milliseconds a frame in the benchmark, on a worker thread in the game.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defence is autonomous: two UAVs strike from their thermal tracks, alone when two intruders are far apart, together when one intruder gets both rounds. The player can also walk a soldier up to the tank, the anti-aircraft gun or a launcher, press E to get in, and fire in first person.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Questions are welcome.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 Id="rId6" Type="http://schemas.openxmlformats.org/officeDocument/2006/relationships/image" Target="../media/image6.jpg"/><Relationship Id="rId7" Type="http://schemas.openxmlformats.org/officeDocument/2006/relationships/image" Target="../media/image7.jpg"/><Relationship Id="rId8" Type="http://schemas.openxmlformats.org/officeDocument/2006/relationships/image" Target="../media/image8.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 Id="rId6" Type="http://schemas.openxmlformats.org/officeDocument/2006/relationships/image" Target="../media/image12.jpg"/><Relationship Id="rId7" Type="http://schemas.openxmlformats.org/officeDocument/2006/relationships/image" Target="../media/image13.jpg"/><Relationship Id="rId8" Type="http://schemas.openxmlformats.org/officeDocument/2006/relationships/image" Target="../media/image1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jpg"/><Relationship Id="rId7" Type="http://schemas.openxmlformats.org/officeDocument/2006/relationships/image" Target="../media/image20.jpg"/><Relationship Id="rId8" Type="http://schemas.openxmlformats.org/officeDocument/2006/relationships/image" Target="../media/image2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3.jpg"/><Relationship Id="rId4" Type="http://schemas.openxmlformats.org/officeDocument/2006/relationships/image" Target="../media/image24.jpg"/><Relationship Id="rId5" Type="http://schemas.openxmlformats.org/officeDocument/2006/relationships/image" Target="../media/image25.jpg"/><Relationship Id="rId6" Type="http://schemas.openxmlformats.org/officeDocument/2006/relationships/image" Target="../media/image26.jpg"/><Relationship Id="rId7" Type="http://schemas.openxmlformats.org/officeDocument/2006/relationships/image" Target="../media/image27.jpg"/><Relationship Id="rId8" Type="http://schemas.openxmlformats.org/officeDocument/2006/relationships/image" Target="../media/image28.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9.jpg"/><Relationship Id="rId4" Type="http://schemas.openxmlformats.org/officeDocument/2006/relationships/image" Target="../media/image30.jpg"/><Relationship Id="rId5" Type="http://schemas.openxmlformats.org/officeDocument/2006/relationships/image" Target="../media/image31.jpg"/><Relationship Id="rId6" Type="http://schemas.openxmlformats.org/officeDocument/2006/relationships/image" Target="../media/image32.jpg"/><Relationship Id="rId7" Type="http://schemas.openxmlformats.org/officeDocument/2006/relationships/image" Target="../media/image33.jpg"/><Relationship Id="rId8" Type="http://schemas.openxmlformats.org/officeDocument/2006/relationships/image" Target="../media/image3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35.jp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80A0D"/>
        </a:solidFill>
        <a:effectLst/>
      </p:bgPr>
    </p:bg>
    <p:spTree>
      <p:nvGrpSpPr>
        <p:cNvPr id="1" name=""/>
        <p:cNvGrpSpPr/>
        <p:nvPr/>
      </p:nvGrpSpPr>
      <p:grpSpPr/>
      <p:pic>
        <p:nvPicPr>
          <p:cNvPr id="2" name="Picture 1" descr="img002.jpg"/>
          <p:cNvPicPr>
            <a:picLocks noChangeAspect="1"/>
          </p:cNvPicPr>
          <p:nvPr/>
        </p:nvPicPr>
        <p:blipFill>
          <a:blip r:embed="rId3"/>
          <a:stretch>
            <a:fillRect/>
          </a:stretch>
        </p:blipFill>
        <p:spPr>
          <a:xfrm>
            <a:off x="0" y="0"/>
            <a:ext cx="12191695" cy="6858000"/>
          </a:xfrm>
          <a:prstGeom prst="rect">
            <a:avLst/>
          </a:prstGeom>
        </p:spPr>
      </p:pic>
      <p:sp>
        <p:nvSpPr>
          <p:cNvPr id="3" name="Rectangle 2"/>
          <p:cNvSpPr/>
          <p:nvPr/>
        </p:nvSpPr>
        <p:spPr>
          <a:xfrm>
            <a:off x="548640" y="3401568"/>
            <a:ext cx="1280160" cy="64008"/>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93008"/>
            <a:ext cx="10972800" cy="960120"/>
          </a:xfrm>
          <a:prstGeom prst="rect">
            <a:avLst/>
          </a:prstGeom>
          <a:noFill/>
        </p:spPr>
        <p:txBody>
          <a:bodyPr wrap="square" anchor="t" lIns="45720" rIns="45720" tIns="27432" bIns="27432">
            <a:spAutoFit/>
          </a:bodyPr>
          <a:lstStyle/>
          <a:p>
            <a:pPr algn="l">
              <a:spcAft>
                <a:spcPts val="1800"/>
              </a:spcAft>
            </a:pPr>
            <a:r>
              <a:rPr sz="6000" b="1">
                <a:solidFill>
                  <a:srgbClr val="FFFFFF"/>
                </a:solidFill>
                <a:latin typeface="Calibri"/>
              </a:rPr>
              <a:t>ThermalSense</a:t>
            </a:r>
          </a:p>
        </p:txBody>
      </p:sp>
      <p:sp>
        <p:nvSpPr>
          <p:cNvPr id="5" name="TextBox 4"/>
          <p:cNvSpPr txBox="1"/>
          <p:nvPr/>
        </p:nvSpPr>
        <p:spPr>
          <a:xfrm>
            <a:off x="548640" y="4434840"/>
            <a:ext cx="10972800" cy="548640"/>
          </a:xfrm>
          <a:prstGeom prst="rect">
            <a:avLst/>
          </a:prstGeom>
          <a:noFill/>
        </p:spPr>
        <p:txBody>
          <a:bodyPr wrap="square" anchor="t" lIns="45720" rIns="45720" tIns="27432" bIns="27432">
            <a:spAutoFit/>
          </a:bodyPr>
          <a:lstStyle/>
          <a:p>
            <a:pPr algn="l">
              <a:spcAft>
                <a:spcPts val="840"/>
              </a:spcAft>
            </a:pPr>
            <a:r>
              <a:rPr sz="2800" b="0">
                <a:solidFill>
                  <a:srgbClr val="FF9E1F"/>
                </a:solidFill>
                <a:latin typeface="Calibri"/>
              </a:rPr>
              <a:t>A graphics pipeline, end to end, in a military outpost</a:t>
            </a:r>
          </a:p>
        </p:txBody>
      </p:sp>
      <p:sp>
        <p:nvSpPr>
          <p:cNvPr id="6" name="TextBox 5"/>
          <p:cNvSpPr txBox="1"/>
          <p:nvPr/>
        </p:nvSpPr>
        <p:spPr>
          <a:xfrm>
            <a:off x="548640" y="5166360"/>
            <a:ext cx="10972800" cy="411480"/>
          </a:xfrm>
          <a:prstGeom prst="rect">
            <a:avLst/>
          </a:prstGeom>
          <a:noFill/>
        </p:spPr>
        <p:txBody>
          <a:bodyPr wrap="square" anchor="t" lIns="45720" rIns="45720" tIns="27432" bIns="27432">
            <a:spAutoFit/>
          </a:bodyPr>
          <a:lstStyle/>
          <a:p>
            <a:pPr algn="l">
              <a:spcAft>
                <a:spcPts val="600"/>
              </a:spcAft>
            </a:pPr>
            <a:r>
              <a:rPr sz="2000" b="1">
                <a:solidFill>
                  <a:srgbClr val="FFFFFF"/>
                </a:solidFill>
                <a:latin typeface="Calibri"/>
              </a:rPr>
              <a:t>Md. Shakhoyat Rahman Shujon</a:t>
            </a:r>
            <a:r>
              <a:rPr sz="2000" b="0">
                <a:solidFill>
                  <a:srgbClr val="FFFFFF"/>
                </a:solidFill>
                <a:latin typeface="Calibri"/>
              </a:rPr>
              <a:t>   |   Roll 2107104</a:t>
            </a:r>
          </a:p>
        </p:txBody>
      </p:sp>
      <p:sp>
        <p:nvSpPr>
          <p:cNvPr id="7" name="TextBox 6"/>
          <p:cNvSpPr txBox="1"/>
          <p:nvPr/>
        </p:nvSpPr>
        <p:spPr>
          <a:xfrm>
            <a:off x="548640" y="5596128"/>
            <a:ext cx="10972800" cy="365760"/>
          </a:xfrm>
          <a:prstGeom prst="rect">
            <a:avLst/>
          </a:prstGeom>
          <a:noFill/>
        </p:spPr>
        <p:txBody>
          <a:bodyPr wrap="square" anchor="t" lIns="45720" rIns="45720" tIns="27432" bIns="27432">
            <a:spAutoFit/>
          </a:bodyPr>
          <a:lstStyle/>
          <a:p>
            <a:pPr algn="l">
              <a:spcAft>
                <a:spcPts val="509"/>
              </a:spcAft>
            </a:pPr>
            <a:r>
              <a:rPr sz="1700" b="0">
                <a:solidFill>
                  <a:srgbClr val="A8B0BA"/>
                </a:solidFill>
                <a:latin typeface="Calibri"/>
              </a:rPr>
              <a:t>Computer Graphics Laboratory, CSE 4102</a:t>
            </a:r>
          </a:p>
        </p:txBody>
      </p:sp>
      <p:sp>
        <p:nvSpPr>
          <p:cNvPr id="8" name="TextBox 7"/>
          <p:cNvSpPr txBox="1"/>
          <p:nvPr/>
        </p:nvSpPr>
        <p:spPr>
          <a:xfrm>
            <a:off x="548640" y="5925312"/>
            <a:ext cx="10972800" cy="365760"/>
          </a:xfrm>
          <a:prstGeom prst="rect">
            <a:avLst/>
          </a:prstGeom>
          <a:noFill/>
        </p:spPr>
        <p:txBody>
          <a:bodyPr wrap="square" anchor="t" lIns="45720" rIns="45720" tIns="27432" bIns="27432">
            <a:spAutoFit/>
          </a:bodyPr>
          <a:lstStyle/>
          <a:p>
            <a:pPr algn="l">
              <a:spcAft>
                <a:spcPts val="509"/>
              </a:spcAft>
            </a:pPr>
            <a:r>
              <a:rPr sz="1700" b="0">
                <a:solidFill>
                  <a:srgbClr val="A8B0BA"/>
                </a:solidFill>
                <a:latin typeface="Calibri"/>
              </a:rPr>
              <a:t>Khulna University of Engineering &amp; Technology (KUET)</a:t>
            </a:r>
          </a:p>
        </p:txBody>
      </p:sp>
      <p:sp>
        <p:nvSpPr>
          <p:cNvPr id="9" name="TextBox 8"/>
          <p:cNvSpPr txBox="1"/>
          <p:nvPr/>
        </p:nvSpPr>
        <p:spPr>
          <a:xfrm>
            <a:off x="457200" y="6437376"/>
            <a:ext cx="3657600" cy="274320"/>
          </a:xfrm>
          <a:prstGeom prst="rect">
            <a:avLst/>
          </a:prstGeom>
          <a:noFill/>
        </p:spPr>
        <p:txBody>
          <a:bodyPr wrap="square" anchor="ctr" lIns="45720" rIns="45720" tIns="27432" bIns="27432">
            <a:spAutoFit/>
          </a:bodyPr>
          <a:lstStyle/>
          <a:p>
            <a:pPr algn="l">
              <a:spcAft>
                <a:spcPts val="330"/>
              </a:spcAft>
            </a:pPr>
            <a:r>
              <a:rPr sz="1100" b="0">
                <a:solidFill>
                  <a:srgbClr val="A8B0BA"/>
                </a:solidFill>
                <a:latin typeface="Calibri"/>
              </a:rPr>
              <a:t>11 October 2026</a:t>
            </a:r>
          </a:p>
        </p:txBody>
      </p:sp>
      <p:sp>
        <p:nvSpPr>
          <p:cNvPr id="10" name="TextBox 9"/>
          <p:cNvSpPr txBox="1"/>
          <p:nvPr/>
        </p:nvSpPr>
        <p:spPr>
          <a:xfrm>
            <a:off x="9905695" y="6437376"/>
            <a:ext cx="1828800" cy="274320"/>
          </a:xfrm>
          <a:prstGeom prst="rect">
            <a:avLst/>
          </a:prstGeom>
          <a:noFill/>
        </p:spPr>
        <p:txBody>
          <a:bodyPr wrap="square" anchor="ctr" lIns="45720" rIns="45720" tIns="27432" bIns="27432">
            <a:spAutoFit/>
          </a:bodyPr>
          <a:lstStyle/>
          <a:p>
            <a:pPr algn="r">
              <a:spcAft>
                <a:spcPts val="330"/>
              </a:spcAft>
            </a:pPr>
            <a:r>
              <a:rPr sz="1100" b="0">
                <a:solidFill>
                  <a:srgbClr val="A8B0BA"/>
                </a:solidFill>
                <a:latin typeface="Calibri"/>
              </a:rPr>
              <a:t>1 /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80A0D"/>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thermalsense_final_slide.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066647" y="310896"/>
            <a:ext cx="10058400" cy="5657850"/>
          </a:xfrm>
          <a:prstGeom prst="rect">
            <a:avLst/>
          </a:prstGeom>
        </p:spPr>
      </p:pic>
      <p:sp>
        <p:nvSpPr>
          <p:cNvPr id="4" name="TextBox 3"/>
          <p:cNvSpPr txBox="1"/>
          <p:nvPr/>
        </p:nvSpPr>
        <p:spPr>
          <a:xfrm>
            <a:off x="1066647" y="5996178"/>
            <a:ext cx="10058400" cy="365760"/>
          </a:xfrm>
          <a:prstGeom prst="rect">
            <a:avLst/>
          </a:prstGeom>
          <a:noFill/>
        </p:spPr>
        <p:txBody>
          <a:bodyPr wrap="square" anchor="ctr" lIns="45720" rIns="45720" tIns="27432" bIns="27432">
            <a:spAutoFit/>
          </a:bodyPr>
          <a:lstStyle/>
          <a:p>
            <a:pPr algn="ctr">
              <a:spcAft>
                <a:spcPts val="480"/>
              </a:spcAft>
            </a:pPr>
            <a:r>
              <a:rPr sz="1600" b="1">
                <a:solidFill>
                  <a:srgbClr val="FFFFFF"/>
                </a:solidFill>
                <a:latin typeface="Calibri"/>
              </a:rPr>
              <a:t>Project film</a:t>
            </a:r>
            <a:r>
              <a:rPr sz="1600" b="0">
                <a:solidFill>
                  <a:srgbClr val="A8B0BA"/>
                </a:solidFill>
                <a:latin typeface="Calibri"/>
              </a:rPr>
              <a:t>   |   3 min 38 s</a:t>
            </a:r>
          </a:p>
        </p:txBody>
      </p:sp>
      <p:sp>
        <p:nvSpPr>
          <p:cNvPr id="5" name="TextBox 4"/>
          <p:cNvSpPr txBox="1"/>
          <p:nvPr/>
        </p:nvSpPr>
        <p:spPr>
          <a:xfrm>
            <a:off x="457200" y="6437376"/>
            <a:ext cx="3657600" cy="274320"/>
          </a:xfrm>
          <a:prstGeom prst="rect">
            <a:avLst/>
          </a:prstGeom>
          <a:noFill/>
        </p:spPr>
        <p:txBody>
          <a:bodyPr wrap="square" anchor="ctr" lIns="45720" rIns="45720" tIns="27432" bIns="27432">
            <a:spAutoFit/>
          </a:bodyPr>
          <a:lstStyle/>
          <a:p>
            <a:pPr algn="l">
              <a:spcAft>
                <a:spcPts val="330"/>
              </a:spcAft>
            </a:pPr>
            <a:r>
              <a:rPr sz="1100" b="0">
                <a:solidFill>
                  <a:srgbClr val="A8B0BA"/>
                </a:solidFill>
                <a:latin typeface="Calibri"/>
              </a:rPr>
              <a:t>11 October 2026</a:t>
            </a:r>
          </a:p>
        </p:txBody>
      </p:sp>
      <p:sp>
        <p:nvSpPr>
          <p:cNvPr id="6" name="TextBox 5"/>
          <p:cNvSpPr txBox="1"/>
          <p:nvPr/>
        </p:nvSpPr>
        <p:spPr>
          <a:xfrm>
            <a:off x="9905695" y="6437376"/>
            <a:ext cx="1828800" cy="274320"/>
          </a:xfrm>
          <a:prstGeom prst="rect">
            <a:avLst/>
          </a:prstGeom>
          <a:noFill/>
        </p:spPr>
        <p:txBody>
          <a:bodyPr wrap="square" anchor="ctr" lIns="45720" rIns="45720" tIns="27432" bIns="27432">
            <a:spAutoFit/>
          </a:bodyPr>
          <a:lstStyle/>
          <a:p>
            <a:pPr algn="r">
              <a:spcAft>
                <a:spcPts val="330"/>
              </a:spcAft>
            </a:pPr>
            <a:r>
              <a:rPr sz="1100" b="0">
                <a:solidFill>
                  <a:srgbClr val="A8B0BA"/>
                </a:solidFill>
                <a:latin typeface="Calibri"/>
              </a:rPr>
              <a:t>2 / 10</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80A0D"/>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8229600" cy="310896"/>
          </a:xfrm>
          <a:prstGeom prst="rect">
            <a:avLst/>
          </a:prstGeom>
          <a:noFill/>
        </p:spPr>
        <p:txBody>
          <a:bodyPr wrap="square" anchor="t" lIns="45720" rIns="45720" tIns="27432" bIns="27432">
            <a:spAutoFit/>
          </a:bodyPr>
          <a:lstStyle/>
          <a:p>
            <a:pPr algn="l">
              <a:spcAft>
                <a:spcPts val="390"/>
              </a:spcAft>
            </a:pPr>
            <a:r>
              <a:rPr sz="1300" b="1">
                <a:solidFill>
                  <a:srgbClr val="FF9E1F"/>
                </a:solidFill>
                <a:latin typeface="Calibri"/>
              </a:rPr>
              <a:t>3  |  OVERVIEW</a:t>
            </a:r>
          </a:p>
        </p:txBody>
      </p:sp>
      <p:sp>
        <p:nvSpPr>
          <p:cNvPr id="4" name="TextBox 3"/>
          <p:cNvSpPr txBox="1"/>
          <p:nvPr/>
        </p:nvSpPr>
        <p:spPr>
          <a:xfrm>
            <a:off x="457200" y="512064"/>
            <a:ext cx="11277295" cy="731520"/>
          </a:xfrm>
          <a:prstGeom prst="rect">
            <a:avLst/>
          </a:prstGeom>
          <a:noFill/>
        </p:spPr>
        <p:txBody>
          <a:bodyPr wrap="square" anchor="t" lIns="45720" rIns="45720" tIns="27432" bIns="27432">
            <a:spAutoFit/>
          </a:bodyPr>
          <a:lstStyle/>
          <a:p>
            <a:pPr algn="l">
              <a:spcAft>
                <a:spcPts val="960"/>
              </a:spcAft>
            </a:pPr>
            <a:r>
              <a:rPr sz="3200" b="1">
                <a:solidFill>
                  <a:srgbClr val="FFFFFF"/>
                </a:solidFill>
                <a:latin typeface="Calibri"/>
              </a:rPr>
              <a:t>Contents</a:t>
            </a:r>
          </a:p>
        </p:txBody>
      </p:sp>
      <p:pic>
        <p:nvPicPr>
          <p:cNvPr id="5" name="Picture 4" descr="img004.jpg"/>
          <p:cNvPicPr>
            <a:picLocks noChangeAspect="1"/>
          </p:cNvPicPr>
          <p:nvPr/>
        </p:nvPicPr>
        <p:blipFill>
          <a:blip r:embed="rId3"/>
          <a:stretch>
            <a:fillRect/>
          </a:stretch>
        </p:blipFill>
        <p:spPr>
          <a:xfrm>
            <a:off x="457200" y="1463040"/>
            <a:ext cx="3637178" cy="1664208"/>
          </a:xfrm>
          <a:prstGeom prst="rect">
            <a:avLst/>
          </a:prstGeom>
        </p:spPr>
      </p:pic>
      <p:sp>
        <p:nvSpPr>
          <p:cNvPr id="6" name="Rectangle 5"/>
          <p:cNvSpPr/>
          <p:nvPr/>
        </p:nvSpPr>
        <p:spPr>
          <a:xfrm>
            <a:off x="457200" y="3127248"/>
            <a:ext cx="3637178" cy="640080"/>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3127248"/>
            <a:ext cx="3637178"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163824"/>
            <a:ext cx="731520" cy="603503"/>
          </a:xfrm>
          <a:prstGeom prst="rect">
            <a:avLst/>
          </a:prstGeom>
          <a:noFill/>
        </p:spPr>
        <p:txBody>
          <a:bodyPr wrap="square" anchor="ctr" lIns="45720" rIns="45720" tIns="27432" bIns="27432">
            <a:spAutoFit/>
          </a:bodyPr>
          <a:lstStyle/>
          <a:p>
            <a:pPr algn="l">
              <a:spcAft>
                <a:spcPts val="840"/>
              </a:spcAft>
            </a:pPr>
            <a:r>
              <a:rPr sz="2800" b="1">
                <a:solidFill>
                  <a:srgbClr val="FF9E1F"/>
                </a:solidFill>
                <a:latin typeface="Calibri"/>
              </a:rPr>
              <a:t>04</a:t>
            </a:r>
          </a:p>
        </p:txBody>
      </p:sp>
      <p:sp>
        <p:nvSpPr>
          <p:cNvPr id="9" name="TextBox 8"/>
          <p:cNvSpPr txBox="1"/>
          <p:nvPr/>
        </p:nvSpPr>
        <p:spPr>
          <a:xfrm>
            <a:off x="1325880" y="3163824"/>
            <a:ext cx="2677058" cy="603503"/>
          </a:xfrm>
          <a:prstGeom prst="rect">
            <a:avLst/>
          </a:prstGeom>
          <a:noFill/>
        </p:spPr>
        <p:txBody>
          <a:bodyPr wrap="square" anchor="ctr" lIns="45720" rIns="45720" tIns="27432" bIns="27432">
            <a:spAutoFit/>
          </a:bodyPr>
          <a:lstStyle/>
          <a:p>
            <a:pPr algn="l">
              <a:spcAft>
                <a:spcPts val="540"/>
              </a:spcAft>
            </a:pPr>
            <a:r>
              <a:rPr sz="1800" b="1">
                <a:solidFill>
                  <a:srgbClr val="FFFFFF"/>
                </a:solidFill>
                <a:latin typeface="Calibri"/>
              </a:rPr>
              <a:t>Graphics pipeline</a:t>
            </a:r>
          </a:p>
        </p:txBody>
      </p:sp>
      <p:pic>
        <p:nvPicPr>
          <p:cNvPr id="10" name="Picture 9" descr="img005.jpg"/>
          <p:cNvPicPr>
            <a:picLocks noChangeAspect="1"/>
          </p:cNvPicPr>
          <p:nvPr/>
        </p:nvPicPr>
        <p:blipFill>
          <a:blip r:embed="rId4"/>
          <a:stretch>
            <a:fillRect/>
          </a:stretch>
        </p:blipFill>
        <p:spPr>
          <a:xfrm>
            <a:off x="4277258" y="1463040"/>
            <a:ext cx="3637178" cy="1664208"/>
          </a:xfrm>
          <a:prstGeom prst="rect">
            <a:avLst/>
          </a:prstGeom>
        </p:spPr>
      </p:pic>
      <p:sp>
        <p:nvSpPr>
          <p:cNvPr id="11" name="Rectangle 10"/>
          <p:cNvSpPr/>
          <p:nvPr/>
        </p:nvSpPr>
        <p:spPr>
          <a:xfrm>
            <a:off x="4277258" y="3127248"/>
            <a:ext cx="3637178" cy="640080"/>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7258" y="3127248"/>
            <a:ext cx="3637178"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6986" y="3163824"/>
            <a:ext cx="731520" cy="603503"/>
          </a:xfrm>
          <a:prstGeom prst="rect">
            <a:avLst/>
          </a:prstGeom>
          <a:noFill/>
        </p:spPr>
        <p:txBody>
          <a:bodyPr wrap="square" anchor="ctr" lIns="45720" rIns="45720" tIns="27432" bIns="27432">
            <a:spAutoFit/>
          </a:bodyPr>
          <a:lstStyle/>
          <a:p>
            <a:pPr algn="l">
              <a:spcAft>
                <a:spcPts val="840"/>
              </a:spcAft>
            </a:pPr>
            <a:r>
              <a:rPr sz="2800" b="1">
                <a:solidFill>
                  <a:srgbClr val="FF9E1F"/>
                </a:solidFill>
                <a:latin typeface="Calibri"/>
              </a:rPr>
              <a:t>05</a:t>
            </a:r>
          </a:p>
        </p:txBody>
      </p:sp>
      <p:sp>
        <p:nvSpPr>
          <p:cNvPr id="14" name="TextBox 13"/>
          <p:cNvSpPr txBox="1"/>
          <p:nvPr/>
        </p:nvSpPr>
        <p:spPr>
          <a:xfrm>
            <a:off x="5145938" y="3163824"/>
            <a:ext cx="2677058" cy="603503"/>
          </a:xfrm>
          <a:prstGeom prst="rect">
            <a:avLst/>
          </a:prstGeom>
          <a:noFill/>
        </p:spPr>
        <p:txBody>
          <a:bodyPr wrap="square" anchor="ctr" lIns="45720" rIns="45720" tIns="27432" bIns="27432">
            <a:spAutoFit/>
          </a:bodyPr>
          <a:lstStyle/>
          <a:p>
            <a:pPr algn="l">
              <a:spcAft>
                <a:spcPts val="540"/>
              </a:spcAft>
            </a:pPr>
            <a:r>
              <a:rPr sz="1800" b="1">
                <a:solidFill>
                  <a:srgbClr val="FFFFFF"/>
                </a:solidFill>
                <a:latin typeface="Calibri"/>
              </a:rPr>
              <a:t>Project in numbers</a:t>
            </a:r>
          </a:p>
        </p:txBody>
      </p:sp>
      <p:pic>
        <p:nvPicPr>
          <p:cNvPr id="15" name="Picture 14" descr="img006.jpg"/>
          <p:cNvPicPr>
            <a:picLocks noChangeAspect="1"/>
          </p:cNvPicPr>
          <p:nvPr/>
        </p:nvPicPr>
        <p:blipFill>
          <a:blip r:embed="rId5"/>
          <a:stretch>
            <a:fillRect/>
          </a:stretch>
        </p:blipFill>
        <p:spPr>
          <a:xfrm>
            <a:off x="8097316" y="1463040"/>
            <a:ext cx="3637178" cy="1664208"/>
          </a:xfrm>
          <a:prstGeom prst="rect">
            <a:avLst/>
          </a:prstGeom>
        </p:spPr>
      </p:pic>
      <p:sp>
        <p:nvSpPr>
          <p:cNvPr id="16" name="Rectangle 15"/>
          <p:cNvSpPr/>
          <p:nvPr/>
        </p:nvSpPr>
        <p:spPr>
          <a:xfrm>
            <a:off x="8097316" y="3127248"/>
            <a:ext cx="3637178" cy="640080"/>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7316" y="3127248"/>
            <a:ext cx="3637178"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7044" y="3163824"/>
            <a:ext cx="731520" cy="603503"/>
          </a:xfrm>
          <a:prstGeom prst="rect">
            <a:avLst/>
          </a:prstGeom>
          <a:noFill/>
        </p:spPr>
        <p:txBody>
          <a:bodyPr wrap="square" anchor="ctr" lIns="45720" rIns="45720" tIns="27432" bIns="27432">
            <a:spAutoFit/>
          </a:bodyPr>
          <a:lstStyle/>
          <a:p>
            <a:pPr algn="l">
              <a:spcAft>
                <a:spcPts val="840"/>
              </a:spcAft>
            </a:pPr>
            <a:r>
              <a:rPr sz="2800" b="1">
                <a:solidFill>
                  <a:srgbClr val="FF9E1F"/>
                </a:solidFill>
                <a:latin typeface="Calibri"/>
              </a:rPr>
              <a:t>06</a:t>
            </a:r>
          </a:p>
        </p:txBody>
      </p:sp>
      <p:sp>
        <p:nvSpPr>
          <p:cNvPr id="19" name="TextBox 18"/>
          <p:cNvSpPr txBox="1"/>
          <p:nvPr/>
        </p:nvSpPr>
        <p:spPr>
          <a:xfrm>
            <a:off x="8965996" y="3163824"/>
            <a:ext cx="2677058" cy="603503"/>
          </a:xfrm>
          <a:prstGeom prst="rect">
            <a:avLst/>
          </a:prstGeom>
          <a:noFill/>
        </p:spPr>
        <p:txBody>
          <a:bodyPr wrap="square" anchor="ctr" lIns="45720" rIns="45720" tIns="27432" bIns="27432">
            <a:spAutoFit/>
          </a:bodyPr>
          <a:lstStyle/>
          <a:p>
            <a:pPr algn="l">
              <a:spcAft>
                <a:spcPts val="540"/>
              </a:spcAft>
            </a:pPr>
            <a:r>
              <a:rPr sz="1800" b="1">
                <a:solidFill>
                  <a:srgbClr val="FFFFFF"/>
                </a:solidFill>
                <a:latin typeface="Calibri"/>
              </a:rPr>
              <a:t>Lighting by hand</a:t>
            </a:r>
          </a:p>
        </p:txBody>
      </p:sp>
      <p:pic>
        <p:nvPicPr>
          <p:cNvPr id="20" name="Picture 19" descr="img007.jpg"/>
          <p:cNvPicPr>
            <a:picLocks noChangeAspect="1"/>
          </p:cNvPicPr>
          <p:nvPr/>
        </p:nvPicPr>
        <p:blipFill>
          <a:blip r:embed="rId6"/>
          <a:stretch>
            <a:fillRect/>
          </a:stretch>
        </p:blipFill>
        <p:spPr>
          <a:xfrm>
            <a:off x="457200" y="3950208"/>
            <a:ext cx="3637178" cy="1664208"/>
          </a:xfrm>
          <a:prstGeom prst="rect">
            <a:avLst/>
          </a:prstGeom>
        </p:spPr>
      </p:pic>
      <p:sp>
        <p:nvSpPr>
          <p:cNvPr id="21" name="Rectangle 20"/>
          <p:cNvSpPr/>
          <p:nvPr/>
        </p:nvSpPr>
        <p:spPr>
          <a:xfrm>
            <a:off x="457200" y="5614416"/>
            <a:ext cx="3637178" cy="640080"/>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5614416"/>
            <a:ext cx="3637178"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5650992"/>
            <a:ext cx="731520" cy="603503"/>
          </a:xfrm>
          <a:prstGeom prst="rect">
            <a:avLst/>
          </a:prstGeom>
          <a:noFill/>
        </p:spPr>
        <p:txBody>
          <a:bodyPr wrap="square" anchor="ctr" lIns="45720" rIns="45720" tIns="27432" bIns="27432">
            <a:spAutoFit/>
          </a:bodyPr>
          <a:lstStyle/>
          <a:p>
            <a:pPr algn="l">
              <a:spcAft>
                <a:spcPts val="840"/>
              </a:spcAft>
            </a:pPr>
            <a:r>
              <a:rPr sz="2800" b="1">
                <a:solidFill>
                  <a:srgbClr val="FF9E1F"/>
                </a:solidFill>
                <a:latin typeface="Calibri"/>
              </a:rPr>
              <a:t>07</a:t>
            </a:r>
          </a:p>
        </p:txBody>
      </p:sp>
      <p:sp>
        <p:nvSpPr>
          <p:cNvPr id="24" name="TextBox 23"/>
          <p:cNvSpPr txBox="1"/>
          <p:nvPr/>
        </p:nvSpPr>
        <p:spPr>
          <a:xfrm>
            <a:off x="1325880" y="5650992"/>
            <a:ext cx="2677058" cy="603503"/>
          </a:xfrm>
          <a:prstGeom prst="rect">
            <a:avLst/>
          </a:prstGeom>
          <a:noFill/>
        </p:spPr>
        <p:txBody>
          <a:bodyPr wrap="square" anchor="ctr" lIns="45720" rIns="45720" tIns="27432" bIns="27432">
            <a:spAutoFit/>
          </a:bodyPr>
          <a:lstStyle/>
          <a:p>
            <a:pPr algn="l">
              <a:spcAft>
                <a:spcPts val="540"/>
              </a:spcAft>
            </a:pPr>
            <a:r>
              <a:rPr sz="1800" b="1">
                <a:solidFill>
                  <a:srgbClr val="FFFFFF"/>
                </a:solidFill>
                <a:latin typeface="Calibri"/>
              </a:rPr>
              <a:t>Rover path planning</a:t>
            </a:r>
          </a:p>
        </p:txBody>
      </p:sp>
      <p:pic>
        <p:nvPicPr>
          <p:cNvPr id="25" name="Picture 24" descr="img008.jpg"/>
          <p:cNvPicPr>
            <a:picLocks noChangeAspect="1"/>
          </p:cNvPicPr>
          <p:nvPr/>
        </p:nvPicPr>
        <p:blipFill>
          <a:blip r:embed="rId7"/>
          <a:stretch>
            <a:fillRect/>
          </a:stretch>
        </p:blipFill>
        <p:spPr>
          <a:xfrm>
            <a:off x="4277258" y="3950208"/>
            <a:ext cx="3637178" cy="1664208"/>
          </a:xfrm>
          <a:prstGeom prst="rect">
            <a:avLst/>
          </a:prstGeom>
        </p:spPr>
      </p:pic>
      <p:sp>
        <p:nvSpPr>
          <p:cNvPr id="26" name="Rectangle 25"/>
          <p:cNvSpPr/>
          <p:nvPr/>
        </p:nvSpPr>
        <p:spPr>
          <a:xfrm>
            <a:off x="4277258" y="5614416"/>
            <a:ext cx="3637178" cy="640080"/>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77258" y="5614416"/>
            <a:ext cx="3637178"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6986" y="5650992"/>
            <a:ext cx="731520" cy="603503"/>
          </a:xfrm>
          <a:prstGeom prst="rect">
            <a:avLst/>
          </a:prstGeom>
          <a:noFill/>
        </p:spPr>
        <p:txBody>
          <a:bodyPr wrap="square" anchor="ctr" lIns="45720" rIns="45720" tIns="27432" bIns="27432">
            <a:spAutoFit/>
          </a:bodyPr>
          <a:lstStyle/>
          <a:p>
            <a:pPr algn="l">
              <a:spcAft>
                <a:spcPts val="840"/>
              </a:spcAft>
            </a:pPr>
            <a:r>
              <a:rPr sz="2800" b="1">
                <a:solidFill>
                  <a:srgbClr val="FF9E1F"/>
                </a:solidFill>
                <a:latin typeface="Calibri"/>
              </a:rPr>
              <a:t>08</a:t>
            </a:r>
          </a:p>
        </p:txBody>
      </p:sp>
      <p:sp>
        <p:nvSpPr>
          <p:cNvPr id="29" name="TextBox 28"/>
          <p:cNvSpPr txBox="1"/>
          <p:nvPr/>
        </p:nvSpPr>
        <p:spPr>
          <a:xfrm>
            <a:off x="5145938" y="5650992"/>
            <a:ext cx="2677058" cy="603503"/>
          </a:xfrm>
          <a:prstGeom prst="rect">
            <a:avLst/>
          </a:prstGeom>
          <a:noFill/>
        </p:spPr>
        <p:txBody>
          <a:bodyPr wrap="square" anchor="ctr" lIns="45720" rIns="45720" tIns="27432" bIns="27432">
            <a:spAutoFit/>
          </a:bodyPr>
          <a:lstStyle/>
          <a:p>
            <a:pPr algn="l">
              <a:spcAft>
                <a:spcPts val="540"/>
              </a:spcAft>
            </a:pPr>
            <a:r>
              <a:rPr sz="1800" b="1">
                <a:solidFill>
                  <a:srgbClr val="FFFFFF"/>
                </a:solidFill>
                <a:latin typeface="Calibri"/>
              </a:rPr>
              <a:t>Real-time vision</a:t>
            </a:r>
          </a:p>
        </p:txBody>
      </p:sp>
      <p:pic>
        <p:nvPicPr>
          <p:cNvPr id="30" name="Picture 29" descr="img009.jpg"/>
          <p:cNvPicPr>
            <a:picLocks noChangeAspect="1"/>
          </p:cNvPicPr>
          <p:nvPr/>
        </p:nvPicPr>
        <p:blipFill>
          <a:blip r:embed="rId8"/>
          <a:stretch>
            <a:fillRect/>
          </a:stretch>
        </p:blipFill>
        <p:spPr>
          <a:xfrm>
            <a:off x="8097316" y="3950208"/>
            <a:ext cx="3637178" cy="1664208"/>
          </a:xfrm>
          <a:prstGeom prst="rect">
            <a:avLst/>
          </a:prstGeom>
        </p:spPr>
      </p:pic>
      <p:sp>
        <p:nvSpPr>
          <p:cNvPr id="31" name="Rectangle 30"/>
          <p:cNvSpPr/>
          <p:nvPr/>
        </p:nvSpPr>
        <p:spPr>
          <a:xfrm>
            <a:off x="8097316" y="5614416"/>
            <a:ext cx="3637178" cy="640080"/>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97316" y="5614416"/>
            <a:ext cx="3637178"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07044" y="5650992"/>
            <a:ext cx="731520" cy="603503"/>
          </a:xfrm>
          <a:prstGeom prst="rect">
            <a:avLst/>
          </a:prstGeom>
          <a:noFill/>
        </p:spPr>
        <p:txBody>
          <a:bodyPr wrap="square" anchor="ctr" lIns="45720" rIns="45720" tIns="27432" bIns="27432">
            <a:spAutoFit/>
          </a:bodyPr>
          <a:lstStyle/>
          <a:p>
            <a:pPr algn="l">
              <a:spcAft>
                <a:spcPts val="840"/>
              </a:spcAft>
            </a:pPr>
            <a:r>
              <a:rPr sz="2800" b="1">
                <a:solidFill>
                  <a:srgbClr val="FF9E1F"/>
                </a:solidFill>
                <a:latin typeface="Calibri"/>
              </a:rPr>
              <a:t>09</a:t>
            </a:r>
          </a:p>
        </p:txBody>
      </p:sp>
      <p:sp>
        <p:nvSpPr>
          <p:cNvPr id="34" name="TextBox 33"/>
          <p:cNvSpPr txBox="1"/>
          <p:nvPr/>
        </p:nvSpPr>
        <p:spPr>
          <a:xfrm>
            <a:off x="8965996" y="5650992"/>
            <a:ext cx="2677058" cy="603503"/>
          </a:xfrm>
          <a:prstGeom prst="rect">
            <a:avLst/>
          </a:prstGeom>
          <a:noFill/>
        </p:spPr>
        <p:txBody>
          <a:bodyPr wrap="square" anchor="ctr" lIns="45720" rIns="45720" tIns="27432" bIns="27432">
            <a:spAutoFit/>
          </a:bodyPr>
          <a:lstStyle/>
          <a:p>
            <a:pPr algn="l">
              <a:spcAft>
                <a:spcPts val="540"/>
              </a:spcAft>
            </a:pPr>
            <a:r>
              <a:rPr sz="1800" b="1">
                <a:solidFill>
                  <a:srgbClr val="FFFFFF"/>
                </a:solidFill>
                <a:latin typeface="Calibri"/>
              </a:rPr>
              <a:t>Defence and vehicles</a:t>
            </a:r>
          </a:p>
        </p:txBody>
      </p:sp>
      <p:sp>
        <p:nvSpPr>
          <p:cNvPr id="35" name="TextBox 34"/>
          <p:cNvSpPr txBox="1"/>
          <p:nvPr/>
        </p:nvSpPr>
        <p:spPr>
          <a:xfrm>
            <a:off x="457200" y="6437376"/>
            <a:ext cx="3657600" cy="274320"/>
          </a:xfrm>
          <a:prstGeom prst="rect">
            <a:avLst/>
          </a:prstGeom>
          <a:noFill/>
        </p:spPr>
        <p:txBody>
          <a:bodyPr wrap="square" anchor="ctr" lIns="45720" rIns="45720" tIns="27432" bIns="27432">
            <a:spAutoFit/>
          </a:bodyPr>
          <a:lstStyle/>
          <a:p>
            <a:pPr algn="l">
              <a:spcAft>
                <a:spcPts val="330"/>
              </a:spcAft>
            </a:pPr>
            <a:r>
              <a:rPr sz="1100" b="0">
                <a:solidFill>
                  <a:srgbClr val="A8B0BA"/>
                </a:solidFill>
                <a:latin typeface="Calibri"/>
              </a:rPr>
              <a:t>11 October 2026</a:t>
            </a:r>
          </a:p>
        </p:txBody>
      </p:sp>
      <p:sp>
        <p:nvSpPr>
          <p:cNvPr id="36" name="TextBox 35"/>
          <p:cNvSpPr txBox="1"/>
          <p:nvPr/>
        </p:nvSpPr>
        <p:spPr>
          <a:xfrm>
            <a:off x="9905695" y="6437376"/>
            <a:ext cx="1828800" cy="274320"/>
          </a:xfrm>
          <a:prstGeom prst="rect">
            <a:avLst/>
          </a:prstGeom>
          <a:noFill/>
        </p:spPr>
        <p:txBody>
          <a:bodyPr wrap="square" anchor="ctr" lIns="45720" rIns="45720" tIns="27432" bIns="27432">
            <a:spAutoFit/>
          </a:bodyPr>
          <a:lstStyle/>
          <a:p>
            <a:pPr algn="r">
              <a:spcAft>
                <a:spcPts val="330"/>
              </a:spcAft>
            </a:pPr>
            <a:r>
              <a:rPr sz="1100" b="0">
                <a:solidFill>
                  <a:srgbClr val="A8B0BA"/>
                </a:solidFill>
                <a:latin typeface="Calibri"/>
              </a:rP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80A0D"/>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8229600" cy="310896"/>
          </a:xfrm>
          <a:prstGeom prst="rect">
            <a:avLst/>
          </a:prstGeom>
          <a:noFill/>
        </p:spPr>
        <p:txBody>
          <a:bodyPr wrap="square" anchor="t" lIns="45720" rIns="45720" tIns="27432" bIns="27432">
            <a:spAutoFit/>
          </a:bodyPr>
          <a:lstStyle/>
          <a:p>
            <a:pPr algn="l">
              <a:spcAft>
                <a:spcPts val="390"/>
              </a:spcAft>
            </a:pPr>
            <a:r>
              <a:rPr sz="1300" b="1">
                <a:solidFill>
                  <a:srgbClr val="FF9E1F"/>
                </a:solidFill>
                <a:latin typeface="Calibri"/>
              </a:rPr>
              <a:t>4  |  PIPELINE</a:t>
            </a:r>
          </a:p>
        </p:txBody>
      </p:sp>
      <p:sp>
        <p:nvSpPr>
          <p:cNvPr id="4" name="TextBox 3"/>
          <p:cNvSpPr txBox="1"/>
          <p:nvPr/>
        </p:nvSpPr>
        <p:spPr>
          <a:xfrm>
            <a:off x="457200" y="512064"/>
            <a:ext cx="11277295" cy="731520"/>
          </a:xfrm>
          <a:prstGeom prst="rect">
            <a:avLst/>
          </a:prstGeom>
          <a:noFill/>
        </p:spPr>
        <p:txBody>
          <a:bodyPr wrap="square" anchor="t" lIns="45720" rIns="45720" tIns="27432" bIns="27432">
            <a:spAutoFit/>
          </a:bodyPr>
          <a:lstStyle/>
          <a:p>
            <a:pPr algn="l">
              <a:spcAft>
                <a:spcPts val="960"/>
              </a:spcAft>
            </a:pPr>
            <a:r>
              <a:rPr sz="3200" b="1">
                <a:solidFill>
                  <a:srgbClr val="FFFFFF"/>
                </a:solidFill>
                <a:latin typeface="Calibri"/>
              </a:rPr>
              <a:t>The graphics pipeline, end to end</a:t>
            </a:r>
          </a:p>
        </p:txBody>
      </p:sp>
      <p:pic>
        <p:nvPicPr>
          <p:cNvPr id="5" name="Picture 4" descr="img014.jpg"/>
          <p:cNvPicPr>
            <a:picLocks noChangeAspect="1"/>
          </p:cNvPicPr>
          <p:nvPr/>
        </p:nvPicPr>
        <p:blipFill>
          <a:blip r:embed="rId3"/>
          <a:stretch>
            <a:fillRect/>
          </a:stretch>
        </p:blipFill>
        <p:spPr>
          <a:xfrm>
            <a:off x="457200" y="1463040"/>
            <a:ext cx="2011680" cy="2834640"/>
          </a:xfrm>
          <a:prstGeom prst="rect">
            <a:avLst/>
          </a:prstGeom>
        </p:spPr>
      </p:pic>
      <p:sp>
        <p:nvSpPr>
          <p:cNvPr id="6" name="Rectangle 5"/>
          <p:cNvSpPr/>
          <p:nvPr/>
        </p:nvSpPr>
        <p:spPr>
          <a:xfrm>
            <a:off x="457200" y="1463040"/>
            <a:ext cx="384048" cy="384048"/>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463040"/>
            <a:ext cx="384048" cy="384048"/>
          </a:xfrm>
          <a:prstGeom prst="rect">
            <a:avLst/>
          </a:prstGeom>
          <a:noFill/>
        </p:spPr>
        <p:txBody>
          <a:bodyPr wrap="square" anchor="ctr" lIns="45720" rIns="45720" tIns="27432" bIns="27432">
            <a:spAutoFit/>
          </a:bodyPr>
          <a:lstStyle/>
          <a:p>
            <a:pPr algn="ctr">
              <a:spcAft>
                <a:spcPts val="480"/>
              </a:spcAft>
            </a:pPr>
            <a:r>
              <a:rPr sz="1600" b="1">
                <a:solidFill>
                  <a:srgbClr val="080A0D"/>
                </a:solidFill>
                <a:latin typeface="Calibri"/>
              </a:rPr>
              <a:t>1</a:t>
            </a:r>
          </a:p>
        </p:txBody>
      </p:sp>
      <p:sp>
        <p:nvSpPr>
          <p:cNvPr id="8" name="Rectangle 7"/>
          <p:cNvSpPr/>
          <p:nvPr/>
        </p:nvSpPr>
        <p:spPr>
          <a:xfrm>
            <a:off x="457200" y="4297680"/>
            <a:ext cx="2011680" cy="1051560"/>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4297680"/>
            <a:ext cx="2011680"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4407408"/>
            <a:ext cx="1865376" cy="914399"/>
          </a:xfrm>
          <a:prstGeom prst="rect">
            <a:avLst/>
          </a:prstGeom>
          <a:noFill/>
        </p:spPr>
        <p:txBody>
          <a:bodyPr wrap="square" anchor="t" lIns="45720" rIns="45720" tIns="27432" bIns="27432">
            <a:spAutoFit/>
          </a:bodyPr>
          <a:lstStyle/>
          <a:p>
            <a:pPr algn="l">
              <a:spcAft>
                <a:spcPts val="375"/>
              </a:spcAft>
            </a:pPr>
            <a:r>
              <a:rPr sz="1500" b="1">
                <a:solidFill>
                  <a:srgbClr val="FFFFFF"/>
                </a:solidFill>
                <a:latin typeface="Calibri"/>
              </a:rPr>
              <a:t>Primitives</a:t>
            </a:r>
          </a:p>
          <a:p>
            <a:pPr algn="l">
              <a:spcAft>
                <a:spcPts val="375"/>
              </a:spcAft>
            </a:pPr>
            <a:r>
              <a:rPr sz="1500" b="0">
                <a:solidFill>
                  <a:srgbClr val="A8B0BA"/>
                </a:solidFill>
                <a:latin typeface="Calibri"/>
              </a:rPr>
              <a:t>16 generators, in code</a:t>
            </a:r>
          </a:p>
        </p:txBody>
      </p:sp>
      <p:sp>
        <p:nvSpPr>
          <p:cNvPr id="11" name="Right Arrow 10"/>
          <p:cNvSpPr/>
          <p:nvPr/>
        </p:nvSpPr>
        <p:spPr>
          <a:xfrm>
            <a:off x="2502369" y="2743200"/>
            <a:ext cx="237744" cy="274320"/>
          </a:xfrm>
          <a:prstGeom prst="rightArrow">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g015.jpg"/>
          <p:cNvPicPr>
            <a:picLocks noChangeAspect="1"/>
          </p:cNvPicPr>
          <p:nvPr/>
        </p:nvPicPr>
        <p:blipFill>
          <a:blip r:embed="rId4"/>
          <a:stretch>
            <a:fillRect/>
          </a:stretch>
        </p:blipFill>
        <p:spPr>
          <a:xfrm>
            <a:off x="2773603" y="1463040"/>
            <a:ext cx="2011680" cy="2834640"/>
          </a:xfrm>
          <a:prstGeom prst="rect">
            <a:avLst/>
          </a:prstGeom>
        </p:spPr>
      </p:pic>
      <p:sp>
        <p:nvSpPr>
          <p:cNvPr id="13" name="Rectangle 12"/>
          <p:cNvSpPr/>
          <p:nvPr/>
        </p:nvSpPr>
        <p:spPr>
          <a:xfrm>
            <a:off x="2773603" y="1463040"/>
            <a:ext cx="384048" cy="384048"/>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73603" y="1463040"/>
            <a:ext cx="384048" cy="384048"/>
          </a:xfrm>
          <a:prstGeom prst="rect">
            <a:avLst/>
          </a:prstGeom>
          <a:noFill/>
        </p:spPr>
        <p:txBody>
          <a:bodyPr wrap="square" anchor="ctr" lIns="45720" rIns="45720" tIns="27432" bIns="27432">
            <a:spAutoFit/>
          </a:bodyPr>
          <a:lstStyle/>
          <a:p>
            <a:pPr algn="ctr">
              <a:spcAft>
                <a:spcPts val="480"/>
              </a:spcAft>
            </a:pPr>
            <a:r>
              <a:rPr sz="1600" b="1">
                <a:solidFill>
                  <a:srgbClr val="080A0D"/>
                </a:solidFill>
                <a:latin typeface="Calibri"/>
              </a:rPr>
              <a:t>2</a:t>
            </a:r>
          </a:p>
        </p:txBody>
      </p:sp>
      <p:sp>
        <p:nvSpPr>
          <p:cNvPr id="15" name="Rectangle 14"/>
          <p:cNvSpPr/>
          <p:nvPr/>
        </p:nvSpPr>
        <p:spPr>
          <a:xfrm>
            <a:off x="2773603" y="4297680"/>
            <a:ext cx="2011680" cy="1051560"/>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73603" y="4297680"/>
            <a:ext cx="2011680"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46755" y="4407408"/>
            <a:ext cx="1865376" cy="914399"/>
          </a:xfrm>
          <a:prstGeom prst="rect">
            <a:avLst/>
          </a:prstGeom>
          <a:noFill/>
        </p:spPr>
        <p:txBody>
          <a:bodyPr wrap="square" anchor="t" lIns="45720" rIns="45720" tIns="27432" bIns="27432">
            <a:spAutoFit/>
          </a:bodyPr>
          <a:lstStyle/>
          <a:p>
            <a:pPr algn="l">
              <a:spcAft>
                <a:spcPts val="375"/>
              </a:spcAft>
            </a:pPr>
            <a:r>
              <a:rPr sz="1500" b="1">
                <a:solidFill>
                  <a:srgbClr val="FFFFFF"/>
                </a:solidFill>
                <a:latin typeface="Calibri"/>
              </a:rPr>
              <a:t>Hierarchy</a:t>
            </a:r>
          </a:p>
          <a:p>
            <a:pPr algn="l">
              <a:spcAft>
                <a:spcPts val="375"/>
              </a:spcAft>
            </a:pPr>
            <a:r>
              <a:rPr sz="1500" b="0">
                <a:solidFill>
                  <a:srgbClr val="A8B0BA"/>
                </a:solidFill>
                <a:latin typeface="Calibri"/>
              </a:rPr>
              <a:t>M = T · R · S, parent × child</a:t>
            </a:r>
          </a:p>
        </p:txBody>
      </p:sp>
      <p:sp>
        <p:nvSpPr>
          <p:cNvPr id="18" name="Right Arrow 17"/>
          <p:cNvSpPr/>
          <p:nvPr/>
        </p:nvSpPr>
        <p:spPr>
          <a:xfrm>
            <a:off x="4818773" y="2743200"/>
            <a:ext cx="237744" cy="274320"/>
          </a:xfrm>
          <a:prstGeom prst="rightArrow">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g016.jpg"/>
          <p:cNvPicPr>
            <a:picLocks noChangeAspect="1"/>
          </p:cNvPicPr>
          <p:nvPr/>
        </p:nvPicPr>
        <p:blipFill>
          <a:blip r:embed="rId5"/>
          <a:stretch>
            <a:fillRect/>
          </a:stretch>
        </p:blipFill>
        <p:spPr>
          <a:xfrm>
            <a:off x="5090007" y="1463040"/>
            <a:ext cx="2011680" cy="2834640"/>
          </a:xfrm>
          <a:prstGeom prst="rect">
            <a:avLst/>
          </a:prstGeom>
        </p:spPr>
      </p:pic>
      <p:sp>
        <p:nvSpPr>
          <p:cNvPr id="20" name="Rectangle 19"/>
          <p:cNvSpPr/>
          <p:nvPr/>
        </p:nvSpPr>
        <p:spPr>
          <a:xfrm>
            <a:off x="5090007" y="1463040"/>
            <a:ext cx="384048" cy="384048"/>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90007" y="1463040"/>
            <a:ext cx="384048" cy="384048"/>
          </a:xfrm>
          <a:prstGeom prst="rect">
            <a:avLst/>
          </a:prstGeom>
          <a:noFill/>
        </p:spPr>
        <p:txBody>
          <a:bodyPr wrap="square" anchor="ctr" lIns="45720" rIns="45720" tIns="27432" bIns="27432">
            <a:spAutoFit/>
          </a:bodyPr>
          <a:lstStyle/>
          <a:p>
            <a:pPr algn="ctr">
              <a:spcAft>
                <a:spcPts val="480"/>
              </a:spcAft>
            </a:pPr>
            <a:r>
              <a:rPr sz="1600" b="1">
                <a:solidFill>
                  <a:srgbClr val="080A0D"/>
                </a:solidFill>
                <a:latin typeface="Calibri"/>
              </a:rPr>
              <a:t>3</a:t>
            </a:r>
          </a:p>
        </p:txBody>
      </p:sp>
      <p:sp>
        <p:nvSpPr>
          <p:cNvPr id="22" name="Rectangle 21"/>
          <p:cNvSpPr/>
          <p:nvPr/>
        </p:nvSpPr>
        <p:spPr>
          <a:xfrm>
            <a:off x="5090007" y="4297680"/>
            <a:ext cx="2011680" cy="1051560"/>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90007" y="4297680"/>
            <a:ext cx="2011680"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63159" y="4407408"/>
            <a:ext cx="1865376" cy="914399"/>
          </a:xfrm>
          <a:prstGeom prst="rect">
            <a:avLst/>
          </a:prstGeom>
          <a:noFill/>
        </p:spPr>
        <p:txBody>
          <a:bodyPr wrap="square" anchor="t" lIns="45720" rIns="45720" tIns="27432" bIns="27432">
            <a:spAutoFit/>
          </a:bodyPr>
          <a:lstStyle/>
          <a:p>
            <a:pPr algn="l">
              <a:spcAft>
                <a:spcPts val="375"/>
              </a:spcAft>
            </a:pPr>
            <a:r>
              <a:rPr sz="1500" b="1">
                <a:solidFill>
                  <a:srgbClr val="FFFFFF"/>
                </a:solidFill>
                <a:latin typeface="Calibri"/>
              </a:rPr>
              <a:t>Lighting</a:t>
            </a:r>
          </a:p>
          <a:p>
            <a:pPr algn="l">
              <a:spcAft>
                <a:spcPts val="375"/>
              </a:spcAft>
            </a:pPr>
            <a:r>
              <a:rPr sz="1500" b="0">
                <a:solidFill>
                  <a:srgbClr val="A8B0BA"/>
                </a:solidFill>
                <a:latin typeface="Calibri"/>
              </a:rPr>
              <a:t>vector maths written by hand</a:t>
            </a:r>
          </a:p>
        </p:txBody>
      </p:sp>
      <p:sp>
        <p:nvSpPr>
          <p:cNvPr id="25" name="Right Arrow 24"/>
          <p:cNvSpPr/>
          <p:nvPr/>
        </p:nvSpPr>
        <p:spPr>
          <a:xfrm>
            <a:off x="7135177" y="2743200"/>
            <a:ext cx="237744" cy="274320"/>
          </a:xfrm>
          <a:prstGeom prst="rightArrow">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g017.jpg"/>
          <p:cNvPicPr>
            <a:picLocks noChangeAspect="1"/>
          </p:cNvPicPr>
          <p:nvPr/>
        </p:nvPicPr>
        <p:blipFill>
          <a:blip r:embed="rId6"/>
          <a:stretch>
            <a:fillRect/>
          </a:stretch>
        </p:blipFill>
        <p:spPr>
          <a:xfrm>
            <a:off x="7406411" y="1463040"/>
            <a:ext cx="2011680" cy="1394460"/>
          </a:xfrm>
          <a:prstGeom prst="rect">
            <a:avLst/>
          </a:prstGeom>
        </p:spPr>
      </p:pic>
      <p:pic>
        <p:nvPicPr>
          <p:cNvPr id="27" name="Picture 26" descr="img018.jpg"/>
          <p:cNvPicPr>
            <a:picLocks noChangeAspect="1"/>
          </p:cNvPicPr>
          <p:nvPr/>
        </p:nvPicPr>
        <p:blipFill>
          <a:blip r:embed="rId7"/>
          <a:stretch>
            <a:fillRect/>
          </a:stretch>
        </p:blipFill>
        <p:spPr>
          <a:xfrm>
            <a:off x="7406411" y="2903220"/>
            <a:ext cx="2011680" cy="1394460"/>
          </a:xfrm>
          <a:prstGeom prst="rect">
            <a:avLst/>
          </a:prstGeom>
        </p:spPr>
      </p:pic>
      <p:sp>
        <p:nvSpPr>
          <p:cNvPr id="28" name="Rectangle 27"/>
          <p:cNvSpPr/>
          <p:nvPr/>
        </p:nvSpPr>
        <p:spPr>
          <a:xfrm>
            <a:off x="7406411" y="1463040"/>
            <a:ext cx="384048" cy="384048"/>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06411" y="1463040"/>
            <a:ext cx="384048" cy="384048"/>
          </a:xfrm>
          <a:prstGeom prst="rect">
            <a:avLst/>
          </a:prstGeom>
          <a:noFill/>
        </p:spPr>
        <p:txBody>
          <a:bodyPr wrap="square" anchor="ctr" lIns="45720" rIns="45720" tIns="27432" bIns="27432">
            <a:spAutoFit/>
          </a:bodyPr>
          <a:lstStyle/>
          <a:p>
            <a:pPr algn="ctr">
              <a:spcAft>
                <a:spcPts val="480"/>
              </a:spcAft>
            </a:pPr>
            <a:r>
              <a:rPr sz="1600" b="1">
                <a:solidFill>
                  <a:srgbClr val="080A0D"/>
                </a:solidFill>
                <a:latin typeface="Calibri"/>
              </a:rPr>
              <a:t>4</a:t>
            </a:r>
          </a:p>
        </p:txBody>
      </p:sp>
      <p:sp>
        <p:nvSpPr>
          <p:cNvPr id="30" name="Rectangle 29"/>
          <p:cNvSpPr/>
          <p:nvPr/>
        </p:nvSpPr>
        <p:spPr>
          <a:xfrm>
            <a:off x="7406411" y="4297680"/>
            <a:ext cx="2011680" cy="1051560"/>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411" y="4297680"/>
            <a:ext cx="2011680"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79563" y="4407408"/>
            <a:ext cx="1865376" cy="914399"/>
          </a:xfrm>
          <a:prstGeom prst="rect">
            <a:avLst/>
          </a:prstGeom>
          <a:noFill/>
        </p:spPr>
        <p:txBody>
          <a:bodyPr wrap="square" anchor="t" lIns="45720" rIns="45720" tIns="27432" bIns="27432">
            <a:spAutoFit/>
          </a:bodyPr>
          <a:lstStyle/>
          <a:p>
            <a:pPr algn="l">
              <a:spcAft>
                <a:spcPts val="375"/>
              </a:spcAft>
            </a:pPr>
            <a:r>
              <a:rPr sz="1500" b="1">
                <a:solidFill>
                  <a:srgbClr val="FFFFFF"/>
                </a:solidFill>
                <a:latin typeface="Calibri"/>
              </a:rPr>
              <a:t>Rendering</a:t>
            </a:r>
          </a:p>
          <a:p>
            <a:pPr algn="l">
              <a:spcAft>
                <a:spcPts val="375"/>
              </a:spcAft>
            </a:pPr>
            <a:r>
              <a:rPr sz="1500" b="0">
                <a:solidFill>
                  <a:srgbClr val="A8B0BA"/>
                </a:solidFill>
                <a:latin typeface="Calibri"/>
              </a:rPr>
              <a:t>rasteriser or ray tracer</a:t>
            </a:r>
          </a:p>
        </p:txBody>
      </p:sp>
      <p:sp>
        <p:nvSpPr>
          <p:cNvPr id="33" name="Right Arrow 32"/>
          <p:cNvSpPr/>
          <p:nvPr/>
        </p:nvSpPr>
        <p:spPr>
          <a:xfrm>
            <a:off x="9451581" y="2743200"/>
            <a:ext cx="237744" cy="274320"/>
          </a:xfrm>
          <a:prstGeom prst="rightArrow">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mg019.jpg"/>
          <p:cNvPicPr>
            <a:picLocks noChangeAspect="1"/>
          </p:cNvPicPr>
          <p:nvPr/>
        </p:nvPicPr>
        <p:blipFill>
          <a:blip r:embed="rId8"/>
          <a:stretch>
            <a:fillRect/>
          </a:stretch>
        </p:blipFill>
        <p:spPr>
          <a:xfrm>
            <a:off x="9722815" y="1463040"/>
            <a:ext cx="2011680" cy="2834640"/>
          </a:xfrm>
          <a:prstGeom prst="rect">
            <a:avLst/>
          </a:prstGeom>
        </p:spPr>
      </p:pic>
      <p:sp>
        <p:nvSpPr>
          <p:cNvPr id="35" name="Rectangle 34"/>
          <p:cNvSpPr/>
          <p:nvPr/>
        </p:nvSpPr>
        <p:spPr>
          <a:xfrm>
            <a:off x="9722815" y="1463040"/>
            <a:ext cx="384048" cy="384048"/>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722815" y="1463040"/>
            <a:ext cx="384048" cy="384048"/>
          </a:xfrm>
          <a:prstGeom prst="rect">
            <a:avLst/>
          </a:prstGeom>
          <a:noFill/>
        </p:spPr>
        <p:txBody>
          <a:bodyPr wrap="square" anchor="ctr" lIns="45720" rIns="45720" tIns="27432" bIns="27432">
            <a:spAutoFit/>
          </a:bodyPr>
          <a:lstStyle/>
          <a:p>
            <a:pPr algn="ctr">
              <a:spcAft>
                <a:spcPts val="480"/>
              </a:spcAft>
            </a:pPr>
            <a:r>
              <a:rPr sz="1600" b="1">
                <a:solidFill>
                  <a:srgbClr val="080A0D"/>
                </a:solidFill>
                <a:latin typeface="Calibri"/>
              </a:rPr>
              <a:t>5</a:t>
            </a:r>
          </a:p>
        </p:txBody>
      </p:sp>
      <p:sp>
        <p:nvSpPr>
          <p:cNvPr id="37" name="Rectangle 36"/>
          <p:cNvSpPr/>
          <p:nvPr/>
        </p:nvSpPr>
        <p:spPr>
          <a:xfrm>
            <a:off x="9722815" y="4297680"/>
            <a:ext cx="2011680" cy="1051560"/>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722815" y="4297680"/>
            <a:ext cx="2011680"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795967" y="4407408"/>
            <a:ext cx="1865376" cy="914399"/>
          </a:xfrm>
          <a:prstGeom prst="rect">
            <a:avLst/>
          </a:prstGeom>
          <a:noFill/>
        </p:spPr>
        <p:txBody>
          <a:bodyPr wrap="square" anchor="t" lIns="45720" rIns="45720" tIns="27432" bIns="27432">
            <a:spAutoFit/>
          </a:bodyPr>
          <a:lstStyle/>
          <a:p>
            <a:pPr algn="l">
              <a:spcAft>
                <a:spcPts val="375"/>
              </a:spcAft>
            </a:pPr>
            <a:r>
              <a:rPr sz="1500" b="1">
                <a:solidFill>
                  <a:srgbClr val="FFFFFF"/>
                </a:solidFill>
                <a:latin typeface="Calibri"/>
              </a:rPr>
              <a:t>Post-processing</a:t>
            </a:r>
          </a:p>
          <a:p>
            <a:pPr algn="l">
              <a:spcAft>
                <a:spcPts val="375"/>
              </a:spcAft>
            </a:pPr>
            <a:r>
              <a:rPr sz="1500" b="0">
                <a:solidFill>
                  <a:srgbClr val="A8B0BA"/>
                </a:solidFill>
                <a:latin typeface="Calibri"/>
              </a:rPr>
              <a:t>fog, bloom, tone mapping</a:t>
            </a:r>
          </a:p>
        </p:txBody>
      </p:sp>
      <p:sp>
        <p:nvSpPr>
          <p:cNvPr id="40" name="TextBox 39"/>
          <p:cNvSpPr txBox="1"/>
          <p:nvPr/>
        </p:nvSpPr>
        <p:spPr>
          <a:xfrm>
            <a:off x="457200" y="5550407"/>
            <a:ext cx="11277295" cy="457200"/>
          </a:xfrm>
          <a:prstGeom prst="rect">
            <a:avLst/>
          </a:prstGeom>
          <a:noFill/>
        </p:spPr>
        <p:txBody>
          <a:bodyPr wrap="square" anchor="ctr" lIns="45720" rIns="45720" tIns="27432" bIns="27432">
            <a:spAutoFit/>
          </a:bodyPr>
          <a:lstStyle/>
          <a:p>
            <a:pPr algn="ctr">
              <a:spcAft>
                <a:spcPts val="540"/>
              </a:spcAft>
            </a:pPr>
            <a:r>
              <a:rPr sz="1800" b="1">
                <a:solidFill>
                  <a:srgbClr val="FF9E1F"/>
                </a:solidFill>
                <a:latin typeface="Calibri"/>
              </a:rPr>
              <a:t>No built-in vector function in any shader</a:t>
            </a:r>
            <a:r>
              <a:rPr sz="1800" b="0">
                <a:solidFill>
                  <a:srgbClr val="2A313A"/>
                </a:solidFill>
                <a:latin typeface="Calibri"/>
              </a:rPr>
              <a:t>     |     </a:t>
            </a:r>
            <a:r>
              <a:rPr sz="1800" b="1">
                <a:solidFill>
                  <a:srgbClr val="FF9E1F"/>
                </a:solidFill>
                <a:latin typeface="Calibri"/>
              </a:rPr>
              <a:t>No mathematics library</a:t>
            </a:r>
            <a:r>
              <a:rPr sz="1800" b="0">
                <a:solidFill>
                  <a:srgbClr val="2A313A"/>
                </a:solidFill>
                <a:latin typeface="Calibri"/>
              </a:rPr>
              <a:t>     |     </a:t>
            </a:r>
            <a:r>
              <a:rPr sz="1800" b="0">
                <a:solidFill>
                  <a:srgbClr val="FFFFFF"/>
                </a:solidFill>
                <a:latin typeface="Calibri"/>
              </a:rPr>
              <a:t>C++17, OpenGL 3.3 core</a:t>
            </a:r>
          </a:p>
        </p:txBody>
      </p:sp>
      <p:sp>
        <p:nvSpPr>
          <p:cNvPr id="41" name="TextBox 40"/>
          <p:cNvSpPr txBox="1"/>
          <p:nvPr/>
        </p:nvSpPr>
        <p:spPr>
          <a:xfrm>
            <a:off x="457200" y="6437376"/>
            <a:ext cx="3657600" cy="274320"/>
          </a:xfrm>
          <a:prstGeom prst="rect">
            <a:avLst/>
          </a:prstGeom>
          <a:noFill/>
        </p:spPr>
        <p:txBody>
          <a:bodyPr wrap="square" anchor="ctr" lIns="45720" rIns="45720" tIns="27432" bIns="27432">
            <a:spAutoFit/>
          </a:bodyPr>
          <a:lstStyle/>
          <a:p>
            <a:pPr algn="l">
              <a:spcAft>
                <a:spcPts val="330"/>
              </a:spcAft>
            </a:pPr>
            <a:r>
              <a:rPr sz="1100" b="0">
                <a:solidFill>
                  <a:srgbClr val="A8B0BA"/>
                </a:solidFill>
                <a:latin typeface="Calibri"/>
              </a:rPr>
              <a:t>11 October 2026</a:t>
            </a:r>
          </a:p>
        </p:txBody>
      </p:sp>
      <p:sp>
        <p:nvSpPr>
          <p:cNvPr id="42" name="TextBox 41"/>
          <p:cNvSpPr txBox="1"/>
          <p:nvPr/>
        </p:nvSpPr>
        <p:spPr>
          <a:xfrm>
            <a:off x="9905695" y="6437376"/>
            <a:ext cx="1828800" cy="274320"/>
          </a:xfrm>
          <a:prstGeom prst="rect">
            <a:avLst/>
          </a:prstGeom>
          <a:noFill/>
        </p:spPr>
        <p:txBody>
          <a:bodyPr wrap="square" anchor="ctr" lIns="45720" rIns="45720" tIns="27432" bIns="27432">
            <a:spAutoFit/>
          </a:bodyPr>
          <a:lstStyle/>
          <a:p>
            <a:pPr algn="r">
              <a:spcAft>
                <a:spcPts val="330"/>
              </a:spcAft>
            </a:pPr>
            <a:r>
              <a:rPr sz="1100" b="0">
                <a:solidFill>
                  <a:srgbClr val="A8B0BA"/>
                </a:solidFill>
                <a:latin typeface="Calibri"/>
              </a:rP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80A0D"/>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8229600" cy="310896"/>
          </a:xfrm>
          <a:prstGeom prst="rect">
            <a:avLst/>
          </a:prstGeom>
          <a:noFill/>
        </p:spPr>
        <p:txBody>
          <a:bodyPr wrap="square" anchor="t" lIns="45720" rIns="45720" tIns="27432" bIns="27432">
            <a:spAutoFit/>
          </a:bodyPr>
          <a:lstStyle/>
          <a:p>
            <a:pPr algn="l">
              <a:spcAft>
                <a:spcPts val="390"/>
              </a:spcAft>
            </a:pPr>
            <a:r>
              <a:rPr sz="1300" b="1">
                <a:solidFill>
                  <a:srgbClr val="FF9E1F"/>
                </a:solidFill>
                <a:latin typeface="Calibri"/>
              </a:rPr>
              <a:t>5  |  SCALE</a:t>
            </a:r>
          </a:p>
        </p:txBody>
      </p:sp>
      <p:sp>
        <p:nvSpPr>
          <p:cNvPr id="4" name="TextBox 3"/>
          <p:cNvSpPr txBox="1"/>
          <p:nvPr/>
        </p:nvSpPr>
        <p:spPr>
          <a:xfrm>
            <a:off x="457200" y="512064"/>
            <a:ext cx="11277295" cy="731520"/>
          </a:xfrm>
          <a:prstGeom prst="rect">
            <a:avLst/>
          </a:prstGeom>
          <a:noFill/>
        </p:spPr>
        <p:txBody>
          <a:bodyPr wrap="square" anchor="t" lIns="45720" rIns="45720" tIns="27432" bIns="27432">
            <a:spAutoFit/>
          </a:bodyPr>
          <a:lstStyle/>
          <a:p>
            <a:pPr algn="l">
              <a:spcAft>
                <a:spcPts val="960"/>
              </a:spcAft>
            </a:pPr>
            <a:r>
              <a:rPr sz="3200" b="1">
                <a:solidFill>
                  <a:srgbClr val="FFFFFF"/>
                </a:solidFill>
                <a:latin typeface="Calibri"/>
              </a:rPr>
              <a:t>The project in numbers</a:t>
            </a:r>
          </a:p>
        </p:txBody>
      </p:sp>
      <p:graphicFrame>
        <p:nvGraphicFramePr>
          <p:cNvPr id="5" name="Table 4"/>
          <p:cNvGraphicFramePr>
            <a:graphicFrameLocks noGrp="1"/>
          </p:cNvGraphicFramePr>
          <p:nvPr/>
        </p:nvGraphicFramePr>
        <p:xfrm>
          <a:off x="457200" y="1463040"/>
          <a:ext cx="6126480" cy="4800598"/>
        </p:xfrm>
        <a:graphic>
          <a:graphicData uri="http://schemas.openxmlformats.org/drawingml/2006/table">
            <a:tbl>
              <a:tblPr firstRow="1">
                <a:tableStyleId>{2D5ABB26-0587-4C30-8999-92F81FD0307C}</a:tableStyleId>
              </a:tblPr>
              <a:tblGrid>
                <a:gridCol w="3429000"/>
                <a:gridCol w="2697480"/>
              </a:tblGrid>
              <a:tr h="436418">
                <a:tc>
                  <a:txBody>
                    <a:bodyPr wrap="square"/>
                    <a:lstStyle/>
                    <a:p>
                      <a:pPr algn="l"/>
                      <a:r>
                        <a:rPr sz="1300" b="1">
                          <a:solidFill>
                            <a:srgbClr val="FF9E1F"/>
                          </a:solidFill>
                          <a:latin typeface="Calibri"/>
                        </a:rPr>
                        <a:t>Measure</a:t>
                      </a:r>
                    </a:p>
                  </a:txBody>
                  <a:tcPr marL="109728" marR="109728" marT="27432" marB="27432" anchor="ctr">
                    <a:lnL w="0">
                      <a:noFill/>
                    </a:lnL>
                    <a:lnR w="0">
                      <a:noFill/>
                    </a:lnR>
                    <a:lnT w="0">
                      <a:noFill/>
                    </a:lnT>
                    <a:lnB w="19050" cap="flat" cmpd="sng">
                      <a:solidFill>
                        <a:srgbClr val="FF9E1F"/>
                      </a:solidFill>
                    </a:lnB>
                    <a:solidFill>
                      <a:srgbClr val="14181E"/>
                    </a:solidFill>
                  </a:tcPr>
                </a:tc>
                <a:tc>
                  <a:txBody>
                    <a:bodyPr wrap="square"/>
                    <a:lstStyle/>
                    <a:p>
                      <a:pPr algn="l"/>
                      <a:r>
                        <a:rPr sz="1300" b="1">
                          <a:solidFill>
                            <a:srgbClr val="FF9E1F"/>
                          </a:solidFill>
                          <a:latin typeface="Calibri"/>
                        </a:rPr>
                        <a:t>Value</a:t>
                      </a:r>
                    </a:p>
                  </a:txBody>
                  <a:tcPr marL="109728" marR="109728" marT="27432" marB="27432" anchor="ctr">
                    <a:lnL w="0">
                      <a:noFill/>
                    </a:lnL>
                    <a:lnR w="0">
                      <a:noFill/>
                    </a:lnR>
                    <a:lnT w="0">
                      <a:noFill/>
                    </a:lnT>
                    <a:lnB w="19050" cap="flat" cmpd="sng">
                      <a:solidFill>
                        <a:srgbClr val="FF9E1F"/>
                      </a:solidFill>
                    </a:lnB>
                    <a:solidFill>
                      <a:srgbClr val="14181E"/>
                    </a:solidFill>
                  </a:tcPr>
                </a:tc>
              </a:tr>
              <a:tr h="436418">
                <a:tc>
                  <a:txBody>
                    <a:bodyPr wrap="square"/>
                    <a:lstStyle/>
                    <a:p>
                      <a:pPr algn="l"/>
                      <a:r>
                        <a:rPr sz="1600" b="0">
                          <a:solidFill>
                            <a:srgbClr val="FFFFFF"/>
                          </a:solidFill>
                          <a:latin typeface="Calibri"/>
                        </a:rPr>
                        <a:t>Primitive generators</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600" b="1">
                          <a:solidFill>
                            <a:srgbClr val="FF9E1F"/>
                          </a:solidFill>
                          <a:latin typeface="Calibri"/>
                        </a:rPr>
                        <a:t>16</a:t>
                      </a:r>
                    </a:p>
                  </a:txBody>
                  <a:tcPr marL="109728" marR="109728" marT="27432" marB="27432" anchor="ctr">
                    <a:lnL w="0">
                      <a:noFill/>
                    </a:lnL>
                    <a:lnR w="0">
                      <a:noFill/>
                    </a:lnR>
                    <a:lnT w="0">
                      <a:noFill/>
                    </a:lnT>
                    <a:lnB w="9525" cap="flat" cmpd="sng">
                      <a:solidFill>
                        <a:srgbClr val="2A313A"/>
                      </a:solidFill>
                    </a:lnB>
                    <a:solidFill>
                      <a:srgbClr val="0F1217"/>
                    </a:solidFill>
                  </a:tcPr>
                </a:tc>
              </a:tr>
              <a:tr h="436418">
                <a:tc>
                  <a:txBody>
                    <a:bodyPr wrap="square"/>
                    <a:lstStyle/>
                    <a:p>
                      <a:pPr algn="l"/>
                      <a:r>
                        <a:rPr sz="1600" b="0">
                          <a:solidFill>
                            <a:srgbClr val="FFFFFF"/>
                          </a:solidFill>
                          <a:latin typeface="Calibri"/>
                        </a:rPr>
                        <a:t>Designs built from them</a:t>
                      </a:r>
                    </a:p>
                  </a:txBody>
                  <a:tcPr marL="109728" marR="109728" marT="27432" marB="27432" anchor="ctr">
                    <a:lnL w="0">
                      <a:noFill/>
                    </a:lnL>
                    <a:lnR w="0">
                      <a:noFill/>
                    </a:lnR>
                    <a:lnT w="0">
                      <a:noFill/>
                    </a:lnT>
                    <a:lnB w="9525" cap="flat" cmpd="sng">
                      <a:solidFill>
                        <a:srgbClr val="2A313A"/>
                      </a:solidFill>
                    </a:lnB>
                    <a:solidFill>
                      <a:srgbClr val="080A0D"/>
                    </a:solidFill>
                  </a:tcPr>
                </a:tc>
                <a:tc>
                  <a:txBody>
                    <a:bodyPr wrap="square"/>
                    <a:lstStyle/>
                    <a:p>
                      <a:pPr algn="l"/>
                      <a:r>
                        <a:rPr sz="1600" b="1">
                          <a:solidFill>
                            <a:srgbClr val="FF9E1F"/>
                          </a:solidFill>
                          <a:latin typeface="Calibri"/>
                        </a:rPr>
                        <a:t>62</a:t>
                      </a:r>
                    </a:p>
                  </a:txBody>
                  <a:tcPr marL="109728" marR="109728" marT="27432" marB="27432" anchor="ctr">
                    <a:lnL w="0">
                      <a:noFill/>
                    </a:lnL>
                    <a:lnR w="0">
                      <a:noFill/>
                    </a:lnR>
                    <a:lnT w="0">
                      <a:noFill/>
                    </a:lnT>
                    <a:lnB w="9525" cap="flat" cmpd="sng">
                      <a:solidFill>
                        <a:srgbClr val="2A313A"/>
                      </a:solidFill>
                    </a:lnB>
                    <a:solidFill>
                      <a:srgbClr val="080A0D"/>
                    </a:solidFill>
                  </a:tcPr>
                </a:tc>
              </a:tr>
              <a:tr h="436418">
                <a:tc>
                  <a:txBody>
                    <a:bodyPr wrap="square"/>
                    <a:lstStyle/>
                    <a:p>
                      <a:pPr algn="l"/>
                      <a:r>
                        <a:rPr sz="1600" b="0">
                          <a:solidFill>
                            <a:srgbClr val="FFFFFF"/>
                          </a:solidFill>
                          <a:latin typeface="Calibri"/>
                        </a:rPr>
                        <a:t>Parts in the scene</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600" b="1">
                          <a:solidFill>
                            <a:srgbClr val="FF9E1F"/>
                          </a:solidFill>
                          <a:latin typeface="Calibri"/>
                        </a:rPr>
                        <a:t>5,474</a:t>
                      </a:r>
                    </a:p>
                  </a:txBody>
                  <a:tcPr marL="109728" marR="109728" marT="27432" marB="27432" anchor="ctr">
                    <a:lnL w="0">
                      <a:noFill/>
                    </a:lnL>
                    <a:lnR w="0">
                      <a:noFill/>
                    </a:lnR>
                    <a:lnT w="0">
                      <a:noFill/>
                    </a:lnT>
                    <a:lnB w="9525" cap="flat" cmpd="sng">
                      <a:solidFill>
                        <a:srgbClr val="2A313A"/>
                      </a:solidFill>
                    </a:lnB>
                    <a:solidFill>
                      <a:srgbClr val="0F1217"/>
                    </a:solidFill>
                  </a:tcPr>
                </a:tc>
              </a:tr>
              <a:tr h="436418">
                <a:tc>
                  <a:txBody>
                    <a:bodyPr wrap="square"/>
                    <a:lstStyle/>
                    <a:p>
                      <a:pPr algn="l"/>
                      <a:r>
                        <a:rPr sz="1600" b="0">
                          <a:solidFill>
                            <a:srgbClr val="FFFFFF"/>
                          </a:solidFill>
                          <a:latin typeface="Calibri"/>
                        </a:rPr>
                        <a:t>Calls of hand-written vector functions</a:t>
                      </a:r>
                    </a:p>
                  </a:txBody>
                  <a:tcPr marL="109728" marR="109728" marT="27432" marB="27432" anchor="ctr">
                    <a:lnL w="0">
                      <a:noFill/>
                    </a:lnL>
                    <a:lnR w="0">
                      <a:noFill/>
                    </a:lnR>
                    <a:lnT w="0">
                      <a:noFill/>
                    </a:lnT>
                    <a:lnB w="9525" cap="flat" cmpd="sng">
                      <a:solidFill>
                        <a:srgbClr val="2A313A"/>
                      </a:solidFill>
                    </a:lnB>
                    <a:solidFill>
                      <a:srgbClr val="080A0D"/>
                    </a:solidFill>
                  </a:tcPr>
                </a:tc>
                <a:tc>
                  <a:txBody>
                    <a:bodyPr wrap="square"/>
                    <a:lstStyle/>
                    <a:p>
                      <a:pPr algn="l"/>
                      <a:r>
                        <a:rPr sz="1600" b="1">
                          <a:solidFill>
                            <a:srgbClr val="FF9E1F"/>
                          </a:solidFill>
                          <a:latin typeface="Calibri"/>
                        </a:rPr>
                        <a:t>905, in 13 shader files</a:t>
                      </a:r>
                    </a:p>
                  </a:txBody>
                  <a:tcPr marL="109728" marR="109728" marT="27432" marB="27432" anchor="ctr">
                    <a:lnL w="0">
                      <a:noFill/>
                    </a:lnL>
                    <a:lnR w="0">
                      <a:noFill/>
                    </a:lnR>
                    <a:lnT w="0">
                      <a:noFill/>
                    </a:lnT>
                    <a:lnB w="9525" cap="flat" cmpd="sng">
                      <a:solidFill>
                        <a:srgbClr val="2A313A"/>
                      </a:solidFill>
                    </a:lnB>
                    <a:solidFill>
                      <a:srgbClr val="080A0D"/>
                    </a:solidFill>
                  </a:tcPr>
                </a:tc>
              </a:tr>
              <a:tr h="436418">
                <a:tc>
                  <a:txBody>
                    <a:bodyPr wrap="square"/>
                    <a:lstStyle/>
                    <a:p>
                      <a:pPr algn="l"/>
                      <a:r>
                        <a:rPr sz="1600" b="0">
                          <a:solidFill>
                            <a:srgbClr val="FFFFFF"/>
                          </a:solidFill>
                          <a:latin typeface="Calibri"/>
                        </a:rPr>
                        <a:t>Automated tests</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600" b="1">
                          <a:solidFill>
                            <a:srgbClr val="FF9E1F"/>
                          </a:solidFill>
                          <a:latin typeface="Calibri"/>
                        </a:rPr>
                        <a:t>396</a:t>
                      </a:r>
                    </a:p>
                  </a:txBody>
                  <a:tcPr marL="109728" marR="109728" marT="27432" marB="27432" anchor="ctr">
                    <a:lnL w="0">
                      <a:noFill/>
                    </a:lnL>
                    <a:lnR w="0">
                      <a:noFill/>
                    </a:lnR>
                    <a:lnT w="0">
                      <a:noFill/>
                    </a:lnT>
                    <a:lnB w="9525" cap="flat" cmpd="sng">
                      <a:solidFill>
                        <a:srgbClr val="2A313A"/>
                      </a:solidFill>
                    </a:lnB>
                    <a:solidFill>
                      <a:srgbClr val="0F1217"/>
                    </a:solidFill>
                  </a:tcPr>
                </a:tc>
              </a:tr>
              <a:tr h="436418">
                <a:tc>
                  <a:txBody>
                    <a:bodyPr wrap="square"/>
                    <a:lstStyle/>
                    <a:p>
                      <a:pPr algn="l"/>
                      <a:r>
                        <a:rPr sz="1600" b="0">
                          <a:solidFill>
                            <a:srgbClr val="FFFFFF"/>
                          </a:solidFill>
                          <a:latin typeface="Calibri"/>
                        </a:rPr>
                        <a:t>Report</a:t>
                      </a:r>
                    </a:p>
                  </a:txBody>
                  <a:tcPr marL="109728" marR="109728" marT="27432" marB="27432" anchor="ctr">
                    <a:lnL w="0">
                      <a:noFill/>
                    </a:lnL>
                    <a:lnR w="0">
                      <a:noFill/>
                    </a:lnR>
                    <a:lnT w="0">
                      <a:noFill/>
                    </a:lnT>
                    <a:lnB w="9525" cap="flat" cmpd="sng">
                      <a:solidFill>
                        <a:srgbClr val="2A313A"/>
                      </a:solidFill>
                    </a:lnB>
                    <a:solidFill>
                      <a:srgbClr val="080A0D"/>
                    </a:solidFill>
                  </a:tcPr>
                </a:tc>
                <a:tc>
                  <a:txBody>
                    <a:bodyPr wrap="square"/>
                    <a:lstStyle/>
                    <a:p>
                      <a:pPr algn="l"/>
                      <a:r>
                        <a:rPr sz="1600" b="1">
                          <a:solidFill>
                            <a:srgbClr val="FF9E1F"/>
                          </a:solidFill>
                          <a:latin typeface="Calibri"/>
                        </a:rPr>
                        <a:t>192 pages</a:t>
                      </a:r>
                    </a:p>
                  </a:txBody>
                  <a:tcPr marL="109728" marR="109728" marT="27432" marB="27432" anchor="ctr">
                    <a:lnL w="0">
                      <a:noFill/>
                    </a:lnL>
                    <a:lnR w="0">
                      <a:noFill/>
                    </a:lnR>
                    <a:lnT w="0">
                      <a:noFill/>
                    </a:lnT>
                    <a:lnB w="9525" cap="flat" cmpd="sng">
                      <a:solidFill>
                        <a:srgbClr val="2A313A"/>
                      </a:solidFill>
                    </a:lnB>
                    <a:solidFill>
                      <a:srgbClr val="080A0D"/>
                    </a:solidFill>
                  </a:tcPr>
                </a:tc>
              </a:tr>
              <a:tr h="436418">
                <a:tc>
                  <a:txBody>
                    <a:bodyPr wrap="square"/>
                    <a:lstStyle/>
                    <a:p>
                      <a:pPr algn="l"/>
                      <a:r>
                        <a:rPr sz="1600" b="0">
                          <a:solidFill>
                            <a:srgbClr val="FFFFFF"/>
                          </a:solidFill>
                          <a:latin typeface="Calibri"/>
                        </a:rPr>
                        <a:t>Film</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600" b="1">
                          <a:solidFill>
                            <a:srgbClr val="FF9E1F"/>
                          </a:solidFill>
                          <a:latin typeface="Calibri"/>
                        </a:rPr>
                        <a:t>3 min 38 s</a:t>
                      </a:r>
                    </a:p>
                  </a:txBody>
                  <a:tcPr marL="109728" marR="109728" marT="27432" marB="27432" anchor="ctr">
                    <a:lnL w="0">
                      <a:noFill/>
                    </a:lnL>
                    <a:lnR w="0">
                      <a:noFill/>
                    </a:lnR>
                    <a:lnT w="0">
                      <a:noFill/>
                    </a:lnT>
                    <a:lnB w="9525" cap="flat" cmpd="sng">
                      <a:solidFill>
                        <a:srgbClr val="2A313A"/>
                      </a:solidFill>
                    </a:lnB>
                    <a:solidFill>
                      <a:srgbClr val="0F1217"/>
                    </a:solidFill>
                  </a:tcPr>
                </a:tc>
              </a:tr>
              <a:tr h="436418">
                <a:tc>
                  <a:txBody>
                    <a:bodyPr wrap="square"/>
                    <a:lstStyle/>
                    <a:p>
                      <a:pPr algn="l"/>
                      <a:r>
                        <a:rPr sz="1600" b="0">
                          <a:solidFill>
                            <a:srgbClr val="FFFFFF"/>
                          </a:solidFill>
                          <a:latin typeface="Calibri"/>
                        </a:rPr>
                        <a:t>Language and graphics interface</a:t>
                      </a:r>
                    </a:p>
                  </a:txBody>
                  <a:tcPr marL="109728" marR="109728" marT="27432" marB="27432" anchor="ctr">
                    <a:lnL w="0">
                      <a:noFill/>
                    </a:lnL>
                    <a:lnR w="0">
                      <a:noFill/>
                    </a:lnR>
                    <a:lnT w="0">
                      <a:noFill/>
                    </a:lnT>
                    <a:lnB w="9525" cap="flat" cmpd="sng">
                      <a:solidFill>
                        <a:srgbClr val="2A313A"/>
                      </a:solidFill>
                    </a:lnB>
                    <a:solidFill>
                      <a:srgbClr val="080A0D"/>
                    </a:solidFill>
                  </a:tcPr>
                </a:tc>
                <a:tc>
                  <a:txBody>
                    <a:bodyPr wrap="square"/>
                    <a:lstStyle/>
                    <a:p>
                      <a:pPr algn="l"/>
                      <a:r>
                        <a:rPr sz="1600" b="1">
                          <a:solidFill>
                            <a:srgbClr val="FF9E1F"/>
                          </a:solidFill>
                          <a:latin typeface="Calibri"/>
                        </a:rPr>
                        <a:t>C++17, OpenGL 3.3 core</a:t>
                      </a:r>
                    </a:p>
                  </a:txBody>
                  <a:tcPr marL="109728" marR="109728" marT="27432" marB="27432" anchor="ctr">
                    <a:lnL w="0">
                      <a:noFill/>
                    </a:lnL>
                    <a:lnR w="0">
                      <a:noFill/>
                    </a:lnR>
                    <a:lnT w="0">
                      <a:noFill/>
                    </a:lnT>
                    <a:lnB w="9525" cap="flat" cmpd="sng">
                      <a:solidFill>
                        <a:srgbClr val="2A313A"/>
                      </a:solidFill>
                    </a:lnB>
                    <a:solidFill>
                      <a:srgbClr val="080A0D"/>
                    </a:solidFill>
                  </a:tcPr>
                </a:tc>
              </a:tr>
              <a:tr h="436418">
                <a:tc>
                  <a:txBody>
                    <a:bodyPr wrap="square"/>
                    <a:lstStyle/>
                    <a:p>
                      <a:pPr algn="l"/>
                      <a:r>
                        <a:rPr sz="1600" b="0">
                          <a:solidFill>
                            <a:srgbClr val="FFFFFF"/>
                          </a:solidFill>
                          <a:latin typeface="Calibri"/>
                        </a:rPr>
                        <a:t>Ray tracer</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600" b="1">
                          <a:solidFill>
                            <a:srgbClr val="FF9E1F"/>
                          </a:solidFill>
                          <a:latin typeface="Calibri"/>
                        </a:rPr>
                        <a:t>OpenGL 4.3 compute</a:t>
                      </a:r>
                    </a:p>
                  </a:txBody>
                  <a:tcPr marL="109728" marR="109728" marT="27432" marB="27432" anchor="ctr">
                    <a:lnL w="0">
                      <a:noFill/>
                    </a:lnL>
                    <a:lnR w="0">
                      <a:noFill/>
                    </a:lnR>
                    <a:lnT w="0">
                      <a:noFill/>
                    </a:lnT>
                    <a:lnB w="9525" cap="flat" cmpd="sng">
                      <a:solidFill>
                        <a:srgbClr val="2A313A"/>
                      </a:solidFill>
                    </a:lnB>
                    <a:solidFill>
                      <a:srgbClr val="0F1217"/>
                    </a:solidFill>
                  </a:tcPr>
                </a:tc>
              </a:tr>
              <a:tr h="436418">
                <a:tc>
                  <a:txBody>
                    <a:bodyPr wrap="square"/>
                    <a:lstStyle/>
                    <a:p>
                      <a:pPr algn="l"/>
                      <a:r>
                        <a:rPr sz="1600" b="0">
                          <a:solidFill>
                            <a:srgbClr val="FFFFFF"/>
                          </a:solidFill>
                          <a:latin typeface="Calibri"/>
                        </a:rPr>
                        <a:t>Mathematics library</a:t>
                      </a:r>
                    </a:p>
                  </a:txBody>
                  <a:tcPr marL="109728" marR="109728" marT="27432" marB="27432" anchor="ctr">
                    <a:lnL w="0">
                      <a:noFill/>
                    </a:lnL>
                    <a:lnR w="0">
                      <a:noFill/>
                    </a:lnR>
                    <a:lnT w="0">
                      <a:noFill/>
                    </a:lnT>
                    <a:lnB w="9525" cap="flat" cmpd="sng">
                      <a:solidFill>
                        <a:srgbClr val="2A313A"/>
                      </a:solidFill>
                    </a:lnB>
                    <a:solidFill>
                      <a:srgbClr val="080A0D"/>
                    </a:solidFill>
                  </a:tcPr>
                </a:tc>
                <a:tc>
                  <a:txBody>
                    <a:bodyPr wrap="square"/>
                    <a:lstStyle/>
                    <a:p>
                      <a:pPr algn="l"/>
                      <a:r>
                        <a:rPr sz="1600" b="1">
                          <a:solidFill>
                            <a:srgbClr val="FF9E1F"/>
                          </a:solidFill>
                          <a:latin typeface="Calibri"/>
                        </a:rPr>
                        <a:t>none</a:t>
                      </a:r>
                    </a:p>
                  </a:txBody>
                  <a:tcPr marL="109728" marR="109728" marT="27432" marB="27432" anchor="ctr">
                    <a:lnL w="0">
                      <a:noFill/>
                    </a:lnL>
                    <a:lnR w="0">
                      <a:noFill/>
                    </a:lnR>
                    <a:lnT w="0">
                      <a:noFill/>
                    </a:lnT>
                    <a:lnB w="9525" cap="flat" cmpd="sng">
                      <a:solidFill>
                        <a:srgbClr val="2A313A"/>
                      </a:solidFill>
                    </a:lnB>
                    <a:solidFill>
                      <a:srgbClr val="080A0D"/>
                    </a:solidFill>
                  </a:tcPr>
                </a:tc>
              </a:tr>
            </a:tbl>
          </a:graphicData>
        </a:graphic>
      </p:graphicFrame>
      <p:pic>
        <p:nvPicPr>
          <p:cNvPr id="6" name="Picture 5" descr="img020.jpg"/>
          <p:cNvPicPr>
            <a:picLocks noChangeAspect="1"/>
          </p:cNvPicPr>
          <p:nvPr/>
        </p:nvPicPr>
        <p:blipFill>
          <a:blip r:embed="rId3"/>
          <a:stretch>
            <a:fillRect/>
          </a:stretch>
        </p:blipFill>
        <p:spPr>
          <a:xfrm>
            <a:off x="6812280" y="1463040"/>
            <a:ext cx="4922215" cy="4389120"/>
          </a:xfrm>
          <a:prstGeom prst="rect">
            <a:avLst/>
          </a:prstGeom>
        </p:spPr>
      </p:pic>
      <p:sp>
        <p:nvSpPr>
          <p:cNvPr id="7" name="Rectangle 6"/>
          <p:cNvSpPr/>
          <p:nvPr/>
        </p:nvSpPr>
        <p:spPr>
          <a:xfrm>
            <a:off x="6812280" y="5852160"/>
            <a:ext cx="4922215" cy="411480"/>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85432" y="5852160"/>
            <a:ext cx="4775911" cy="411480"/>
          </a:xfrm>
          <a:prstGeom prst="rect">
            <a:avLst/>
          </a:prstGeom>
          <a:noFill/>
        </p:spPr>
        <p:txBody>
          <a:bodyPr wrap="square" anchor="ctr" lIns="45720" rIns="45720" tIns="27432" bIns="27432">
            <a:spAutoFit/>
          </a:bodyPr>
          <a:lstStyle/>
          <a:p>
            <a:pPr algn="l">
              <a:spcAft>
                <a:spcPts val="390"/>
              </a:spcAft>
            </a:pPr>
            <a:r>
              <a:rPr sz="1300" b="0">
                <a:solidFill>
                  <a:srgbClr val="FF9E1F"/>
                </a:solidFill>
                <a:latin typeface="Calibri"/>
              </a:rPr>
              <a:t>The camp drawn by primitive type: cube, sphere, cylinder, cone</a:t>
            </a:r>
          </a:p>
        </p:txBody>
      </p:sp>
      <p:sp>
        <p:nvSpPr>
          <p:cNvPr id="9" name="TextBox 8"/>
          <p:cNvSpPr txBox="1"/>
          <p:nvPr/>
        </p:nvSpPr>
        <p:spPr>
          <a:xfrm>
            <a:off x="457200" y="6437376"/>
            <a:ext cx="3657600" cy="274320"/>
          </a:xfrm>
          <a:prstGeom prst="rect">
            <a:avLst/>
          </a:prstGeom>
          <a:noFill/>
        </p:spPr>
        <p:txBody>
          <a:bodyPr wrap="square" anchor="ctr" lIns="45720" rIns="45720" tIns="27432" bIns="27432">
            <a:spAutoFit/>
          </a:bodyPr>
          <a:lstStyle/>
          <a:p>
            <a:pPr algn="l">
              <a:spcAft>
                <a:spcPts val="330"/>
              </a:spcAft>
            </a:pPr>
            <a:r>
              <a:rPr sz="1100" b="0">
                <a:solidFill>
                  <a:srgbClr val="A8B0BA"/>
                </a:solidFill>
                <a:latin typeface="Calibri"/>
              </a:rPr>
              <a:t>11 October 2026</a:t>
            </a:r>
          </a:p>
        </p:txBody>
      </p:sp>
      <p:sp>
        <p:nvSpPr>
          <p:cNvPr id="10" name="TextBox 9"/>
          <p:cNvSpPr txBox="1"/>
          <p:nvPr/>
        </p:nvSpPr>
        <p:spPr>
          <a:xfrm>
            <a:off x="9905695" y="6437376"/>
            <a:ext cx="1828800" cy="274320"/>
          </a:xfrm>
          <a:prstGeom prst="rect">
            <a:avLst/>
          </a:prstGeom>
          <a:noFill/>
        </p:spPr>
        <p:txBody>
          <a:bodyPr wrap="square" anchor="ctr" lIns="45720" rIns="45720" tIns="27432" bIns="27432">
            <a:spAutoFit/>
          </a:bodyPr>
          <a:lstStyle/>
          <a:p>
            <a:pPr algn="r">
              <a:spcAft>
                <a:spcPts val="330"/>
              </a:spcAft>
            </a:pPr>
            <a:r>
              <a:rPr sz="1100" b="0">
                <a:solidFill>
                  <a:srgbClr val="A8B0BA"/>
                </a:solidFill>
                <a:latin typeface="Calibri"/>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80A0D"/>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8229600" cy="310896"/>
          </a:xfrm>
          <a:prstGeom prst="rect">
            <a:avLst/>
          </a:prstGeom>
          <a:noFill/>
        </p:spPr>
        <p:txBody>
          <a:bodyPr wrap="square" anchor="t" lIns="45720" rIns="45720" tIns="27432" bIns="27432">
            <a:spAutoFit/>
          </a:bodyPr>
          <a:lstStyle/>
          <a:p>
            <a:pPr algn="l">
              <a:spcAft>
                <a:spcPts val="390"/>
              </a:spcAft>
            </a:pPr>
            <a:r>
              <a:rPr sz="1300" b="1">
                <a:solidFill>
                  <a:srgbClr val="FF9E1F"/>
                </a:solidFill>
                <a:latin typeface="Calibri"/>
              </a:rPr>
              <a:t>6  |  ILLUMINATION</a:t>
            </a:r>
          </a:p>
        </p:txBody>
      </p:sp>
      <p:sp>
        <p:nvSpPr>
          <p:cNvPr id="4" name="TextBox 3"/>
          <p:cNvSpPr txBox="1"/>
          <p:nvPr/>
        </p:nvSpPr>
        <p:spPr>
          <a:xfrm>
            <a:off x="457200" y="512064"/>
            <a:ext cx="11277295" cy="731520"/>
          </a:xfrm>
          <a:prstGeom prst="rect">
            <a:avLst/>
          </a:prstGeom>
          <a:noFill/>
        </p:spPr>
        <p:txBody>
          <a:bodyPr wrap="square" anchor="t" lIns="45720" rIns="45720" tIns="27432" bIns="27432">
            <a:spAutoFit/>
          </a:bodyPr>
          <a:lstStyle/>
          <a:p>
            <a:pPr algn="l">
              <a:spcAft>
                <a:spcPts val="960"/>
              </a:spcAft>
            </a:pPr>
            <a:r>
              <a:rPr sz="3200" b="1">
                <a:solidFill>
                  <a:srgbClr val="FFFFFF"/>
                </a:solidFill>
                <a:latin typeface="Calibri"/>
              </a:rPr>
              <a:t>Lighting and shading, written by hand</a:t>
            </a:r>
          </a:p>
        </p:txBody>
      </p:sp>
      <p:sp>
        <p:nvSpPr>
          <p:cNvPr id="5" name="Rectangle 4"/>
          <p:cNvSpPr/>
          <p:nvPr/>
        </p:nvSpPr>
        <p:spPr>
          <a:xfrm>
            <a:off x="457200" y="1463040"/>
            <a:ext cx="11277295" cy="1600200"/>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463040"/>
            <a:ext cx="54864" cy="1600200"/>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q_main.png"/>
          <p:cNvPicPr>
            <a:picLocks noChangeAspect="1"/>
          </p:cNvPicPr>
          <p:nvPr/>
        </p:nvPicPr>
        <p:blipFill>
          <a:blip r:embed="rId3"/>
          <a:stretch>
            <a:fillRect/>
          </a:stretch>
        </p:blipFill>
        <p:spPr>
          <a:xfrm>
            <a:off x="731520" y="1797897"/>
            <a:ext cx="7863840" cy="930485"/>
          </a:xfrm>
          <a:prstGeom prst="rect">
            <a:avLst/>
          </a:prstGeom>
        </p:spPr>
      </p:pic>
      <p:pic>
        <p:nvPicPr>
          <p:cNvPr id="8" name="Picture 7" descr="eq_half.png"/>
          <p:cNvPicPr>
            <a:picLocks noChangeAspect="1"/>
          </p:cNvPicPr>
          <p:nvPr/>
        </p:nvPicPr>
        <p:blipFill>
          <a:blip r:embed="rId4"/>
          <a:stretch>
            <a:fillRect/>
          </a:stretch>
        </p:blipFill>
        <p:spPr>
          <a:xfrm>
            <a:off x="9026765" y="1664208"/>
            <a:ext cx="2246148" cy="713232"/>
          </a:xfrm>
          <a:prstGeom prst="rect">
            <a:avLst/>
          </a:prstGeom>
        </p:spPr>
      </p:pic>
      <p:pic>
        <p:nvPicPr>
          <p:cNvPr id="9" name="Picture 8" descr="eq_phong.png"/>
          <p:cNvPicPr>
            <a:picLocks noChangeAspect="1"/>
          </p:cNvPicPr>
          <p:nvPr/>
        </p:nvPicPr>
        <p:blipFill>
          <a:blip r:embed="rId5"/>
          <a:stretch>
            <a:fillRect/>
          </a:stretch>
        </p:blipFill>
        <p:spPr>
          <a:xfrm>
            <a:off x="8823960" y="2558893"/>
            <a:ext cx="2651760" cy="295460"/>
          </a:xfrm>
          <a:prstGeom prst="rect">
            <a:avLst/>
          </a:prstGeom>
        </p:spPr>
      </p:pic>
      <p:pic>
        <p:nvPicPr>
          <p:cNvPr id="10" name="Picture 9" descr="img021.jpg"/>
          <p:cNvPicPr>
            <a:picLocks noChangeAspect="1"/>
          </p:cNvPicPr>
          <p:nvPr/>
        </p:nvPicPr>
        <p:blipFill>
          <a:blip r:embed="rId6"/>
          <a:stretch>
            <a:fillRect/>
          </a:stretch>
        </p:blipFill>
        <p:spPr>
          <a:xfrm>
            <a:off x="457200" y="3246120"/>
            <a:ext cx="2286000" cy="2377439"/>
          </a:xfrm>
          <a:prstGeom prst="rect">
            <a:avLst/>
          </a:prstGeom>
        </p:spPr>
      </p:pic>
      <p:sp>
        <p:nvSpPr>
          <p:cNvPr id="11" name="Rectangle 10"/>
          <p:cNvSpPr/>
          <p:nvPr/>
        </p:nvSpPr>
        <p:spPr>
          <a:xfrm>
            <a:off x="457200" y="5623560"/>
            <a:ext cx="2286000" cy="640080"/>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 y="5623560"/>
            <a:ext cx="2139696" cy="640080"/>
          </a:xfrm>
          <a:prstGeom prst="rect">
            <a:avLst/>
          </a:prstGeom>
          <a:noFill/>
        </p:spPr>
        <p:txBody>
          <a:bodyPr wrap="square" anchor="ctr" lIns="45720" rIns="45720" tIns="27432" bIns="27432">
            <a:spAutoFit/>
          </a:bodyPr>
          <a:lstStyle/>
          <a:p>
            <a:pPr algn="l">
              <a:spcAft>
                <a:spcPts val="420"/>
              </a:spcAft>
            </a:pPr>
            <a:r>
              <a:rPr sz="1400" b="1">
                <a:solidFill>
                  <a:srgbClr val="FFFFFF"/>
                </a:solidFill>
                <a:latin typeface="Calibri"/>
              </a:rPr>
              <a:t>Flat</a:t>
            </a:r>
            <a:r>
              <a:rPr sz="1400" b="0">
                <a:solidFill>
                  <a:srgbClr val="A8B0BA"/>
                </a:solidFill>
                <a:latin typeface="Calibri"/>
              </a:rPr>
              <a:t>   one normal per face</a:t>
            </a:r>
          </a:p>
        </p:txBody>
      </p:sp>
      <p:pic>
        <p:nvPicPr>
          <p:cNvPr id="13" name="Picture 12" descr="img022.jpg"/>
          <p:cNvPicPr>
            <a:picLocks noChangeAspect="1"/>
          </p:cNvPicPr>
          <p:nvPr/>
        </p:nvPicPr>
        <p:blipFill>
          <a:blip r:embed="rId7"/>
          <a:stretch>
            <a:fillRect/>
          </a:stretch>
        </p:blipFill>
        <p:spPr>
          <a:xfrm>
            <a:off x="2880360" y="3246120"/>
            <a:ext cx="2286000" cy="2377439"/>
          </a:xfrm>
          <a:prstGeom prst="rect">
            <a:avLst/>
          </a:prstGeom>
        </p:spPr>
      </p:pic>
      <p:sp>
        <p:nvSpPr>
          <p:cNvPr id="14" name="Rectangle 13"/>
          <p:cNvSpPr/>
          <p:nvPr/>
        </p:nvSpPr>
        <p:spPr>
          <a:xfrm>
            <a:off x="2880360" y="5623560"/>
            <a:ext cx="2286000" cy="640080"/>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53512" y="5623560"/>
            <a:ext cx="2139696" cy="640080"/>
          </a:xfrm>
          <a:prstGeom prst="rect">
            <a:avLst/>
          </a:prstGeom>
          <a:noFill/>
        </p:spPr>
        <p:txBody>
          <a:bodyPr wrap="square" anchor="ctr" lIns="45720" rIns="45720" tIns="27432" bIns="27432">
            <a:spAutoFit/>
          </a:bodyPr>
          <a:lstStyle/>
          <a:p>
            <a:pPr algn="l">
              <a:spcAft>
                <a:spcPts val="420"/>
              </a:spcAft>
            </a:pPr>
            <a:r>
              <a:rPr sz="1400" b="1">
                <a:solidFill>
                  <a:srgbClr val="FFFFFF"/>
                </a:solidFill>
                <a:latin typeface="Calibri"/>
              </a:rPr>
              <a:t>Gouraud</a:t>
            </a:r>
            <a:r>
              <a:rPr sz="1400" b="0">
                <a:solidFill>
                  <a:srgbClr val="A8B0BA"/>
                </a:solidFill>
                <a:latin typeface="Calibri"/>
              </a:rPr>
              <a:t>   lit at the vertices</a:t>
            </a:r>
          </a:p>
        </p:txBody>
      </p:sp>
      <p:pic>
        <p:nvPicPr>
          <p:cNvPr id="16" name="Picture 15" descr="img023.jpg"/>
          <p:cNvPicPr>
            <a:picLocks noChangeAspect="1"/>
          </p:cNvPicPr>
          <p:nvPr/>
        </p:nvPicPr>
        <p:blipFill>
          <a:blip r:embed="rId8"/>
          <a:stretch>
            <a:fillRect/>
          </a:stretch>
        </p:blipFill>
        <p:spPr>
          <a:xfrm>
            <a:off x="5303520" y="3246120"/>
            <a:ext cx="2286000" cy="2377439"/>
          </a:xfrm>
          <a:prstGeom prst="rect">
            <a:avLst/>
          </a:prstGeom>
        </p:spPr>
      </p:pic>
      <p:sp>
        <p:nvSpPr>
          <p:cNvPr id="17" name="Rectangle 16"/>
          <p:cNvSpPr/>
          <p:nvPr/>
        </p:nvSpPr>
        <p:spPr>
          <a:xfrm>
            <a:off x="5303520" y="5623560"/>
            <a:ext cx="2286000" cy="640080"/>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76672" y="5623560"/>
            <a:ext cx="2139696" cy="640080"/>
          </a:xfrm>
          <a:prstGeom prst="rect">
            <a:avLst/>
          </a:prstGeom>
          <a:noFill/>
        </p:spPr>
        <p:txBody>
          <a:bodyPr wrap="square" anchor="ctr" lIns="45720" rIns="45720" tIns="27432" bIns="27432">
            <a:spAutoFit/>
          </a:bodyPr>
          <a:lstStyle/>
          <a:p>
            <a:pPr algn="l">
              <a:spcAft>
                <a:spcPts val="420"/>
              </a:spcAft>
            </a:pPr>
            <a:r>
              <a:rPr sz="1400" b="1">
                <a:solidFill>
                  <a:srgbClr val="FFFFFF"/>
                </a:solidFill>
                <a:latin typeface="Calibri"/>
              </a:rPr>
              <a:t>Phong</a:t>
            </a:r>
            <a:r>
              <a:rPr sz="1400" b="0">
                <a:solidFill>
                  <a:srgbClr val="A8B0BA"/>
                </a:solidFill>
                <a:latin typeface="Calibri"/>
              </a:rPr>
              <a:t>   lit at every pixel</a:t>
            </a:r>
          </a:p>
        </p:txBody>
      </p:sp>
      <p:sp>
        <p:nvSpPr>
          <p:cNvPr id="19" name="Rectangle 18"/>
          <p:cNvSpPr/>
          <p:nvPr/>
        </p:nvSpPr>
        <p:spPr>
          <a:xfrm>
            <a:off x="7818120" y="3246120"/>
            <a:ext cx="3916375" cy="3017519"/>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818120" y="3246120"/>
            <a:ext cx="3916375"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55280" y="3374136"/>
            <a:ext cx="3642055" cy="274320"/>
          </a:xfrm>
          <a:prstGeom prst="rect">
            <a:avLst/>
          </a:prstGeom>
          <a:noFill/>
        </p:spPr>
        <p:txBody>
          <a:bodyPr wrap="square" anchor="t" lIns="45720" rIns="45720" tIns="27432" bIns="27432">
            <a:spAutoFit/>
          </a:bodyPr>
          <a:lstStyle/>
          <a:p>
            <a:pPr algn="l">
              <a:spcAft>
                <a:spcPts val="359"/>
              </a:spcAft>
            </a:pPr>
            <a:r>
              <a:rPr sz="1200" b="1">
                <a:solidFill>
                  <a:srgbClr val="A8B0BA"/>
                </a:solidFill>
                <a:latin typeface="Calibri"/>
              </a:rPr>
              <a:t>VECTOR FUNCTIONS WRITTEN BY HAND</a:t>
            </a:r>
          </a:p>
        </p:txBody>
      </p:sp>
      <p:sp>
        <p:nvSpPr>
          <p:cNvPr id="22" name="TextBox 21"/>
          <p:cNvSpPr txBox="1"/>
          <p:nvPr/>
        </p:nvSpPr>
        <p:spPr>
          <a:xfrm>
            <a:off x="7955280" y="3703320"/>
            <a:ext cx="3642055" cy="1371600"/>
          </a:xfrm>
          <a:prstGeom prst="rect">
            <a:avLst/>
          </a:prstGeom>
          <a:noFill/>
        </p:spPr>
        <p:txBody>
          <a:bodyPr wrap="square" anchor="t" lIns="45720" rIns="45720" tIns="27432" bIns="27432">
            <a:spAutoFit/>
          </a:bodyPr>
          <a:lstStyle/>
          <a:p>
            <a:pPr algn="l">
              <a:spcAft>
                <a:spcPts val="308"/>
              </a:spcAft>
            </a:pPr>
            <a:r>
              <a:rPr sz="1400" b="0">
                <a:solidFill>
                  <a:srgbClr val="FFFFFF"/>
                </a:solidFill>
                <a:latin typeface="Consolas"/>
              </a:rPr>
              <a:t>tsDot         tsLength</a:t>
            </a:r>
          </a:p>
          <a:p>
            <a:pPr algn="l">
              <a:spcAft>
                <a:spcPts val="308"/>
              </a:spcAft>
            </a:pPr>
            <a:r>
              <a:rPr sz="1400" b="0">
                <a:solidFill>
                  <a:srgbClr val="FFFFFF"/>
                </a:solidFill>
                <a:latin typeface="Consolas"/>
              </a:rPr>
              <a:t>tsNormalize   tsCross</a:t>
            </a:r>
          </a:p>
          <a:p>
            <a:pPr algn="l">
              <a:spcAft>
                <a:spcPts val="308"/>
              </a:spcAft>
            </a:pPr>
            <a:r>
              <a:rPr sz="1400" b="0">
                <a:solidFill>
                  <a:srgbClr val="FFFFFF"/>
                </a:solidFill>
                <a:latin typeface="Consolas"/>
              </a:rPr>
              <a:t>tsReflect     tsRefract</a:t>
            </a:r>
          </a:p>
          <a:p>
            <a:pPr algn="l">
              <a:spcAft>
                <a:spcPts val="308"/>
              </a:spcAft>
            </a:pPr>
            <a:r>
              <a:rPr sz="1400" b="0">
                <a:solidFill>
                  <a:srgbClr val="FFFFFF"/>
                </a:solidFill>
                <a:latin typeface="Consolas"/>
              </a:rPr>
              <a:t>tsMix         tsClamp</a:t>
            </a:r>
          </a:p>
          <a:p>
            <a:pPr algn="l">
              <a:spcAft>
                <a:spcPts val="308"/>
              </a:spcAft>
            </a:pPr>
            <a:r>
              <a:rPr sz="1400" b="0">
                <a:solidFill>
                  <a:srgbClr val="FFFFFF"/>
                </a:solidFill>
                <a:latin typeface="Consolas"/>
              </a:rPr>
              <a:t>tsStep        tsSmoothstep</a:t>
            </a:r>
          </a:p>
        </p:txBody>
      </p:sp>
      <p:sp>
        <p:nvSpPr>
          <p:cNvPr id="23" name="TextBox 22"/>
          <p:cNvSpPr txBox="1"/>
          <p:nvPr/>
        </p:nvSpPr>
        <p:spPr>
          <a:xfrm>
            <a:off x="7955280" y="5148072"/>
            <a:ext cx="3642055" cy="502920"/>
          </a:xfrm>
          <a:prstGeom prst="rect">
            <a:avLst/>
          </a:prstGeom>
          <a:noFill/>
        </p:spPr>
        <p:txBody>
          <a:bodyPr wrap="square" anchor="t" lIns="45720" rIns="45720" tIns="27432" bIns="27432">
            <a:spAutoFit/>
          </a:bodyPr>
          <a:lstStyle/>
          <a:p>
            <a:pPr algn="l">
              <a:spcAft>
                <a:spcPts val="660"/>
              </a:spcAft>
            </a:pPr>
            <a:r>
              <a:rPr sz="2200" b="1">
                <a:solidFill>
                  <a:srgbClr val="FF9E1F"/>
                </a:solidFill>
                <a:latin typeface="Calibri"/>
              </a:rPr>
              <a:t>905 calls</a:t>
            </a:r>
            <a:r>
              <a:rPr sz="2200" b="0">
                <a:solidFill>
                  <a:srgbClr val="FFFFFF"/>
                </a:solidFill>
                <a:latin typeface="Calibri"/>
              </a:rPr>
              <a:t>  in 13 shader files</a:t>
            </a:r>
          </a:p>
        </p:txBody>
      </p:sp>
      <p:sp>
        <p:nvSpPr>
          <p:cNvPr id="24" name="TextBox 23"/>
          <p:cNvSpPr txBox="1"/>
          <p:nvPr/>
        </p:nvSpPr>
        <p:spPr>
          <a:xfrm>
            <a:off x="7955280" y="5696712"/>
            <a:ext cx="3642055" cy="457200"/>
          </a:xfrm>
          <a:prstGeom prst="rect">
            <a:avLst/>
          </a:prstGeom>
          <a:noFill/>
        </p:spPr>
        <p:txBody>
          <a:bodyPr wrap="square" anchor="t" lIns="45720" rIns="45720" tIns="27432" bIns="27432">
            <a:spAutoFit/>
          </a:bodyPr>
          <a:lstStyle/>
          <a:p>
            <a:pPr algn="l">
              <a:spcAft>
                <a:spcPts val="420"/>
              </a:spcAft>
            </a:pPr>
            <a:r>
              <a:rPr sz="1400" b="0">
                <a:solidFill>
                  <a:srgbClr val="A8B0BA"/>
                </a:solidFill>
                <a:latin typeface="Calibri"/>
              </a:rPr>
              <a:t>A built-in vector call does not compile</a:t>
            </a:r>
          </a:p>
        </p:txBody>
      </p:sp>
      <p:sp>
        <p:nvSpPr>
          <p:cNvPr id="25" name="TextBox 24"/>
          <p:cNvSpPr txBox="1"/>
          <p:nvPr/>
        </p:nvSpPr>
        <p:spPr>
          <a:xfrm>
            <a:off x="457200" y="6437376"/>
            <a:ext cx="3657600" cy="274320"/>
          </a:xfrm>
          <a:prstGeom prst="rect">
            <a:avLst/>
          </a:prstGeom>
          <a:noFill/>
        </p:spPr>
        <p:txBody>
          <a:bodyPr wrap="square" anchor="ctr" lIns="45720" rIns="45720" tIns="27432" bIns="27432">
            <a:spAutoFit/>
          </a:bodyPr>
          <a:lstStyle/>
          <a:p>
            <a:pPr algn="l">
              <a:spcAft>
                <a:spcPts val="330"/>
              </a:spcAft>
            </a:pPr>
            <a:r>
              <a:rPr sz="1100" b="0">
                <a:solidFill>
                  <a:srgbClr val="A8B0BA"/>
                </a:solidFill>
                <a:latin typeface="Calibri"/>
              </a:rPr>
              <a:t>11 October 2026</a:t>
            </a:r>
          </a:p>
        </p:txBody>
      </p:sp>
      <p:sp>
        <p:nvSpPr>
          <p:cNvPr id="26" name="TextBox 25"/>
          <p:cNvSpPr txBox="1"/>
          <p:nvPr/>
        </p:nvSpPr>
        <p:spPr>
          <a:xfrm>
            <a:off x="9905695" y="6437376"/>
            <a:ext cx="1828800" cy="274320"/>
          </a:xfrm>
          <a:prstGeom prst="rect">
            <a:avLst/>
          </a:prstGeom>
          <a:noFill/>
        </p:spPr>
        <p:txBody>
          <a:bodyPr wrap="square" anchor="ctr" lIns="45720" rIns="45720" tIns="27432" bIns="27432">
            <a:spAutoFit/>
          </a:bodyPr>
          <a:lstStyle/>
          <a:p>
            <a:pPr algn="r">
              <a:spcAft>
                <a:spcPts val="330"/>
              </a:spcAft>
            </a:pPr>
            <a:r>
              <a:rPr sz="1100" b="0">
                <a:solidFill>
                  <a:srgbClr val="A8B0BA"/>
                </a:solidFill>
                <a:latin typeface="Calibri"/>
              </a:rP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80A0D"/>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8229600" cy="310896"/>
          </a:xfrm>
          <a:prstGeom prst="rect">
            <a:avLst/>
          </a:prstGeom>
          <a:noFill/>
        </p:spPr>
        <p:txBody>
          <a:bodyPr wrap="square" anchor="t" lIns="45720" rIns="45720" tIns="27432" bIns="27432">
            <a:spAutoFit/>
          </a:bodyPr>
          <a:lstStyle/>
          <a:p>
            <a:pPr algn="l">
              <a:spcAft>
                <a:spcPts val="390"/>
              </a:spcAft>
            </a:pPr>
            <a:r>
              <a:rPr sz="1300" b="1">
                <a:solidFill>
                  <a:srgbClr val="FF9E1F"/>
                </a:solidFill>
                <a:latin typeface="Calibri"/>
              </a:rPr>
              <a:t>7  |  FLOOD FILL, DIJKSTRA, LINE FOLLOWER</a:t>
            </a:r>
          </a:p>
        </p:txBody>
      </p:sp>
      <p:sp>
        <p:nvSpPr>
          <p:cNvPr id="4" name="TextBox 3"/>
          <p:cNvSpPr txBox="1"/>
          <p:nvPr/>
        </p:nvSpPr>
        <p:spPr>
          <a:xfrm>
            <a:off x="457200" y="512064"/>
            <a:ext cx="11277295" cy="731520"/>
          </a:xfrm>
          <a:prstGeom prst="rect">
            <a:avLst/>
          </a:prstGeom>
          <a:noFill/>
        </p:spPr>
        <p:txBody>
          <a:bodyPr wrap="square" anchor="t" lIns="45720" rIns="45720" tIns="27432" bIns="27432">
            <a:spAutoFit/>
          </a:bodyPr>
          <a:lstStyle/>
          <a:p>
            <a:pPr algn="l">
              <a:spcAft>
                <a:spcPts val="960"/>
              </a:spcAft>
            </a:pPr>
            <a:r>
              <a:rPr sz="3200" b="1">
                <a:solidFill>
                  <a:srgbClr val="FFFFFF"/>
                </a:solidFill>
                <a:latin typeface="Calibri"/>
              </a:rPr>
              <a:t>Intruder rovers: path planning</a:t>
            </a:r>
          </a:p>
        </p:txBody>
      </p:sp>
      <p:sp>
        <p:nvSpPr>
          <p:cNvPr id="5" name="Rectangle 4"/>
          <p:cNvSpPr/>
          <p:nvPr/>
        </p:nvSpPr>
        <p:spPr>
          <a:xfrm>
            <a:off x="457200" y="1463040"/>
            <a:ext cx="5669280" cy="414293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g024.jpg"/>
          <p:cNvPicPr>
            <a:picLocks noChangeAspect="1"/>
          </p:cNvPicPr>
          <p:nvPr/>
        </p:nvPicPr>
        <p:blipFill>
          <a:blip r:embed="rId3"/>
          <a:stretch>
            <a:fillRect/>
          </a:stretch>
        </p:blipFill>
        <p:spPr>
          <a:xfrm>
            <a:off x="502920" y="1508760"/>
            <a:ext cx="5577840" cy="4051495"/>
          </a:xfrm>
          <a:prstGeom prst="rect">
            <a:avLst/>
          </a:prstGeom>
        </p:spPr>
      </p:pic>
      <p:sp>
        <p:nvSpPr>
          <p:cNvPr id="7" name="TextBox 6"/>
          <p:cNvSpPr txBox="1"/>
          <p:nvPr/>
        </p:nvSpPr>
        <p:spPr>
          <a:xfrm>
            <a:off x="457200" y="5679127"/>
            <a:ext cx="5669280" cy="548640"/>
          </a:xfrm>
          <a:prstGeom prst="rect">
            <a:avLst/>
          </a:prstGeom>
          <a:noFill/>
        </p:spPr>
        <p:txBody>
          <a:bodyPr wrap="square" anchor="t" lIns="45720" rIns="45720" tIns="27432" bIns="27432">
            <a:spAutoFit/>
          </a:bodyPr>
          <a:lstStyle/>
          <a:p>
            <a:pPr algn="l">
              <a:spcAft>
                <a:spcPts val="390"/>
              </a:spcAft>
            </a:pPr>
            <a:r>
              <a:rPr sz="1300" b="0">
                <a:solidFill>
                  <a:srgbClr val="A8B0BA"/>
                </a:solidFill>
                <a:latin typeface="Calibri"/>
              </a:rPr>
              <a:t>Route map: 4 rovers, two UAVs (uncrewed aerial vehicles), 130 s</a:t>
            </a:r>
          </a:p>
        </p:txBody>
      </p:sp>
      <p:sp>
        <p:nvSpPr>
          <p:cNvPr id="8" name="Rectangle 7"/>
          <p:cNvSpPr/>
          <p:nvPr/>
        </p:nvSpPr>
        <p:spPr>
          <a:xfrm>
            <a:off x="6400800" y="1463040"/>
            <a:ext cx="1570634" cy="1051560"/>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0" y="1463040"/>
            <a:ext cx="1570634"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3952" y="1572768"/>
            <a:ext cx="1424330" cy="914399"/>
          </a:xfrm>
          <a:prstGeom prst="rect">
            <a:avLst/>
          </a:prstGeom>
          <a:noFill/>
        </p:spPr>
        <p:txBody>
          <a:bodyPr wrap="square" anchor="t" lIns="45720" rIns="45720" tIns="27432" bIns="27432">
            <a:spAutoFit/>
          </a:bodyPr>
          <a:lstStyle/>
          <a:p>
            <a:pPr algn="l">
              <a:spcAft>
                <a:spcPts val="350"/>
              </a:spcAft>
            </a:pPr>
            <a:r>
              <a:rPr sz="1400" b="1">
                <a:solidFill>
                  <a:srgbClr val="FF9E1F"/>
                </a:solidFill>
                <a:latin typeface="Calibri"/>
              </a:rPr>
              <a:t>1  </a:t>
            </a:r>
            <a:r>
              <a:rPr sz="1400" b="1">
                <a:solidFill>
                  <a:srgbClr val="FFFFFF"/>
                </a:solidFill>
                <a:latin typeface="Calibri"/>
              </a:rPr>
              <a:t>Flood fill</a:t>
            </a:r>
          </a:p>
          <a:p>
            <a:pPr algn="l">
              <a:spcAft>
                <a:spcPts val="350"/>
              </a:spcAft>
            </a:pPr>
            <a:r>
              <a:rPr sz="1400" b="0">
                <a:solidFill>
                  <a:srgbClr val="A8B0BA"/>
                </a:solidFill>
                <a:latin typeface="Calibri"/>
              </a:rPr>
              <a:t>micromouse: distance to cover</a:t>
            </a:r>
          </a:p>
        </p:txBody>
      </p:sp>
      <p:sp>
        <p:nvSpPr>
          <p:cNvPr id="11" name="Right Arrow 10"/>
          <p:cNvSpPr/>
          <p:nvPr/>
        </p:nvSpPr>
        <p:spPr>
          <a:xfrm>
            <a:off x="8008010" y="1851660"/>
            <a:ext cx="237744" cy="274320"/>
          </a:xfrm>
          <a:prstGeom prst="rightArrow">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82330" y="1463040"/>
            <a:ext cx="1570634" cy="1051560"/>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82330" y="1463040"/>
            <a:ext cx="1570634"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5482" y="1572768"/>
            <a:ext cx="1424330" cy="914399"/>
          </a:xfrm>
          <a:prstGeom prst="rect">
            <a:avLst/>
          </a:prstGeom>
          <a:noFill/>
        </p:spPr>
        <p:txBody>
          <a:bodyPr wrap="square" anchor="t" lIns="45720" rIns="45720" tIns="27432" bIns="27432">
            <a:spAutoFit/>
          </a:bodyPr>
          <a:lstStyle/>
          <a:p>
            <a:pPr algn="l">
              <a:spcAft>
                <a:spcPts val="350"/>
              </a:spcAft>
            </a:pPr>
            <a:r>
              <a:rPr sz="1400" b="1">
                <a:solidFill>
                  <a:srgbClr val="FF9E1F"/>
                </a:solidFill>
                <a:latin typeface="Calibri"/>
              </a:rPr>
              <a:t>2  </a:t>
            </a:r>
            <a:r>
              <a:rPr sz="1400" b="1">
                <a:solidFill>
                  <a:srgbClr val="FFFFFF"/>
                </a:solidFill>
                <a:latin typeface="Calibri"/>
              </a:rPr>
              <a:t>Dijkstra route</a:t>
            </a:r>
          </a:p>
          <a:p>
            <a:pPr algn="l">
              <a:spcAft>
                <a:spcPts val="350"/>
              </a:spcAft>
            </a:pPr>
            <a:r>
              <a:rPr sz="1400" b="0">
                <a:solidFill>
                  <a:srgbClr val="A8B0BA"/>
                </a:solidFill>
                <a:latin typeface="Calibri"/>
              </a:rPr>
              <a:t>distance + exposure + noise</a:t>
            </a:r>
          </a:p>
        </p:txBody>
      </p:sp>
      <p:sp>
        <p:nvSpPr>
          <p:cNvPr id="15" name="Right Arrow 14"/>
          <p:cNvSpPr/>
          <p:nvPr/>
        </p:nvSpPr>
        <p:spPr>
          <a:xfrm>
            <a:off x="9889540" y="1851660"/>
            <a:ext cx="237744" cy="274320"/>
          </a:xfrm>
          <a:prstGeom prst="rightArrow">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163860" y="1463040"/>
            <a:ext cx="1570634" cy="1051560"/>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163860" y="1463040"/>
            <a:ext cx="1570634"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37012" y="1572768"/>
            <a:ext cx="1424330" cy="914399"/>
          </a:xfrm>
          <a:prstGeom prst="rect">
            <a:avLst/>
          </a:prstGeom>
          <a:noFill/>
        </p:spPr>
        <p:txBody>
          <a:bodyPr wrap="square" anchor="t" lIns="45720" rIns="45720" tIns="27432" bIns="27432">
            <a:spAutoFit/>
          </a:bodyPr>
          <a:lstStyle/>
          <a:p>
            <a:pPr algn="l">
              <a:spcAft>
                <a:spcPts val="350"/>
              </a:spcAft>
            </a:pPr>
            <a:r>
              <a:rPr sz="1400" b="1">
                <a:solidFill>
                  <a:srgbClr val="FF9E1F"/>
                </a:solidFill>
                <a:latin typeface="Calibri"/>
              </a:rPr>
              <a:t>3  </a:t>
            </a:r>
            <a:r>
              <a:rPr sz="1400" b="1">
                <a:solidFill>
                  <a:srgbClr val="FFFFFF"/>
                </a:solidFill>
                <a:latin typeface="Calibri"/>
              </a:rPr>
              <a:t>Line follower</a:t>
            </a:r>
          </a:p>
          <a:p>
            <a:pPr algn="l">
              <a:spcAft>
                <a:spcPts val="350"/>
              </a:spcAft>
            </a:pPr>
            <a:r>
              <a:rPr sz="1400" b="0">
                <a:solidFill>
                  <a:srgbClr val="A8B0BA"/>
                </a:solidFill>
                <a:latin typeface="Calibri"/>
              </a:rPr>
              <a:t>LFR (line-follower robot)</a:t>
            </a:r>
          </a:p>
        </p:txBody>
      </p:sp>
      <p:graphicFrame>
        <p:nvGraphicFramePr>
          <p:cNvPr id="19" name="Table 18"/>
          <p:cNvGraphicFramePr>
            <a:graphicFrameLocks noGrp="1"/>
          </p:cNvGraphicFramePr>
          <p:nvPr/>
        </p:nvGraphicFramePr>
        <p:xfrm>
          <a:off x="6400800" y="2697480"/>
          <a:ext cx="5333695" cy="2286000"/>
        </p:xfrm>
        <a:graphic>
          <a:graphicData uri="http://schemas.openxmlformats.org/drawingml/2006/table">
            <a:tbl>
              <a:tblPr firstRow="1">
                <a:tableStyleId>{2D5ABB26-0587-4C30-8999-92F81FD0307C}</a:tableStyleId>
              </a:tblPr>
              <a:tblGrid>
                <a:gridCol w="1280160"/>
                <a:gridCol w="2224735"/>
                <a:gridCol w="1097280"/>
                <a:gridCol w="731520"/>
              </a:tblGrid>
              <a:tr h="457200">
                <a:tc>
                  <a:txBody>
                    <a:bodyPr wrap="square"/>
                    <a:lstStyle/>
                    <a:p>
                      <a:pPr algn="l"/>
                      <a:r>
                        <a:rPr sz="1200" b="1">
                          <a:solidFill>
                            <a:srgbClr val="FF9E1F"/>
                          </a:solidFill>
                          <a:latin typeface="Calibri"/>
                        </a:rPr>
                        <a:t>Algorithm</a:t>
                      </a:r>
                    </a:p>
                  </a:txBody>
                  <a:tcPr marL="109728" marR="109728" marT="27432" marB="27432" anchor="ctr">
                    <a:lnL w="0">
                      <a:noFill/>
                    </a:lnL>
                    <a:lnR w="0">
                      <a:noFill/>
                    </a:lnR>
                    <a:lnT w="0">
                      <a:noFill/>
                    </a:lnT>
                    <a:lnB w="19050" cap="flat" cmpd="sng">
                      <a:solidFill>
                        <a:srgbClr val="FF9E1F"/>
                      </a:solidFill>
                    </a:lnB>
                    <a:solidFill>
                      <a:srgbClr val="14181E"/>
                    </a:solidFill>
                  </a:tcPr>
                </a:tc>
                <a:tc>
                  <a:txBody>
                    <a:bodyPr wrap="square"/>
                    <a:lstStyle/>
                    <a:p>
                      <a:pPr algn="l"/>
                      <a:r>
                        <a:rPr sz="1200" b="1">
                          <a:solidFill>
                            <a:srgbClr val="FF9E1F"/>
                          </a:solidFill>
                          <a:latin typeface="Calibri"/>
                        </a:rPr>
                        <a:t>In the code</a:t>
                      </a:r>
                    </a:p>
                  </a:txBody>
                  <a:tcPr marL="109728" marR="109728" marT="27432" marB="27432" anchor="ctr">
                    <a:lnL w="0">
                      <a:noFill/>
                    </a:lnL>
                    <a:lnR w="0">
                      <a:noFill/>
                    </a:lnR>
                    <a:lnT w="0">
                      <a:noFill/>
                    </a:lnT>
                    <a:lnB w="19050" cap="flat" cmpd="sng">
                      <a:solidFill>
                        <a:srgbClr val="FF9E1F"/>
                      </a:solidFill>
                    </a:lnB>
                    <a:solidFill>
                      <a:srgbClr val="14181E"/>
                    </a:solidFill>
                  </a:tcPr>
                </a:tc>
                <a:tc>
                  <a:txBody>
                    <a:bodyPr wrap="square"/>
                    <a:lstStyle/>
                    <a:p>
                      <a:pPr algn="l"/>
                      <a:r>
                        <a:rPr sz="1200" b="1">
                          <a:solidFill>
                            <a:srgbClr val="FF9E1F"/>
                          </a:solidFill>
                          <a:latin typeface="Calibri"/>
                        </a:rPr>
                        <a:t>Time</a:t>
                      </a:r>
                    </a:p>
                  </a:txBody>
                  <a:tcPr marL="109728" marR="109728" marT="27432" marB="27432" anchor="ctr">
                    <a:lnL w="0">
                      <a:noFill/>
                    </a:lnL>
                    <a:lnR w="0">
                      <a:noFill/>
                    </a:lnR>
                    <a:lnT w="0">
                      <a:noFill/>
                    </a:lnT>
                    <a:lnB w="19050" cap="flat" cmpd="sng">
                      <a:solidFill>
                        <a:srgbClr val="FF9E1F"/>
                      </a:solidFill>
                    </a:lnB>
                    <a:solidFill>
                      <a:srgbClr val="14181E"/>
                    </a:solidFill>
                  </a:tcPr>
                </a:tc>
                <a:tc>
                  <a:txBody>
                    <a:bodyPr wrap="square"/>
                    <a:lstStyle/>
                    <a:p>
                      <a:pPr algn="l"/>
                      <a:r>
                        <a:rPr sz="1200" b="1">
                          <a:solidFill>
                            <a:srgbClr val="FF9E1F"/>
                          </a:solidFill>
                          <a:latin typeface="Calibri"/>
                        </a:rPr>
                        <a:t>Space</a:t>
                      </a:r>
                    </a:p>
                  </a:txBody>
                  <a:tcPr marL="109728" marR="109728" marT="27432" marB="27432" anchor="ctr">
                    <a:lnL w="0">
                      <a:noFill/>
                    </a:lnL>
                    <a:lnR w="0">
                      <a:noFill/>
                    </a:lnR>
                    <a:lnT w="0">
                      <a:noFill/>
                    </a:lnT>
                    <a:lnB w="19050" cap="flat" cmpd="sng">
                      <a:solidFill>
                        <a:srgbClr val="FF9E1F"/>
                      </a:solidFill>
                    </a:lnB>
                    <a:solidFill>
                      <a:srgbClr val="14181E"/>
                    </a:solidFill>
                  </a:tcPr>
                </a:tc>
              </a:tr>
              <a:tr h="457200">
                <a:tc>
                  <a:txBody>
                    <a:bodyPr wrap="square"/>
                    <a:lstStyle/>
                    <a:p>
                      <a:pPr algn="l"/>
                      <a:r>
                        <a:rPr sz="1300" b="1">
                          <a:solidFill>
                            <a:srgbClr val="FFFFFF"/>
                          </a:solidFill>
                          <a:latin typeface="Calibri"/>
                        </a:rPr>
                        <a:t>Flood fill</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300" b="0">
                          <a:solidFill>
                            <a:srgbClr val="FFFFFF"/>
                          </a:solidFill>
                          <a:latin typeface="Calibri"/>
                        </a:rPr>
                        <a:t>BFS (breadth-first search)</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300" b="0">
                          <a:solidFill>
                            <a:srgbClr val="FF9E1F"/>
                          </a:solidFill>
                          <a:latin typeface="Calibri"/>
                        </a:rPr>
                        <a:t>O(N)</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300" b="0">
                          <a:solidFill>
                            <a:srgbClr val="FF9E1F"/>
                          </a:solidFill>
                          <a:latin typeface="Calibri"/>
                        </a:rPr>
                        <a:t>O(N)</a:t>
                      </a:r>
                    </a:p>
                  </a:txBody>
                  <a:tcPr marL="109728" marR="109728" marT="27432" marB="27432" anchor="ctr">
                    <a:lnL w="0">
                      <a:noFill/>
                    </a:lnL>
                    <a:lnR w="0">
                      <a:noFill/>
                    </a:lnR>
                    <a:lnT w="0">
                      <a:noFill/>
                    </a:lnT>
                    <a:lnB w="9525" cap="flat" cmpd="sng">
                      <a:solidFill>
                        <a:srgbClr val="2A313A"/>
                      </a:solidFill>
                    </a:lnB>
                    <a:solidFill>
                      <a:srgbClr val="0F1217"/>
                    </a:solidFill>
                  </a:tcPr>
                </a:tc>
              </a:tr>
              <a:tr h="457200">
                <a:tc>
                  <a:txBody>
                    <a:bodyPr wrap="square"/>
                    <a:lstStyle/>
                    <a:p>
                      <a:pPr algn="l"/>
                      <a:r>
                        <a:rPr sz="1300" b="1">
                          <a:solidFill>
                            <a:srgbClr val="FFFFFF"/>
                          </a:solidFill>
                          <a:latin typeface="Calibri"/>
                        </a:rPr>
                        <a:t>Dijkstra</a:t>
                      </a:r>
                    </a:p>
                  </a:txBody>
                  <a:tcPr marL="109728" marR="109728" marT="27432" marB="27432" anchor="ctr">
                    <a:lnL w="0">
                      <a:noFill/>
                    </a:lnL>
                    <a:lnR w="0">
                      <a:noFill/>
                    </a:lnR>
                    <a:lnT w="0">
                      <a:noFill/>
                    </a:lnT>
                    <a:lnB w="9525" cap="flat" cmpd="sng">
                      <a:solidFill>
                        <a:srgbClr val="2A313A"/>
                      </a:solidFill>
                    </a:lnB>
                    <a:solidFill>
                      <a:srgbClr val="080A0D"/>
                    </a:solidFill>
                  </a:tcPr>
                </a:tc>
                <a:tc>
                  <a:txBody>
                    <a:bodyPr wrap="square"/>
                    <a:lstStyle/>
                    <a:p>
                      <a:pPr algn="l"/>
                      <a:r>
                        <a:rPr sz="1300" b="0">
                          <a:solidFill>
                            <a:srgbClr val="FFFFFF"/>
                          </a:solidFill>
                          <a:latin typeface="Calibri"/>
                        </a:rPr>
                        <a:t>binary heap (priority queue)</a:t>
                      </a:r>
                    </a:p>
                  </a:txBody>
                  <a:tcPr marL="109728" marR="109728" marT="27432" marB="27432" anchor="ctr">
                    <a:lnL w="0">
                      <a:noFill/>
                    </a:lnL>
                    <a:lnR w="0">
                      <a:noFill/>
                    </a:lnR>
                    <a:lnT w="0">
                      <a:noFill/>
                    </a:lnT>
                    <a:lnB w="9525" cap="flat" cmpd="sng">
                      <a:solidFill>
                        <a:srgbClr val="2A313A"/>
                      </a:solidFill>
                    </a:lnB>
                    <a:solidFill>
                      <a:srgbClr val="080A0D"/>
                    </a:solidFill>
                  </a:tcPr>
                </a:tc>
                <a:tc>
                  <a:txBody>
                    <a:bodyPr wrap="square"/>
                    <a:lstStyle/>
                    <a:p>
                      <a:pPr algn="l"/>
                      <a:r>
                        <a:rPr sz="1300" b="0">
                          <a:solidFill>
                            <a:srgbClr val="FF9E1F"/>
                          </a:solidFill>
                          <a:latin typeface="Calibri"/>
                        </a:rPr>
                        <a:t>O(N log N)</a:t>
                      </a:r>
                    </a:p>
                  </a:txBody>
                  <a:tcPr marL="109728" marR="109728" marT="27432" marB="27432" anchor="ctr">
                    <a:lnL w="0">
                      <a:noFill/>
                    </a:lnL>
                    <a:lnR w="0">
                      <a:noFill/>
                    </a:lnR>
                    <a:lnT w="0">
                      <a:noFill/>
                    </a:lnT>
                    <a:lnB w="9525" cap="flat" cmpd="sng">
                      <a:solidFill>
                        <a:srgbClr val="2A313A"/>
                      </a:solidFill>
                    </a:lnB>
                    <a:solidFill>
                      <a:srgbClr val="080A0D"/>
                    </a:solidFill>
                  </a:tcPr>
                </a:tc>
                <a:tc>
                  <a:txBody>
                    <a:bodyPr wrap="square"/>
                    <a:lstStyle/>
                    <a:p>
                      <a:pPr algn="l"/>
                      <a:r>
                        <a:rPr sz="1300" b="0">
                          <a:solidFill>
                            <a:srgbClr val="FF9E1F"/>
                          </a:solidFill>
                          <a:latin typeface="Calibri"/>
                        </a:rPr>
                        <a:t>O(N)</a:t>
                      </a:r>
                    </a:p>
                  </a:txBody>
                  <a:tcPr marL="109728" marR="109728" marT="27432" marB="27432" anchor="ctr">
                    <a:lnL w="0">
                      <a:noFill/>
                    </a:lnL>
                    <a:lnR w="0">
                      <a:noFill/>
                    </a:lnR>
                    <a:lnT w="0">
                      <a:noFill/>
                    </a:lnT>
                    <a:lnB w="9525" cap="flat" cmpd="sng">
                      <a:solidFill>
                        <a:srgbClr val="2A313A"/>
                      </a:solidFill>
                    </a:lnB>
                    <a:solidFill>
                      <a:srgbClr val="080A0D"/>
                    </a:solidFill>
                  </a:tcPr>
                </a:tc>
              </a:tr>
              <a:tr h="457200">
                <a:tc>
                  <a:txBody>
                    <a:bodyPr wrap="square"/>
                    <a:lstStyle/>
                    <a:p>
                      <a:pPr algn="l"/>
                      <a:r>
                        <a:rPr sz="1300" b="1">
                          <a:solidFill>
                            <a:srgbClr val="FFFFFF"/>
                          </a:solidFill>
                          <a:latin typeface="Calibri"/>
                        </a:rPr>
                        <a:t>Path</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300" b="0">
                          <a:solidFill>
                            <a:srgbClr val="FFFFFF"/>
                          </a:solidFill>
                          <a:latin typeface="Calibri"/>
                        </a:rPr>
                        <a:t>steepest descent, L cells</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300" b="0">
                          <a:solidFill>
                            <a:srgbClr val="FF9E1F"/>
                          </a:solidFill>
                          <a:latin typeface="Calibri"/>
                        </a:rPr>
                        <a:t>O(L)</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300" b="0">
                          <a:solidFill>
                            <a:srgbClr val="FF9E1F"/>
                          </a:solidFill>
                          <a:latin typeface="Calibri"/>
                        </a:rPr>
                        <a:t>O(L)</a:t>
                      </a:r>
                    </a:p>
                  </a:txBody>
                  <a:tcPr marL="109728" marR="109728" marT="27432" marB="27432" anchor="ctr">
                    <a:lnL w="0">
                      <a:noFill/>
                    </a:lnL>
                    <a:lnR w="0">
                      <a:noFill/>
                    </a:lnR>
                    <a:lnT w="0">
                      <a:noFill/>
                    </a:lnT>
                    <a:lnB w="9525" cap="flat" cmpd="sng">
                      <a:solidFill>
                        <a:srgbClr val="2A313A"/>
                      </a:solidFill>
                    </a:lnB>
                    <a:solidFill>
                      <a:srgbClr val="0F1217"/>
                    </a:solidFill>
                  </a:tcPr>
                </a:tc>
              </a:tr>
              <a:tr h="457200">
                <a:tc>
                  <a:txBody>
                    <a:bodyPr wrap="square"/>
                    <a:lstStyle/>
                    <a:p>
                      <a:pPr algn="l"/>
                      <a:r>
                        <a:rPr sz="1300" b="1">
                          <a:solidFill>
                            <a:srgbClr val="FFFFFF"/>
                          </a:solidFill>
                          <a:latin typeface="Calibri"/>
                        </a:rPr>
                        <a:t>Line follower</a:t>
                      </a:r>
                    </a:p>
                  </a:txBody>
                  <a:tcPr marL="109728" marR="109728" marT="27432" marB="27432" anchor="ctr">
                    <a:lnL w="0">
                      <a:noFill/>
                    </a:lnL>
                    <a:lnR w="0">
                      <a:noFill/>
                    </a:lnR>
                    <a:lnT w="0">
                      <a:noFill/>
                    </a:lnT>
                    <a:lnB w="9525" cap="flat" cmpd="sng">
                      <a:solidFill>
                        <a:srgbClr val="2A313A"/>
                      </a:solidFill>
                    </a:lnB>
                    <a:solidFill>
                      <a:srgbClr val="080A0D"/>
                    </a:solidFill>
                  </a:tcPr>
                </a:tc>
                <a:tc>
                  <a:txBody>
                    <a:bodyPr wrap="square"/>
                    <a:lstStyle/>
                    <a:p>
                      <a:pPr algn="l"/>
                      <a:r>
                        <a:rPr sz="1300" b="0">
                          <a:solidFill>
                            <a:srgbClr val="FFFFFF"/>
                          </a:solidFill>
                          <a:latin typeface="Calibri"/>
                        </a:rPr>
                        <a:t>5 sensors × M line points</a:t>
                      </a:r>
                    </a:p>
                  </a:txBody>
                  <a:tcPr marL="109728" marR="109728" marT="27432" marB="27432" anchor="ctr">
                    <a:lnL w="0">
                      <a:noFill/>
                    </a:lnL>
                    <a:lnR w="0">
                      <a:noFill/>
                    </a:lnR>
                    <a:lnT w="0">
                      <a:noFill/>
                    </a:lnT>
                    <a:lnB w="9525" cap="flat" cmpd="sng">
                      <a:solidFill>
                        <a:srgbClr val="2A313A"/>
                      </a:solidFill>
                    </a:lnB>
                    <a:solidFill>
                      <a:srgbClr val="080A0D"/>
                    </a:solidFill>
                  </a:tcPr>
                </a:tc>
                <a:tc>
                  <a:txBody>
                    <a:bodyPr wrap="square"/>
                    <a:lstStyle/>
                    <a:p>
                      <a:pPr algn="l"/>
                      <a:r>
                        <a:rPr sz="1300" b="0">
                          <a:solidFill>
                            <a:srgbClr val="FF9E1F"/>
                          </a:solidFill>
                          <a:latin typeface="Calibri"/>
                        </a:rPr>
                        <a:t>O(M)</a:t>
                      </a:r>
                    </a:p>
                  </a:txBody>
                  <a:tcPr marL="109728" marR="109728" marT="27432" marB="27432" anchor="ctr">
                    <a:lnL w="0">
                      <a:noFill/>
                    </a:lnL>
                    <a:lnR w="0">
                      <a:noFill/>
                    </a:lnR>
                    <a:lnT w="0">
                      <a:noFill/>
                    </a:lnT>
                    <a:lnB w="9525" cap="flat" cmpd="sng">
                      <a:solidFill>
                        <a:srgbClr val="2A313A"/>
                      </a:solidFill>
                    </a:lnB>
                    <a:solidFill>
                      <a:srgbClr val="080A0D"/>
                    </a:solidFill>
                  </a:tcPr>
                </a:tc>
                <a:tc>
                  <a:txBody>
                    <a:bodyPr wrap="square"/>
                    <a:lstStyle/>
                    <a:p>
                      <a:pPr algn="l"/>
                      <a:r>
                        <a:rPr sz="1300" b="0">
                          <a:solidFill>
                            <a:srgbClr val="FF9E1F"/>
                          </a:solidFill>
                          <a:latin typeface="Calibri"/>
                        </a:rPr>
                        <a:t>O(M)</a:t>
                      </a:r>
                    </a:p>
                  </a:txBody>
                  <a:tcPr marL="109728" marR="109728" marT="27432" marB="27432" anchor="ctr">
                    <a:lnL w="0">
                      <a:noFill/>
                    </a:lnL>
                    <a:lnR w="0">
                      <a:noFill/>
                    </a:lnR>
                    <a:lnT w="0">
                      <a:noFill/>
                    </a:lnT>
                    <a:lnB w="9525" cap="flat" cmpd="sng">
                      <a:solidFill>
                        <a:srgbClr val="2A313A"/>
                      </a:solidFill>
                    </a:lnB>
                    <a:solidFill>
                      <a:srgbClr val="080A0D"/>
                    </a:solidFill>
                  </a:tcPr>
                </a:tc>
              </a:tr>
            </a:tbl>
          </a:graphicData>
        </a:graphic>
      </p:graphicFrame>
      <p:sp>
        <p:nvSpPr>
          <p:cNvPr id="20" name="TextBox 19"/>
          <p:cNvSpPr txBox="1"/>
          <p:nvPr/>
        </p:nvSpPr>
        <p:spPr>
          <a:xfrm>
            <a:off x="6400800" y="5056632"/>
            <a:ext cx="5333695" cy="292608"/>
          </a:xfrm>
          <a:prstGeom prst="rect">
            <a:avLst/>
          </a:prstGeom>
          <a:noFill/>
        </p:spPr>
        <p:txBody>
          <a:bodyPr wrap="square" anchor="t" lIns="45720" rIns="45720" tIns="27432" bIns="27432">
            <a:spAutoFit/>
          </a:bodyPr>
          <a:lstStyle/>
          <a:p>
            <a:pPr algn="l">
              <a:spcAft>
                <a:spcPts val="390"/>
              </a:spcAft>
            </a:pPr>
            <a:r>
              <a:rPr sz="1300" b="0">
                <a:solidFill>
                  <a:srgbClr val="A8B0BA"/>
                </a:solidFill>
                <a:latin typeface="Calibri"/>
              </a:rPr>
              <a:t>N = 80 × 80 = 6,400 cells of 0.5 m;  line follower: cost per frame</a:t>
            </a:r>
          </a:p>
        </p:txBody>
      </p:sp>
      <p:sp>
        <p:nvSpPr>
          <p:cNvPr id="21" name="Rectangle 20"/>
          <p:cNvSpPr/>
          <p:nvPr/>
        </p:nvSpPr>
        <p:spPr>
          <a:xfrm>
            <a:off x="6446520" y="5596128"/>
            <a:ext cx="100584" cy="100584"/>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5440680"/>
            <a:ext cx="5105095" cy="411480"/>
          </a:xfrm>
          <a:prstGeom prst="rect">
            <a:avLst/>
          </a:prstGeom>
          <a:noFill/>
        </p:spPr>
        <p:txBody>
          <a:bodyPr wrap="square" anchor="t" lIns="45720" rIns="45720" tIns="27432" bIns="27432">
            <a:spAutoFit/>
          </a:bodyPr>
          <a:lstStyle/>
          <a:p>
            <a:pPr algn="l">
              <a:spcAft>
                <a:spcPts val="480"/>
              </a:spcAft>
            </a:pPr>
            <a:r>
              <a:rPr sz="1600" b="0">
                <a:solidFill>
                  <a:srgbClr val="FFFFFF"/>
                </a:solidFill>
                <a:latin typeface="Calibri"/>
              </a:rPr>
              <a:t>Re-plans every 0.4 s hiding, 1.6 s infiltrating</a:t>
            </a:r>
          </a:p>
        </p:txBody>
      </p:sp>
      <p:sp>
        <p:nvSpPr>
          <p:cNvPr id="23" name="Rectangle 22"/>
          <p:cNvSpPr/>
          <p:nvPr/>
        </p:nvSpPr>
        <p:spPr>
          <a:xfrm>
            <a:off x="6446520" y="5989320"/>
            <a:ext cx="100584" cy="100584"/>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29400" y="5833872"/>
            <a:ext cx="5105095" cy="411480"/>
          </a:xfrm>
          <a:prstGeom prst="rect">
            <a:avLst/>
          </a:prstGeom>
          <a:noFill/>
        </p:spPr>
        <p:txBody>
          <a:bodyPr wrap="square" anchor="t" lIns="45720" rIns="45720" tIns="27432" bIns="27432">
            <a:spAutoFit/>
          </a:bodyPr>
          <a:lstStyle/>
          <a:p>
            <a:pPr algn="l">
              <a:spcAft>
                <a:spcPts val="480"/>
              </a:spcAft>
            </a:pPr>
            <a:r>
              <a:rPr sz="1600" b="0">
                <a:solidFill>
                  <a:srgbClr val="FFFFFF"/>
                </a:solidFill>
                <a:latin typeface="Calibri"/>
              </a:rPr>
              <a:t>PD (proportional-derivative) steering: Kp 3.2, Kd 0.25</a:t>
            </a:r>
          </a:p>
        </p:txBody>
      </p:sp>
      <p:sp>
        <p:nvSpPr>
          <p:cNvPr id="25" name="TextBox 24"/>
          <p:cNvSpPr txBox="1"/>
          <p:nvPr/>
        </p:nvSpPr>
        <p:spPr>
          <a:xfrm>
            <a:off x="457200" y="6437376"/>
            <a:ext cx="3657600" cy="274320"/>
          </a:xfrm>
          <a:prstGeom prst="rect">
            <a:avLst/>
          </a:prstGeom>
          <a:noFill/>
        </p:spPr>
        <p:txBody>
          <a:bodyPr wrap="square" anchor="ctr" lIns="45720" rIns="45720" tIns="27432" bIns="27432">
            <a:spAutoFit/>
          </a:bodyPr>
          <a:lstStyle/>
          <a:p>
            <a:pPr algn="l">
              <a:spcAft>
                <a:spcPts val="330"/>
              </a:spcAft>
            </a:pPr>
            <a:r>
              <a:rPr sz="1100" b="0">
                <a:solidFill>
                  <a:srgbClr val="A8B0BA"/>
                </a:solidFill>
                <a:latin typeface="Calibri"/>
              </a:rPr>
              <a:t>11 October 2026</a:t>
            </a:r>
          </a:p>
        </p:txBody>
      </p:sp>
      <p:sp>
        <p:nvSpPr>
          <p:cNvPr id="26" name="TextBox 25"/>
          <p:cNvSpPr txBox="1"/>
          <p:nvPr/>
        </p:nvSpPr>
        <p:spPr>
          <a:xfrm>
            <a:off x="9905695" y="6437376"/>
            <a:ext cx="1828800" cy="274320"/>
          </a:xfrm>
          <a:prstGeom prst="rect">
            <a:avLst/>
          </a:prstGeom>
          <a:noFill/>
        </p:spPr>
        <p:txBody>
          <a:bodyPr wrap="square" anchor="ctr" lIns="45720" rIns="45720" tIns="27432" bIns="27432">
            <a:spAutoFit/>
          </a:bodyPr>
          <a:lstStyle/>
          <a:p>
            <a:pPr algn="r">
              <a:spcAft>
                <a:spcPts val="330"/>
              </a:spcAft>
            </a:pPr>
            <a:r>
              <a:rPr sz="1100" b="0">
                <a:solidFill>
                  <a:srgbClr val="A8B0BA"/>
                </a:solidFill>
                <a:latin typeface="Calibri"/>
              </a:rP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80A0D"/>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8229600" cy="310896"/>
          </a:xfrm>
          <a:prstGeom prst="rect">
            <a:avLst/>
          </a:prstGeom>
          <a:noFill/>
        </p:spPr>
        <p:txBody>
          <a:bodyPr wrap="square" anchor="t" lIns="45720" rIns="45720" tIns="27432" bIns="27432">
            <a:spAutoFit/>
          </a:bodyPr>
          <a:lstStyle/>
          <a:p>
            <a:pPr algn="l">
              <a:spcAft>
                <a:spcPts val="390"/>
              </a:spcAft>
            </a:pPr>
            <a:r>
              <a:rPr sz="1300" b="1">
                <a:solidFill>
                  <a:srgbClr val="FF9E1F"/>
                </a:solidFill>
                <a:latin typeface="Calibri"/>
              </a:rPr>
              <a:t>8  |  THERMAL IMAGE TO TRACKS</a:t>
            </a:r>
          </a:p>
        </p:txBody>
      </p:sp>
      <p:sp>
        <p:nvSpPr>
          <p:cNvPr id="4" name="TextBox 3"/>
          <p:cNvSpPr txBox="1"/>
          <p:nvPr/>
        </p:nvSpPr>
        <p:spPr>
          <a:xfrm>
            <a:off x="457200" y="512064"/>
            <a:ext cx="11277295" cy="731520"/>
          </a:xfrm>
          <a:prstGeom prst="rect">
            <a:avLst/>
          </a:prstGeom>
          <a:noFill/>
        </p:spPr>
        <p:txBody>
          <a:bodyPr wrap="square" anchor="t" lIns="45720" rIns="45720" tIns="27432" bIns="27432">
            <a:spAutoFit/>
          </a:bodyPr>
          <a:lstStyle/>
          <a:p>
            <a:pPr algn="l">
              <a:spcAft>
                <a:spcPts val="960"/>
              </a:spcAft>
            </a:pPr>
            <a:r>
              <a:rPr sz="3200" b="1">
                <a:solidFill>
                  <a:srgbClr val="FFFFFF"/>
                </a:solidFill>
                <a:latin typeface="Calibri"/>
              </a:rPr>
              <a:t>Computer vision that tracks in real time</a:t>
            </a:r>
          </a:p>
        </p:txBody>
      </p:sp>
      <p:pic>
        <p:nvPicPr>
          <p:cNvPr id="5" name="Picture 4" descr="img025.jpg"/>
          <p:cNvPicPr>
            <a:picLocks noChangeAspect="1"/>
          </p:cNvPicPr>
          <p:nvPr/>
        </p:nvPicPr>
        <p:blipFill>
          <a:blip r:embed="rId3"/>
          <a:stretch>
            <a:fillRect/>
          </a:stretch>
        </p:blipFill>
        <p:spPr>
          <a:xfrm>
            <a:off x="457200" y="1463040"/>
            <a:ext cx="2011680" cy="1371600"/>
          </a:xfrm>
          <a:prstGeom prst="rect">
            <a:avLst/>
          </a:prstGeom>
        </p:spPr>
      </p:pic>
      <p:sp>
        <p:nvSpPr>
          <p:cNvPr id="6" name="Rectangle 5"/>
          <p:cNvSpPr/>
          <p:nvPr/>
        </p:nvSpPr>
        <p:spPr>
          <a:xfrm>
            <a:off x="457200" y="1463040"/>
            <a:ext cx="329184" cy="329184"/>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463040"/>
            <a:ext cx="329184" cy="329184"/>
          </a:xfrm>
          <a:prstGeom prst="rect">
            <a:avLst/>
          </a:prstGeom>
          <a:noFill/>
        </p:spPr>
        <p:txBody>
          <a:bodyPr wrap="square" anchor="ctr" lIns="45720" rIns="45720" tIns="27432" bIns="27432">
            <a:spAutoFit/>
          </a:bodyPr>
          <a:lstStyle/>
          <a:p>
            <a:pPr algn="ctr">
              <a:spcAft>
                <a:spcPts val="480"/>
              </a:spcAft>
            </a:pPr>
            <a:r>
              <a:rPr sz="1600" b="1">
                <a:solidFill>
                  <a:srgbClr val="080A0D"/>
                </a:solidFill>
                <a:latin typeface="Calibri"/>
              </a:rPr>
              <a:t>1</a:t>
            </a:r>
          </a:p>
        </p:txBody>
      </p:sp>
      <p:sp>
        <p:nvSpPr>
          <p:cNvPr id="8" name="Rectangle 7"/>
          <p:cNvSpPr/>
          <p:nvPr/>
        </p:nvSpPr>
        <p:spPr>
          <a:xfrm>
            <a:off x="457200" y="2834640"/>
            <a:ext cx="2011680" cy="749808"/>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834640"/>
            <a:ext cx="2011680"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2907792"/>
            <a:ext cx="1865376" cy="658368"/>
          </a:xfrm>
          <a:prstGeom prst="rect">
            <a:avLst/>
          </a:prstGeom>
          <a:noFill/>
        </p:spPr>
        <p:txBody>
          <a:bodyPr wrap="square" anchor="t" lIns="45720" rIns="45720" tIns="27432" bIns="27432">
            <a:spAutoFit/>
          </a:bodyPr>
          <a:lstStyle/>
          <a:p>
            <a:pPr algn="l">
              <a:spcAft>
                <a:spcPts val="210"/>
              </a:spcAft>
            </a:pPr>
            <a:r>
              <a:rPr sz="1400" b="1">
                <a:solidFill>
                  <a:srgbClr val="FFFFFF"/>
                </a:solidFill>
                <a:latin typeface="Calibri"/>
              </a:rPr>
              <a:t>Thermal image</a:t>
            </a:r>
          </a:p>
          <a:p>
            <a:pPr algn="l">
              <a:spcAft>
                <a:spcPts val="210"/>
              </a:spcAft>
            </a:pPr>
            <a:r>
              <a:rPr sz="1400" b="0">
                <a:solidFill>
                  <a:srgbClr val="A8B0BA"/>
                </a:solidFill>
                <a:latin typeface="Calibri"/>
              </a:rPr>
              <a:t>320 × 240 per camera</a:t>
            </a:r>
          </a:p>
        </p:txBody>
      </p:sp>
      <p:sp>
        <p:nvSpPr>
          <p:cNvPr id="11" name="Right Arrow 10"/>
          <p:cNvSpPr/>
          <p:nvPr/>
        </p:nvSpPr>
        <p:spPr>
          <a:xfrm>
            <a:off x="2502369" y="2011680"/>
            <a:ext cx="237744" cy="274320"/>
          </a:xfrm>
          <a:prstGeom prst="rightArrow">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g026.jpg"/>
          <p:cNvPicPr>
            <a:picLocks noChangeAspect="1"/>
          </p:cNvPicPr>
          <p:nvPr/>
        </p:nvPicPr>
        <p:blipFill>
          <a:blip r:embed="rId4"/>
          <a:stretch>
            <a:fillRect/>
          </a:stretch>
        </p:blipFill>
        <p:spPr>
          <a:xfrm>
            <a:off x="2773603" y="1463040"/>
            <a:ext cx="2011680" cy="1371600"/>
          </a:xfrm>
          <a:prstGeom prst="rect">
            <a:avLst/>
          </a:prstGeom>
        </p:spPr>
      </p:pic>
      <p:sp>
        <p:nvSpPr>
          <p:cNvPr id="13" name="Rectangle 12"/>
          <p:cNvSpPr/>
          <p:nvPr/>
        </p:nvSpPr>
        <p:spPr>
          <a:xfrm>
            <a:off x="2773603" y="1463040"/>
            <a:ext cx="329184" cy="329184"/>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73603" y="1463040"/>
            <a:ext cx="329184" cy="329184"/>
          </a:xfrm>
          <a:prstGeom prst="rect">
            <a:avLst/>
          </a:prstGeom>
          <a:noFill/>
        </p:spPr>
        <p:txBody>
          <a:bodyPr wrap="square" anchor="ctr" lIns="45720" rIns="45720" tIns="27432" bIns="27432">
            <a:spAutoFit/>
          </a:bodyPr>
          <a:lstStyle/>
          <a:p>
            <a:pPr algn="ctr">
              <a:spcAft>
                <a:spcPts val="480"/>
              </a:spcAft>
            </a:pPr>
            <a:r>
              <a:rPr sz="1600" b="1">
                <a:solidFill>
                  <a:srgbClr val="080A0D"/>
                </a:solidFill>
                <a:latin typeface="Calibri"/>
              </a:rPr>
              <a:t>2</a:t>
            </a:r>
          </a:p>
        </p:txBody>
      </p:sp>
      <p:sp>
        <p:nvSpPr>
          <p:cNvPr id="15" name="Rectangle 14"/>
          <p:cNvSpPr/>
          <p:nvPr/>
        </p:nvSpPr>
        <p:spPr>
          <a:xfrm>
            <a:off x="2773603" y="2834640"/>
            <a:ext cx="2011680" cy="749808"/>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73603" y="2834640"/>
            <a:ext cx="2011680"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46755" y="2907792"/>
            <a:ext cx="1865376" cy="658368"/>
          </a:xfrm>
          <a:prstGeom prst="rect">
            <a:avLst/>
          </a:prstGeom>
          <a:noFill/>
        </p:spPr>
        <p:txBody>
          <a:bodyPr wrap="square" anchor="t" lIns="45720" rIns="45720" tIns="27432" bIns="27432">
            <a:spAutoFit/>
          </a:bodyPr>
          <a:lstStyle/>
          <a:p>
            <a:pPr algn="l">
              <a:spcAft>
                <a:spcPts val="210"/>
              </a:spcAft>
            </a:pPr>
            <a:r>
              <a:rPr sz="1400" b="1">
                <a:solidFill>
                  <a:srgbClr val="FFFFFF"/>
                </a:solidFill>
                <a:latin typeface="Calibri"/>
              </a:rPr>
              <a:t>Threshold</a:t>
            </a:r>
          </a:p>
          <a:p>
            <a:pPr algn="l">
              <a:spcAft>
                <a:spcPts val="210"/>
              </a:spcAft>
            </a:pPr>
            <a:r>
              <a:rPr sz="1400" b="0">
                <a:solidFill>
                  <a:srgbClr val="A8B0BA"/>
                </a:solidFill>
                <a:latin typeface="Calibri"/>
              </a:rPr>
              <a:t>Otsu, floor 204 of 255</a:t>
            </a:r>
          </a:p>
        </p:txBody>
      </p:sp>
      <p:sp>
        <p:nvSpPr>
          <p:cNvPr id="18" name="Right Arrow 17"/>
          <p:cNvSpPr/>
          <p:nvPr/>
        </p:nvSpPr>
        <p:spPr>
          <a:xfrm>
            <a:off x="4818773" y="2011680"/>
            <a:ext cx="237744" cy="274320"/>
          </a:xfrm>
          <a:prstGeom prst="rightArrow">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g027.jpg"/>
          <p:cNvPicPr>
            <a:picLocks noChangeAspect="1"/>
          </p:cNvPicPr>
          <p:nvPr/>
        </p:nvPicPr>
        <p:blipFill>
          <a:blip r:embed="rId5"/>
          <a:stretch>
            <a:fillRect/>
          </a:stretch>
        </p:blipFill>
        <p:spPr>
          <a:xfrm>
            <a:off x="5090007" y="1463040"/>
            <a:ext cx="2011680" cy="1371600"/>
          </a:xfrm>
          <a:prstGeom prst="rect">
            <a:avLst/>
          </a:prstGeom>
        </p:spPr>
      </p:pic>
      <p:sp>
        <p:nvSpPr>
          <p:cNvPr id="20" name="Rectangle 19"/>
          <p:cNvSpPr/>
          <p:nvPr/>
        </p:nvSpPr>
        <p:spPr>
          <a:xfrm>
            <a:off x="5090007" y="1463040"/>
            <a:ext cx="329184" cy="329184"/>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90007" y="1463040"/>
            <a:ext cx="329184" cy="329184"/>
          </a:xfrm>
          <a:prstGeom prst="rect">
            <a:avLst/>
          </a:prstGeom>
          <a:noFill/>
        </p:spPr>
        <p:txBody>
          <a:bodyPr wrap="square" anchor="ctr" lIns="45720" rIns="45720" tIns="27432" bIns="27432">
            <a:spAutoFit/>
          </a:bodyPr>
          <a:lstStyle/>
          <a:p>
            <a:pPr algn="ctr">
              <a:spcAft>
                <a:spcPts val="480"/>
              </a:spcAft>
            </a:pPr>
            <a:r>
              <a:rPr sz="1600" b="1">
                <a:solidFill>
                  <a:srgbClr val="080A0D"/>
                </a:solidFill>
                <a:latin typeface="Calibri"/>
              </a:rPr>
              <a:t>3</a:t>
            </a:r>
          </a:p>
        </p:txBody>
      </p:sp>
      <p:sp>
        <p:nvSpPr>
          <p:cNvPr id="22" name="Rectangle 21"/>
          <p:cNvSpPr/>
          <p:nvPr/>
        </p:nvSpPr>
        <p:spPr>
          <a:xfrm>
            <a:off x="5090007" y="2834640"/>
            <a:ext cx="2011680" cy="749808"/>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90007" y="2834640"/>
            <a:ext cx="2011680"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63159" y="2907792"/>
            <a:ext cx="1865376" cy="658368"/>
          </a:xfrm>
          <a:prstGeom prst="rect">
            <a:avLst/>
          </a:prstGeom>
          <a:noFill/>
        </p:spPr>
        <p:txBody>
          <a:bodyPr wrap="square" anchor="t" lIns="45720" rIns="45720" tIns="27432" bIns="27432">
            <a:spAutoFit/>
          </a:bodyPr>
          <a:lstStyle/>
          <a:p>
            <a:pPr algn="l">
              <a:spcAft>
                <a:spcPts val="210"/>
              </a:spcAft>
            </a:pPr>
            <a:r>
              <a:rPr sz="1400" b="1">
                <a:solidFill>
                  <a:srgbClr val="FFFFFF"/>
                </a:solidFill>
                <a:latin typeface="Calibri"/>
              </a:rPr>
              <a:t>Blobs</a:t>
            </a:r>
          </a:p>
          <a:p>
            <a:pPr algn="l">
              <a:spcAft>
                <a:spcPts val="210"/>
              </a:spcAft>
            </a:pPr>
            <a:r>
              <a:rPr sz="1400" b="0">
                <a:solidFill>
                  <a:srgbClr val="A8B0BA"/>
                </a:solidFill>
                <a:latin typeface="Calibri"/>
              </a:rPr>
              <a:t>union-find, moments</a:t>
            </a:r>
          </a:p>
        </p:txBody>
      </p:sp>
      <p:sp>
        <p:nvSpPr>
          <p:cNvPr id="25" name="Right Arrow 24"/>
          <p:cNvSpPr/>
          <p:nvPr/>
        </p:nvSpPr>
        <p:spPr>
          <a:xfrm>
            <a:off x="7135177" y="2011680"/>
            <a:ext cx="237744" cy="274320"/>
          </a:xfrm>
          <a:prstGeom prst="rightArrow">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g028.jpg"/>
          <p:cNvPicPr>
            <a:picLocks noChangeAspect="1"/>
          </p:cNvPicPr>
          <p:nvPr/>
        </p:nvPicPr>
        <p:blipFill>
          <a:blip r:embed="rId6"/>
          <a:stretch>
            <a:fillRect/>
          </a:stretch>
        </p:blipFill>
        <p:spPr>
          <a:xfrm>
            <a:off x="7406411" y="1463040"/>
            <a:ext cx="2011680" cy="1371600"/>
          </a:xfrm>
          <a:prstGeom prst="rect">
            <a:avLst/>
          </a:prstGeom>
        </p:spPr>
      </p:pic>
      <p:sp>
        <p:nvSpPr>
          <p:cNvPr id="27" name="Rectangle 26"/>
          <p:cNvSpPr/>
          <p:nvPr/>
        </p:nvSpPr>
        <p:spPr>
          <a:xfrm>
            <a:off x="7406411" y="1463040"/>
            <a:ext cx="329184" cy="329184"/>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411" y="1463040"/>
            <a:ext cx="329184" cy="329184"/>
          </a:xfrm>
          <a:prstGeom prst="rect">
            <a:avLst/>
          </a:prstGeom>
          <a:noFill/>
        </p:spPr>
        <p:txBody>
          <a:bodyPr wrap="square" anchor="ctr" lIns="45720" rIns="45720" tIns="27432" bIns="27432">
            <a:spAutoFit/>
          </a:bodyPr>
          <a:lstStyle/>
          <a:p>
            <a:pPr algn="ctr">
              <a:spcAft>
                <a:spcPts val="480"/>
              </a:spcAft>
            </a:pPr>
            <a:r>
              <a:rPr sz="1600" b="1">
                <a:solidFill>
                  <a:srgbClr val="080A0D"/>
                </a:solidFill>
                <a:latin typeface="Calibri"/>
              </a:rPr>
              <a:t>4</a:t>
            </a:r>
          </a:p>
        </p:txBody>
      </p:sp>
      <p:sp>
        <p:nvSpPr>
          <p:cNvPr id="29" name="Rectangle 28"/>
          <p:cNvSpPr/>
          <p:nvPr/>
        </p:nvSpPr>
        <p:spPr>
          <a:xfrm>
            <a:off x="7406411" y="2834640"/>
            <a:ext cx="2011680" cy="749808"/>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06411" y="2834640"/>
            <a:ext cx="2011680"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79563" y="2907792"/>
            <a:ext cx="1865376" cy="658368"/>
          </a:xfrm>
          <a:prstGeom prst="rect">
            <a:avLst/>
          </a:prstGeom>
          <a:noFill/>
        </p:spPr>
        <p:txBody>
          <a:bodyPr wrap="square" anchor="t" lIns="45720" rIns="45720" tIns="27432" bIns="27432">
            <a:spAutoFit/>
          </a:bodyPr>
          <a:lstStyle/>
          <a:p>
            <a:pPr algn="l">
              <a:spcAft>
                <a:spcPts val="210"/>
              </a:spcAft>
            </a:pPr>
            <a:r>
              <a:rPr sz="1400" b="1">
                <a:solidFill>
                  <a:srgbClr val="FFFFFF"/>
                </a:solidFill>
                <a:latin typeface="Calibri"/>
              </a:rPr>
              <a:t>Tracker</a:t>
            </a:r>
          </a:p>
          <a:p>
            <a:pPr algn="l">
              <a:spcAft>
                <a:spcPts val="210"/>
              </a:spcAft>
            </a:pPr>
            <a:r>
              <a:rPr sz="1400" b="0">
                <a:solidFill>
                  <a:srgbClr val="A8B0BA"/>
                </a:solidFill>
                <a:latin typeface="Calibri"/>
              </a:rPr>
              <a:t>Kalman + association</a:t>
            </a:r>
          </a:p>
        </p:txBody>
      </p:sp>
      <p:sp>
        <p:nvSpPr>
          <p:cNvPr id="32" name="Right Arrow 31"/>
          <p:cNvSpPr/>
          <p:nvPr/>
        </p:nvSpPr>
        <p:spPr>
          <a:xfrm>
            <a:off x="9451581" y="2011680"/>
            <a:ext cx="237744" cy="274320"/>
          </a:xfrm>
          <a:prstGeom prst="rightArrow">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img029.jpg"/>
          <p:cNvPicPr>
            <a:picLocks noChangeAspect="1"/>
          </p:cNvPicPr>
          <p:nvPr/>
        </p:nvPicPr>
        <p:blipFill>
          <a:blip r:embed="rId7"/>
          <a:stretch>
            <a:fillRect/>
          </a:stretch>
        </p:blipFill>
        <p:spPr>
          <a:xfrm>
            <a:off x="9722815" y="1463040"/>
            <a:ext cx="2011680" cy="1371600"/>
          </a:xfrm>
          <a:prstGeom prst="rect">
            <a:avLst/>
          </a:prstGeom>
        </p:spPr>
      </p:pic>
      <p:sp>
        <p:nvSpPr>
          <p:cNvPr id="34" name="Rectangle 33"/>
          <p:cNvSpPr/>
          <p:nvPr/>
        </p:nvSpPr>
        <p:spPr>
          <a:xfrm>
            <a:off x="9722815" y="1463040"/>
            <a:ext cx="329184" cy="329184"/>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22815" y="1463040"/>
            <a:ext cx="329184" cy="329184"/>
          </a:xfrm>
          <a:prstGeom prst="rect">
            <a:avLst/>
          </a:prstGeom>
          <a:noFill/>
        </p:spPr>
        <p:txBody>
          <a:bodyPr wrap="square" anchor="ctr" lIns="45720" rIns="45720" tIns="27432" bIns="27432">
            <a:spAutoFit/>
          </a:bodyPr>
          <a:lstStyle/>
          <a:p>
            <a:pPr algn="ctr">
              <a:spcAft>
                <a:spcPts val="480"/>
              </a:spcAft>
            </a:pPr>
            <a:r>
              <a:rPr sz="1600" b="1">
                <a:solidFill>
                  <a:srgbClr val="080A0D"/>
                </a:solidFill>
                <a:latin typeface="Calibri"/>
              </a:rPr>
              <a:t>5</a:t>
            </a:r>
          </a:p>
        </p:txBody>
      </p:sp>
      <p:sp>
        <p:nvSpPr>
          <p:cNvPr id="36" name="Rectangle 35"/>
          <p:cNvSpPr/>
          <p:nvPr/>
        </p:nvSpPr>
        <p:spPr>
          <a:xfrm>
            <a:off x="9722815" y="2834640"/>
            <a:ext cx="2011680" cy="749808"/>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722815" y="2834640"/>
            <a:ext cx="2011680"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795967" y="2907792"/>
            <a:ext cx="1865376" cy="658368"/>
          </a:xfrm>
          <a:prstGeom prst="rect">
            <a:avLst/>
          </a:prstGeom>
          <a:noFill/>
        </p:spPr>
        <p:txBody>
          <a:bodyPr wrap="square" anchor="t" lIns="45720" rIns="45720" tIns="27432" bIns="27432">
            <a:spAutoFit/>
          </a:bodyPr>
          <a:lstStyle/>
          <a:p>
            <a:pPr algn="l">
              <a:spcAft>
                <a:spcPts val="210"/>
              </a:spcAft>
            </a:pPr>
            <a:r>
              <a:rPr sz="1400" b="1">
                <a:solidFill>
                  <a:srgbClr val="FFFFFF"/>
                </a:solidFill>
                <a:latin typeface="Calibri"/>
              </a:rPr>
              <a:t>Track boxes</a:t>
            </a:r>
          </a:p>
          <a:p>
            <a:pPr algn="l">
              <a:spcAft>
                <a:spcPts val="210"/>
              </a:spcAft>
            </a:pPr>
            <a:r>
              <a:rPr sz="1400" b="0">
                <a:solidFill>
                  <a:srgbClr val="A8B0BA"/>
                </a:solidFill>
                <a:latin typeface="Calibri"/>
              </a:rPr>
              <a:t>identity and range</a:t>
            </a:r>
          </a:p>
        </p:txBody>
      </p:sp>
      <p:pic>
        <p:nvPicPr>
          <p:cNvPr id="39" name="Picture 38" descr="img030.jpg"/>
          <p:cNvPicPr>
            <a:picLocks noChangeAspect="1"/>
          </p:cNvPicPr>
          <p:nvPr/>
        </p:nvPicPr>
        <p:blipFill>
          <a:blip r:embed="rId8"/>
          <a:stretch>
            <a:fillRect/>
          </a:stretch>
        </p:blipFill>
        <p:spPr>
          <a:xfrm>
            <a:off x="457200" y="3767328"/>
            <a:ext cx="4437887" cy="2496311"/>
          </a:xfrm>
          <a:prstGeom prst="rect">
            <a:avLst/>
          </a:prstGeom>
        </p:spPr>
      </p:pic>
      <p:sp>
        <p:nvSpPr>
          <p:cNvPr id="40" name="Rectangle 39"/>
          <p:cNvSpPr/>
          <p:nvPr/>
        </p:nvSpPr>
        <p:spPr>
          <a:xfrm>
            <a:off x="448056" y="5934455"/>
            <a:ext cx="4456175" cy="347472"/>
          </a:xfrm>
          <a:prstGeom prst="rect">
            <a:avLst/>
          </a:prstGeom>
          <a:solidFill>
            <a:srgbClr val="080A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02920" y="5934455"/>
            <a:ext cx="4346448" cy="329184"/>
          </a:xfrm>
          <a:prstGeom prst="rect">
            <a:avLst/>
          </a:prstGeom>
          <a:noFill/>
        </p:spPr>
        <p:txBody>
          <a:bodyPr wrap="square" anchor="ctr" lIns="45720" rIns="45720" tIns="27432" bIns="27432">
            <a:spAutoFit/>
          </a:bodyPr>
          <a:lstStyle/>
          <a:p>
            <a:pPr algn="l">
              <a:spcAft>
                <a:spcPts val="390"/>
              </a:spcAft>
            </a:pPr>
            <a:r>
              <a:rPr sz="1300" b="0">
                <a:solidFill>
                  <a:srgbClr val="FF9E1F"/>
                </a:solidFill>
                <a:latin typeface="Calibri"/>
              </a:rPr>
              <a:t>Through the UAV (uncrewed aerial vehicle) camera</a:t>
            </a:r>
          </a:p>
        </p:txBody>
      </p:sp>
      <p:graphicFrame>
        <p:nvGraphicFramePr>
          <p:cNvPr id="42" name="Table 41"/>
          <p:cNvGraphicFramePr>
            <a:graphicFrameLocks noGrp="1"/>
          </p:cNvGraphicFramePr>
          <p:nvPr/>
        </p:nvGraphicFramePr>
        <p:xfrm>
          <a:off x="5123687" y="3767328"/>
          <a:ext cx="6610807" cy="2194560"/>
        </p:xfrm>
        <a:graphic>
          <a:graphicData uri="http://schemas.openxmlformats.org/drawingml/2006/table">
            <a:tbl>
              <a:tblPr firstRow="1">
                <a:tableStyleId>{2D5ABB26-0587-4C30-8999-92F81FD0307C}</a:tableStyleId>
              </a:tblPr>
              <a:tblGrid>
                <a:gridCol w="2057400"/>
                <a:gridCol w="3639007"/>
                <a:gridCol w="914400"/>
              </a:tblGrid>
              <a:tr h="365760">
                <a:tc>
                  <a:txBody>
                    <a:bodyPr wrap="square"/>
                    <a:lstStyle/>
                    <a:p>
                      <a:pPr algn="l"/>
                      <a:r>
                        <a:rPr sz="1200" b="1">
                          <a:solidFill>
                            <a:srgbClr val="FF9E1F"/>
                          </a:solidFill>
                          <a:latin typeface="Calibri"/>
                        </a:rPr>
                        <a:t>Stage, every frame</a:t>
                      </a:r>
                    </a:p>
                  </a:txBody>
                  <a:tcPr marL="109728" marR="109728" marT="27432" marB="27432" anchor="ctr">
                    <a:lnL w="0">
                      <a:noFill/>
                    </a:lnL>
                    <a:lnR w="0">
                      <a:noFill/>
                    </a:lnR>
                    <a:lnT w="0">
                      <a:noFill/>
                    </a:lnT>
                    <a:lnB w="19050" cap="flat" cmpd="sng">
                      <a:solidFill>
                        <a:srgbClr val="FF9E1F"/>
                      </a:solidFill>
                    </a:lnB>
                    <a:solidFill>
                      <a:srgbClr val="14181E"/>
                    </a:solidFill>
                  </a:tcPr>
                </a:tc>
                <a:tc>
                  <a:txBody>
                    <a:bodyPr wrap="square"/>
                    <a:lstStyle/>
                    <a:p>
                      <a:pPr algn="l"/>
                      <a:r>
                        <a:rPr sz="1200" b="1">
                          <a:solidFill>
                            <a:srgbClr val="FF9E1F"/>
                          </a:solidFill>
                          <a:latin typeface="Calibri"/>
                        </a:rPr>
                        <a:t>Work</a:t>
                      </a:r>
                    </a:p>
                  </a:txBody>
                  <a:tcPr marL="109728" marR="109728" marT="27432" marB="27432" anchor="ctr">
                    <a:lnL w="0">
                      <a:noFill/>
                    </a:lnL>
                    <a:lnR w="0">
                      <a:noFill/>
                    </a:lnR>
                    <a:lnT w="0">
                      <a:noFill/>
                    </a:lnT>
                    <a:lnB w="19050" cap="flat" cmpd="sng">
                      <a:solidFill>
                        <a:srgbClr val="FF9E1F"/>
                      </a:solidFill>
                    </a:lnB>
                    <a:solidFill>
                      <a:srgbClr val="14181E"/>
                    </a:solidFill>
                  </a:tcPr>
                </a:tc>
                <a:tc>
                  <a:txBody>
                    <a:bodyPr wrap="square"/>
                    <a:lstStyle/>
                    <a:p>
                      <a:pPr algn="l"/>
                      <a:r>
                        <a:rPr sz="1200" b="1">
                          <a:solidFill>
                            <a:srgbClr val="FF9E1F"/>
                          </a:solidFill>
                          <a:latin typeface="Calibri"/>
                        </a:rPr>
                        <a:t>Cost</a:t>
                      </a:r>
                    </a:p>
                  </a:txBody>
                  <a:tcPr marL="109728" marR="109728" marT="27432" marB="27432" anchor="ctr">
                    <a:lnL w="0">
                      <a:noFill/>
                    </a:lnL>
                    <a:lnR w="0">
                      <a:noFill/>
                    </a:lnR>
                    <a:lnT w="0">
                      <a:noFill/>
                    </a:lnT>
                    <a:lnB w="19050" cap="flat" cmpd="sng">
                      <a:solidFill>
                        <a:srgbClr val="FF9E1F"/>
                      </a:solidFill>
                    </a:lnB>
                    <a:solidFill>
                      <a:srgbClr val="14181E"/>
                    </a:solidFill>
                  </a:tcPr>
                </a:tc>
              </a:tr>
              <a:tr h="365760">
                <a:tc>
                  <a:txBody>
                    <a:bodyPr wrap="square"/>
                    <a:lstStyle/>
                    <a:p>
                      <a:pPr algn="l"/>
                      <a:r>
                        <a:rPr sz="1300" b="1">
                          <a:solidFill>
                            <a:srgbClr val="FFFFFF"/>
                          </a:solidFill>
                          <a:latin typeface="Calibri"/>
                        </a:rPr>
                        <a:t>Threshold, despeckle</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300" b="0">
                          <a:solidFill>
                            <a:srgbClr val="FFFFFF"/>
                          </a:solidFill>
                          <a:latin typeface="Calibri"/>
                        </a:rPr>
                        <a:t>histogram, 3 × 3 neighbours</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300" b="0">
                          <a:solidFill>
                            <a:srgbClr val="FF9E1F"/>
                          </a:solidFill>
                          <a:latin typeface="Calibri"/>
                        </a:rPr>
                        <a:t>O(P)</a:t>
                      </a:r>
                    </a:p>
                  </a:txBody>
                  <a:tcPr marL="109728" marR="109728" marT="27432" marB="27432" anchor="ctr">
                    <a:lnL w="0">
                      <a:noFill/>
                    </a:lnL>
                    <a:lnR w="0">
                      <a:noFill/>
                    </a:lnR>
                    <a:lnT w="0">
                      <a:noFill/>
                    </a:lnT>
                    <a:lnB w="9525" cap="flat" cmpd="sng">
                      <a:solidFill>
                        <a:srgbClr val="2A313A"/>
                      </a:solidFill>
                    </a:lnB>
                    <a:solidFill>
                      <a:srgbClr val="0F1217"/>
                    </a:solidFill>
                  </a:tcPr>
                </a:tc>
              </a:tr>
              <a:tr h="365760">
                <a:tc>
                  <a:txBody>
                    <a:bodyPr wrap="square"/>
                    <a:lstStyle/>
                    <a:p>
                      <a:pPr algn="l"/>
                      <a:r>
                        <a:rPr sz="1300" b="1">
                          <a:solidFill>
                            <a:srgbClr val="FFFFFF"/>
                          </a:solidFill>
                          <a:latin typeface="Calibri"/>
                        </a:rPr>
                        <a:t>Blobs</a:t>
                      </a:r>
                    </a:p>
                  </a:txBody>
                  <a:tcPr marL="109728" marR="109728" marT="27432" marB="27432" anchor="ctr">
                    <a:lnL w="0">
                      <a:noFill/>
                    </a:lnL>
                    <a:lnR w="0">
                      <a:noFill/>
                    </a:lnR>
                    <a:lnT w="0">
                      <a:noFill/>
                    </a:lnT>
                    <a:lnB w="9525" cap="flat" cmpd="sng">
                      <a:solidFill>
                        <a:srgbClr val="2A313A"/>
                      </a:solidFill>
                    </a:lnB>
                    <a:solidFill>
                      <a:srgbClr val="080A0D"/>
                    </a:solidFill>
                  </a:tcPr>
                </a:tc>
                <a:tc>
                  <a:txBody>
                    <a:bodyPr wrap="square"/>
                    <a:lstStyle/>
                    <a:p>
                      <a:pPr algn="l"/>
                      <a:r>
                        <a:rPr sz="1300" b="0">
                          <a:solidFill>
                            <a:srgbClr val="FFFFFF"/>
                          </a:solidFill>
                          <a:latin typeface="Calibri"/>
                        </a:rPr>
                        <a:t>two passes, union-find</a:t>
                      </a:r>
                    </a:p>
                  </a:txBody>
                  <a:tcPr marL="109728" marR="109728" marT="27432" marB="27432" anchor="ctr">
                    <a:lnL w="0">
                      <a:noFill/>
                    </a:lnL>
                    <a:lnR w="0">
                      <a:noFill/>
                    </a:lnR>
                    <a:lnT w="0">
                      <a:noFill/>
                    </a:lnT>
                    <a:lnB w="9525" cap="flat" cmpd="sng">
                      <a:solidFill>
                        <a:srgbClr val="2A313A"/>
                      </a:solidFill>
                    </a:lnB>
                    <a:solidFill>
                      <a:srgbClr val="080A0D"/>
                    </a:solidFill>
                  </a:tcPr>
                </a:tc>
                <a:tc>
                  <a:txBody>
                    <a:bodyPr wrap="square"/>
                    <a:lstStyle/>
                    <a:p>
                      <a:pPr algn="l"/>
                      <a:r>
                        <a:rPr sz="1300" b="0">
                          <a:solidFill>
                            <a:srgbClr val="FF9E1F"/>
                          </a:solidFill>
                          <a:latin typeface="Calibri"/>
                        </a:rPr>
                        <a:t>≈ O(P)</a:t>
                      </a:r>
                    </a:p>
                  </a:txBody>
                  <a:tcPr marL="109728" marR="109728" marT="27432" marB="27432" anchor="ctr">
                    <a:lnL w="0">
                      <a:noFill/>
                    </a:lnL>
                    <a:lnR w="0">
                      <a:noFill/>
                    </a:lnR>
                    <a:lnT w="0">
                      <a:noFill/>
                    </a:lnT>
                    <a:lnB w="9525" cap="flat" cmpd="sng">
                      <a:solidFill>
                        <a:srgbClr val="2A313A"/>
                      </a:solidFill>
                    </a:lnB>
                    <a:solidFill>
                      <a:srgbClr val="080A0D"/>
                    </a:solidFill>
                  </a:tcPr>
                </a:tc>
              </a:tr>
              <a:tr h="365760">
                <a:tc>
                  <a:txBody>
                    <a:bodyPr wrap="square"/>
                    <a:lstStyle/>
                    <a:p>
                      <a:pPr algn="l"/>
                      <a:r>
                        <a:rPr sz="1300" b="1">
                          <a:solidFill>
                            <a:srgbClr val="FFFFFF"/>
                          </a:solidFill>
                          <a:latin typeface="Calibri"/>
                        </a:rPr>
                        <a:t>Kalman filter</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300" b="0">
                          <a:solidFill>
                            <a:srgbClr val="FFFFFF"/>
                          </a:solidFill>
                          <a:latin typeface="Calibri"/>
                        </a:rPr>
                        <a:t>state (x, z, vx, vz) per track</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300" b="0">
                          <a:solidFill>
                            <a:srgbClr val="FF9E1F"/>
                          </a:solidFill>
                          <a:latin typeface="Calibri"/>
                        </a:rPr>
                        <a:t>O(T)</a:t>
                      </a:r>
                    </a:p>
                  </a:txBody>
                  <a:tcPr marL="109728" marR="109728" marT="27432" marB="27432" anchor="ctr">
                    <a:lnL w="0">
                      <a:noFill/>
                    </a:lnL>
                    <a:lnR w="0">
                      <a:noFill/>
                    </a:lnR>
                    <a:lnT w="0">
                      <a:noFill/>
                    </a:lnT>
                    <a:lnB w="9525" cap="flat" cmpd="sng">
                      <a:solidFill>
                        <a:srgbClr val="2A313A"/>
                      </a:solidFill>
                    </a:lnB>
                    <a:solidFill>
                      <a:srgbClr val="0F1217"/>
                    </a:solidFill>
                  </a:tcPr>
                </a:tc>
              </a:tr>
              <a:tr h="365760">
                <a:tc>
                  <a:txBody>
                    <a:bodyPr wrap="square"/>
                    <a:lstStyle/>
                    <a:p>
                      <a:pPr algn="l"/>
                      <a:r>
                        <a:rPr sz="1300" b="1">
                          <a:solidFill>
                            <a:srgbClr val="FFFFFF"/>
                          </a:solidFill>
                          <a:latin typeface="Calibri"/>
                        </a:rPr>
                        <a:t>Data association</a:t>
                      </a:r>
                    </a:p>
                  </a:txBody>
                  <a:tcPr marL="109728" marR="109728" marT="27432" marB="27432" anchor="ctr">
                    <a:lnL w="0">
                      <a:noFill/>
                    </a:lnL>
                    <a:lnR w="0">
                      <a:noFill/>
                    </a:lnR>
                    <a:lnT w="0">
                      <a:noFill/>
                    </a:lnT>
                    <a:lnB w="9525" cap="flat" cmpd="sng">
                      <a:solidFill>
                        <a:srgbClr val="2A313A"/>
                      </a:solidFill>
                    </a:lnB>
                    <a:solidFill>
                      <a:srgbClr val="080A0D"/>
                    </a:solidFill>
                  </a:tcPr>
                </a:tc>
                <a:tc>
                  <a:txBody>
                    <a:bodyPr wrap="square"/>
                    <a:lstStyle/>
                    <a:p>
                      <a:pPr algn="l"/>
                      <a:r>
                        <a:rPr sz="1300" b="0">
                          <a:solidFill>
                            <a:srgbClr val="FFFFFF"/>
                          </a:solidFill>
                          <a:latin typeface="Calibri"/>
                        </a:rPr>
                        <a:t>Hungarian, gate χ² = 9.21</a:t>
                      </a:r>
                    </a:p>
                  </a:txBody>
                  <a:tcPr marL="109728" marR="109728" marT="27432" marB="27432" anchor="ctr">
                    <a:lnL w="0">
                      <a:noFill/>
                    </a:lnL>
                    <a:lnR w="0">
                      <a:noFill/>
                    </a:lnR>
                    <a:lnT w="0">
                      <a:noFill/>
                    </a:lnT>
                    <a:lnB w="9525" cap="flat" cmpd="sng">
                      <a:solidFill>
                        <a:srgbClr val="2A313A"/>
                      </a:solidFill>
                    </a:lnB>
                    <a:solidFill>
                      <a:srgbClr val="080A0D"/>
                    </a:solidFill>
                  </a:tcPr>
                </a:tc>
                <a:tc>
                  <a:txBody>
                    <a:bodyPr wrap="square"/>
                    <a:lstStyle/>
                    <a:p>
                      <a:pPr algn="l"/>
                      <a:r>
                        <a:rPr sz="1300" b="0">
                          <a:solidFill>
                            <a:srgbClr val="FF9E1F"/>
                          </a:solidFill>
                          <a:latin typeface="Calibri"/>
                        </a:rPr>
                        <a:t>O(n³)</a:t>
                      </a:r>
                    </a:p>
                  </a:txBody>
                  <a:tcPr marL="109728" marR="109728" marT="27432" marB="27432" anchor="ctr">
                    <a:lnL w="0">
                      <a:noFill/>
                    </a:lnL>
                    <a:lnR w="0">
                      <a:noFill/>
                    </a:lnR>
                    <a:lnT w="0">
                      <a:noFill/>
                    </a:lnT>
                    <a:lnB w="9525" cap="flat" cmpd="sng">
                      <a:solidFill>
                        <a:srgbClr val="2A313A"/>
                      </a:solidFill>
                    </a:lnB>
                    <a:solidFill>
                      <a:srgbClr val="080A0D"/>
                    </a:solidFill>
                  </a:tcPr>
                </a:tc>
              </a:tr>
              <a:tr h="365760">
                <a:tc>
                  <a:txBody>
                    <a:bodyPr wrap="square"/>
                    <a:lstStyle/>
                    <a:p>
                      <a:pPr algn="l"/>
                      <a:r>
                        <a:rPr sz="1300" b="1">
                          <a:solidFill>
                            <a:srgbClr val="FFFFFF"/>
                          </a:solidFill>
                          <a:latin typeface="Calibri"/>
                        </a:rPr>
                        <a:t>Measured (benchmark)</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300" b="0">
                          <a:solidFill>
                            <a:srgbClr val="FFFFFF"/>
                          </a:solidFill>
                          <a:latin typeface="Calibri"/>
                        </a:rPr>
                        <a:t>both cameras, sensor model + vision</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300" b="0">
                          <a:solidFill>
                            <a:srgbClr val="FF9E1F"/>
                          </a:solidFill>
                          <a:latin typeface="Calibri"/>
                        </a:rPr>
                        <a:t>2.9 ms</a:t>
                      </a:r>
                    </a:p>
                  </a:txBody>
                  <a:tcPr marL="109728" marR="109728" marT="27432" marB="27432" anchor="ctr">
                    <a:lnL w="0">
                      <a:noFill/>
                    </a:lnL>
                    <a:lnR w="0">
                      <a:noFill/>
                    </a:lnR>
                    <a:lnT w="0">
                      <a:noFill/>
                    </a:lnT>
                    <a:lnB w="9525" cap="flat" cmpd="sng">
                      <a:solidFill>
                        <a:srgbClr val="2A313A"/>
                      </a:solidFill>
                    </a:lnB>
                    <a:solidFill>
                      <a:srgbClr val="0F1217"/>
                    </a:solidFill>
                  </a:tcPr>
                </a:tc>
              </a:tr>
            </a:tbl>
          </a:graphicData>
        </a:graphic>
      </p:graphicFrame>
      <p:sp>
        <p:nvSpPr>
          <p:cNvPr id="43" name="TextBox 42"/>
          <p:cNvSpPr txBox="1"/>
          <p:nvPr/>
        </p:nvSpPr>
        <p:spPr>
          <a:xfrm>
            <a:off x="5123687" y="6016752"/>
            <a:ext cx="6610807" cy="274320"/>
          </a:xfrm>
          <a:prstGeom prst="rect">
            <a:avLst/>
          </a:prstGeom>
          <a:noFill/>
        </p:spPr>
        <p:txBody>
          <a:bodyPr wrap="square" anchor="t" lIns="45720" rIns="45720" tIns="27432" bIns="27432">
            <a:spAutoFit/>
          </a:bodyPr>
          <a:lstStyle/>
          <a:p>
            <a:pPr algn="l">
              <a:spcAft>
                <a:spcPts val="359"/>
              </a:spcAft>
            </a:pPr>
            <a:r>
              <a:rPr sz="1200" b="0">
                <a:solidFill>
                  <a:srgbClr val="A8B0BA"/>
                </a:solidFill>
                <a:latin typeface="Calibri"/>
              </a:rPr>
              <a:t>P = 320 × 240 = 76,800 pixels;  T tracks;  n = tracks or blobs</a:t>
            </a:r>
          </a:p>
        </p:txBody>
      </p:sp>
      <p:sp>
        <p:nvSpPr>
          <p:cNvPr id="44" name="TextBox 43"/>
          <p:cNvSpPr txBox="1"/>
          <p:nvPr/>
        </p:nvSpPr>
        <p:spPr>
          <a:xfrm>
            <a:off x="457200" y="6437376"/>
            <a:ext cx="3657600" cy="274320"/>
          </a:xfrm>
          <a:prstGeom prst="rect">
            <a:avLst/>
          </a:prstGeom>
          <a:noFill/>
        </p:spPr>
        <p:txBody>
          <a:bodyPr wrap="square" anchor="ctr" lIns="45720" rIns="45720" tIns="27432" bIns="27432">
            <a:spAutoFit/>
          </a:bodyPr>
          <a:lstStyle/>
          <a:p>
            <a:pPr algn="l">
              <a:spcAft>
                <a:spcPts val="330"/>
              </a:spcAft>
            </a:pPr>
            <a:r>
              <a:rPr sz="1100" b="0">
                <a:solidFill>
                  <a:srgbClr val="A8B0BA"/>
                </a:solidFill>
                <a:latin typeface="Calibri"/>
              </a:rPr>
              <a:t>11 October 2026</a:t>
            </a:r>
          </a:p>
        </p:txBody>
      </p:sp>
      <p:sp>
        <p:nvSpPr>
          <p:cNvPr id="45" name="TextBox 44"/>
          <p:cNvSpPr txBox="1"/>
          <p:nvPr/>
        </p:nvSpPr>
        <p:spPr>
          <a:xfrm>
            <a:off x="9905695" y="6437376"/>
            <a:ext cx="1828800" cy="274320"/>
          </a:xfrm>
          <a:prstGeom prst="rect">
            <a:avLst/>
          </a:prstGeom>
          <a:noFill/>
        </p:spPr>
        <p:txBody>
          <a:bodyPr wrap="square" anchor="ctr" lIns="45720" rIns="45720" tIns="27432" bIns="27432">
            <a:spAutoFit/>
          </a:bodyPr>
          <a:lstStyle/>
          <a:p>
            <a:pPr algn="r">
              <a:spcAft>
                <a:spcPts val="330"/>
              </a:spcAft>
            </a:pPr>
            <a:r>
              <a:rPr sz="1100" b="0">
                <a:solidFill>
                  <a:srgbClr val="A8B0BA"/>
                </a:solidFill>
                <a:latin typeface="Calibri"/>
              </a:rP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80A0D"/>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8229600" cy="310896"/>
          </a:xfrm>
          <a:prstGeom prst="rect">
            <a:avLst/>
          </a:prstGeom>
          <a:noFill/>
        </p:spPr>
        <p:txBody>
          <a:bodyPr wrap="square" anchor="t" lIns="45720" rIns="45720" tIns="27432" bIns="27432">
            <a:spAutoFit/>
          </a:bodyPr>
          <a:lstStyle/>
          <a:p>
            <a:pPr algn="l">
              <a:spcAft>
                <a:spcPts val="390"/>
              </a:spcAft>
            </a:pPr>
            <a:r>
              <a:rPr sz="1300" b="1">
                <a:solidFill>
                  <a:srgbClr val="FF9E1F"/>
                </a:solidFill>
                <a:latin typeface="Calibri"/>
              </a:rPr>
              <a:t>9  |  STRIKES AND VEHICLES</a:t>
            </a:r>
          </a:p>
        </p:txBody>
      </p:sp>
      <p:sp>
        <p:nvSpPr>
          <p:cNvPr id="4" name="TextBox 3"/>
          <p:cNvSpPr txBox="1"/>
          <p:nvPr/>
        </p:nvSpPr>
        <p:spPr>
          <a:xfrm>
            <a:off x="457200" y="512064"/>
            <a:ext cx="11277295" cy="731520"/>
          </a:xfrm>
          <a:prstGeom prst="rect">
            <a:avLst/>
          </a:prstGeom>
          <a:noFill/>
        </p:spPr>
        <p:txBody>
          <a:bodyPr wrap="square" anchor="t" lIns="45720" rIns="45720" tIns="27432" bIns="27432">
            <a:spAutoFit/>
          </a:bodyPr>
          <a:lstStyle/>
          <a:p>
            <a:pPr algn="l">
              <a:spcAft>
                <a:spcPts val="960"/>
              </a:spcAft>
            </a:pPr>
            <a:r>
              <a:rPr sz="3200" b="1">
                <a:solidFill>
                  <a:srgbClr val="FFFFFF"/>
                </a:solidFill>
                <a:latin typeface="Calibri"/>
              </a:rPr>
              <a:t>Autonomous defence and controllable vehicles</a:t>
            </a:r>
          </a:p>
        </p:txBody>
      </p:sp>
      <p:sp>
        <p:nvSpPr>
          <p:cNvPr id="5" name="Rectangle 4"/>
          <p:cNvSpPr/>
          <p:nvPr/>
        </p:nvSpPr>
        <p:spPr>
          <a:xfrm>
            <a:off x="457200" y="1499616"/>
            <a:ext cx="100584" cy="100584"/>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89888"/>
            <a:ext cx="11094415" cy="329184"/>
          </a:xfrm>
          <a:prstGeom prst="rect">
            <a:avLst/>
          </a:prstGeom>
          <a:noFill/>
        </p:spPr>
        <p:txBody>
          <a:bodyPr wrap="square" anchor="ctr" lIns="45720" rIns="45720" tIns="27432" bIns="27432">
            <a:spAutoFit/>
          </a:bodyPr>
          <a:lstStyle/>
          <a:p>
            <a:pPr algn="l">
              <a:spcAft>
                <a:spcPts val="450"/>
              </a:spcAft>
            </a:pPr>
            <a:r>
              <a:rPr sz="1500" b="1">
                <a:solidFill>
                  <a:srgbClr val="FFFFFF"/>
                </a:solidFill>
                <a:latin typeface="Calibri"/>
              </a:rPr>
              <a:t>Autonomous: two UAVs (uncrewed aerial vehicles) strike from thermal tracks</a:t>
            </a:r>
          </a:p>
        </p:txBody>
      </p:sp>
      <p:pic>
        <p:nvPicPr>
          <p:cNvPr id="7" name="Picture 6" descr="img031.jpg"/>
          <p:cNvPicPr>
            <a:picLocks noChangeAspect="1"/>
          </p:cNvPicPr>
          <p:nvPr/>
        </p:nvPicPr>
        <p:blipFill>
          <a:blip r:embed="rId3"/>
          <a:stretch>
            <a:fillRect/>
          </a:stretch>
        </p:blipFill>
        <p:spPr>
          <a:xfrm>
            <a:off x="457200" y="1719072"/>
            <a:ext cx="3658514" cy="2057914"/>
          </a:xfrm>
          <a:prstGeom prst="rect">
            <a:avLst/>
          </a:prstGeom>
        </p:spPr>
      </p:pic>
      <p:sp>
        <p:nvSpPr>
          <p:cNvPr id="8" name="Rectangle 7"/>
          <p:cNvSpPr/>
          <p:nvPr/>
        </p:nvSpPr>
        <p:spPr>
          <a:xfrm>
            <a:off x="448056" y="3447802"/>
            <a:ext cx="3676802" cy="347472"/>
          </a:xfrm>
          <a:prstGeom prst="rect">
            <a:avLst/>
          </a:prstGeom>
          <a:solidFill>
            <a:srgbClr val="080A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3447802"/>
            <a:ext cx="3567074" cy="329184"/>
          </a:xfrm>
          <a:prstGeom prst="rect">
            <a:avLst/>
          </a:prstGeom>
          <a:noFill/>
        </p:spPr>
        <p:txBody>
          <a:bodyPr wrap="square" anchor="ctr" lIns="45720" rIns="45720" tIns="27432" bIns="27432">
            <a:spAutoFit/>
          </a:bodyPr>
          <a:lstStyle/>
          <a:p>
            <a:pPr algn="l">
              <a:spcAft>
                <a:spcPts val="390"/>
              </a:spcAft>
            </a:pPr>
            <a:r>
              <a:rPr sz="1300" b="0">
                <a:solidFill>
                  <a:srgbClr val="FF9E1F"/>
                </a:solidFill>
                <a:latin typeface="Calibri"/>
              </a:rPr>
              <a:t>Thermal tracks</a:t>
            </a:r>
          </a:p>
        </p:txBody>
      </p:sp>
      <p:pic>
        <p:nvPicPr>
          <p:cNvPr id="10" name="Picture 9" descr="img032.jpg"/>
          <p:cNvPicPr>
            <a:picLocks noChangeAspect="1"/>
          </p:cNvPicPr>
          <p:nvPr/>
        </p:nvPicPr>
        <p:blipFill>
          <a:blip r:embed="rId4"/>
          <a:stretch>
            <a:fillRect/>
          </a:stretch>
        </p:blipFill>
        <p:spPr>
          <a:xfrm>
            <a:off x="4266590" y="1719072"/>
            <a:ext cx="3658514" cy="2057914"/>
          </a:xfrm>
          <a:prstGeom prst="rect">
            <a:avLst/>
          </a:prstGeom>
        </p:spPr>
      </p:pic>
      <p:sp>
        <p:nvSpPr>
          <p:cNvPr id="11" name="Rectangle 10"/>
          <p:cNvSpPr/>
          <p:nvPr/>
        </p:nvSpPr>
        <p:spPr>
          <a:xfrm>
            <a:off x="4257446" y="3447802"/>
            <a:ext cx="3676802" cy="347472"/>
          </a:xfrm>
          <a:prstGeom prst="rect">
            <a:avLst/>
          </a:prstGeom>
          <a:solidFill>
            <a:srgbClr val="080A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12310" y="3447802"/>
            <a:ext cx="3567074" cy="329184"/>
          </a:xfrm>
          <a:prstGeom prst="rect">
            <a:avLst/>
          </a:prstGeom>
          <a:noFill/>
        </p:spPr>
        <p:txBody>
          <a:bodyPr wrap="square" anchor="ctr" lIns="45720" rIns="45720" tIns="27432" bIns="27432">
            <a:spAutoFit/>
          </a:bodyPr>
          <a:lstStyle/>
          <a:p>
            <a:pPr algn="l">
              <a:spcAft>
                <a:spcPts val="390"/>
              </a:spcAft>
            </a:pPr>
            <a:r>
              <a:rPr sz="1300" b="0">
                <a:solidFill>
                  <a:srgbClr val="FF9E1F"/>
                </a:solidFill>
                <a:latin typeface="Calibri"/>
              </a:rPr>
              <a:t>Single strike</a:t>
            </a:r>
          </a:p>
        </p:txBody>
      </p:sp>
      <p:pic>
        <p:nvPicPr>
          <p:cNvPr id="13" name="Picture 12" descr="img033.jpg"/>
          <p:cNvPicPr>
            <a:picLocks noChangeAspect="1"/>
          </p:cNvPicPr>
          <p:nvPr/>
        </p:nvPicPr>
        <p:blipFill>
          <a:blip r:embed="rId5"/>
          <a:stretch>
            <a:fillRect/>
          </a:stretch>
        </p:blipFill>
        <p:spPr>
          <a:xfrm>
            <a:off x="8075980" y="1719072"/>
            <a:ext cx="3658514" cy="2057914"/>
          </a:xfrm>
          <a:prstGeom prst="rect">
            <a:avLst/>
          </a:prstGeom>
        </p:spPr>
      </p:pic>
      <p:sp>
        <p:nvSpPr>
          <p:cNvPr id="14" name="Rectangle 13"/>
          <p:cNvSpPr/>
          <p:nvPr/>
        </p:nvSpPr>
        <p:spPr>
          <a:xfrm>
            <a:off x="8066836" y="3447802"/>
            <a:ext cx="3676802" cy="347472"/>
          </a:xfrm>
          <a:prstGeom prst="rect">
            <a:avLst/>
          </a:prstGeom>
          <a:solidFill>
            <a:srgbClr val="080A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21700" y="3447802"/>
            <a:ext cx="3567074" cy="329184"/>
          </a:xfrm>
          <a:prstGeom prst="rect">
            <a:avLst/>
          </a:prstGeom>
          <a:noFill/>
        </p:spPr>
        <p:txBody>
          <a:bodyPr wrap="square" anchor="ctr" lIns="45720" rIns="45720" tIns="27432" bIns="27432">
            <a:spAutoFit/>
          </a:bodyPr>
          <a:lstStyle/>
          <a:p>
            <a:pPr algn="l">
              <a:spcAft>
                <a:spcPts val="390"/>
              </a:spcAft>
            </a:pPr>
            <a:r>
              <a:rPr sz="1300" b="0">
                <a:solidFill>
                  <a:srgbClr val="FF9E1F"/>
                </a:solidFill>
                <a:latin typeface="Calibri"/>
              </a:rPr>
              <a:t>Combined strike: both rounds together</a:t>
            </a:r>
          </a:p>
        </p:txBody>
      </p:sp>
      <p:sp>
        <p:nvSpPr>
          <p:cNvPr id="16" name="Rectangle 15"/>
          <p:cNvSpPr/>
          <p:nvPr/>
        </p:nvSpPr>
        <p:spPr>
          <a:xfrm>
            <a:off x="457200" y="3978154"/>
            <a:ext cx="100584" cy="100584"/>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868426"/>
            <a:ext cx="11094415" cy="329184"/>
          </a:xfrm>
          <a:prstGeom prst="rect">
            <a:avLst/>
          </a:prstGeom>
          <a:noFill/>
        </p:spPr>
        <p:txBody>
          <a:bodyPr wrap="square" anchor="ctr" lIns="45720" rIns="45720" tIns="27432" bIns="27432">
            <a:spAutoFit/>
          </a:bodyPr>
          <a:lstStyle/>
          <a:p>
            <a:pPr algn="l">
              <a:spcAft>
                <a:spcPts val="450"/>
              </a:spcAft>
            </a:pPr>
            <a:r>
              <a:rPr sz="1500" b="1">
                <a:solidFill>
                  <a:srgbClr val="FFFFFF"/>
                </a:solidFill>
                <a:latin typeface="Calibri"/>
              </a:rPr>
              <a:t>Playable: a soldier boards the tank, anti-aircraft gun or launcher (key E)</a:t>
            </a:r>
          </a:p>
        </p:txBody>
      </p:sp>
      <p:pic>
        <p:nvPicPr>
          <p:cNvPr id="18" name="Picture 17" descr="img034.jpg"/>
          <p:cNvPicPr>
            <a:picLocks noChangeAspect="1"/>
          </p:cNvPicPr>
          <p:nvPr/>
        </p:nvPicPr>
        <p:blipFill>
          <a:blip r:embed="rId6"/>
          <a:stretch>
            <a:fillRect/>
          </a:stretch>
        </p:blipFill>
        <p:spPr>
          <a:xfrm>
            <a:off x="457200" y="4197610"/>
            <a:ext cx="3658514" cy="2057914"/>
          </a:xfrm>
          <a:prstGeom prst="rect">
            <a:avLst/>
          </a:prstGeom>
        </p:spPr>
      </p:pic>
      <p:sp>
        <p:nvSpPr>
          <p:cNvPr id="19" name="Rectangle 18"/>
          <p:cNvSpPr/>
          <p:nvPr/>
        </p:nvSpPr>
        <p:spPr>
          <a:xfrm>
            <a:off x="448056" y="5926340"/>
            <a:ext cx="3676802" cy="347472"/>
          </a:xfrm>
          <a:prstGeom prst="rect">
            <a:avLst/>
          </a:prstGeom>
          <a:solidFill>
            <a:srgbClr val="080A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5926340"/>
            <a:ext cx="3567074" cy="329184"/>
          </a:xfrm>
          <a:prstGeom prst="rect">
            <a:avLst/>
          </a:prstGeom>
          <a:noFill/>
        </p:spPr>
        <p:txBody>
          <a:bodyPr wrap="square" anchor="ctr" lIns="45720" rIns="45720" tIns="27432" bIns="27432">
            <a:spAutoFit/>
          </a:bodyPr>
          <a:lstStyle/>
          <a:p>
            <a:pPr algn="l">
              <a:spcAft>
                <a:spcPts val="390"/>
              </a:spcAft>
            </a:pPr>
            <a:r>
              <a:rPr sz="1300" b="0">
                <a:solidFill>
                  <a:srgbClr val="FF9E1F"/>
                </a:solidFill>
                <a:latin typeface="Calibri"/>
              </a:rPr>
              <a:t>Walk up, get in</a:t>
            </a:r>
          </a:p>
        </p:txBody>
      </p:sp>
      <p:pic>
        <p:nvPicPr>
          <p:cNvPr id="21" name="Picture 20" descr="img035.jpg"/>
          <p:cNvPicPr>
            <a:picLocks noChangeAspect="1"/>
          </p:cNvPicPr>
          <p:nvPr/>
        </p:nvPicPr>
        <p:blipFill>
          <a:blip r:embed="rId7"/>
          <a:stretch>
            <a:fillRect/>
          </a:stretch>
        </p:blipFill>
        <p:spPr>
          <a:xfrm>
            <a:off x="4266590" y="4197610"/>
            <a:ext cx="3658514" cy="2057914"/>
          </a:xfrm>
          <a:prstGeom prst="rect">
            <a:avLst/>
          </a:prstGeom>
        </p:spPr>
      </p:pic>
      <p:sp>
        <p:nvSpPr>
          <p:cNvPr id="22" name="Rectangle 21"/>
          <p:cNvSpPr/>
          <p:nvPr/>
        </p:nvSpPr>
        <p:spPr>
          <a:xfrm>
            <a:off x="4257446" y="5926340"/>
            <a:ext cx="3676802" cy="347472"/>
          </a:xfrm>
          <a:prstGeom prst="rect">
            <a:avLst/>
          </a:prstGeom>
          <a:solidFill>
            <a:srgbClr val="080A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12310" y="5926340"/>
            <a:ext cx="3567074" cy="329184"/>
          </a:xfrm>
          <a:prstGeom prst="rect">
            <a:avLst/>
          </a:prstGeom>
          <a:noFill/>
        </p:spPr>
        <p:txBody>
          <a:bodyPr wrap="square" anchor="ctr" lIns="45720" rIns="45720" tIns="27432" bIns="27432">
            <a:spAutoFit/>
          </a:bodyPr>
          <a:lstStyle/>
          <a:p>
            <a:pPr algn="l">
              <a:spcAft>
                <a:spcPts val="390"/>
              </a:spcAft>
            </a:pPr>
            <a:r>
              <a:rPr sz="1300" b="0">
                <a:solidFill>
                  <a:srgbClr val="FF9E1F"/>
                </a:solidFill>
                <a:latin typeface="Calibri"/>
              </a:rPr>
              <a:t>Tank: gunner's sight</a:t>
            </a:r>
          </a:p>
        </p:txBody>
      </p:sp>
      <p:pic>
        <p:nvPicPr>
          <p:cNvPr id="24" name="Picture 23" descr="img036.jpg"/>
          <p:cNvPicPr>
            <a:picLocks noChangeAspect="1"/>
          </p:cNvPicPr>
          <p:nvPr/>
        </p:nvPicPr>
        <p:blipFill>
          <a:blip r:embed="rId8"/>
          <a:stretch>
            <a:fillRect/>
          </a:stretch>
        </p:blipFill>
        <p:spPr>
          <a:xfrm>
            <a:off x="8075980" y="4197610"/>
            <a:ext cx="3658514" cy="2057914"/>
          </a:xfrm>
          <a:prstGeom prst="rect">
            <a:avLst/>
          </a:prstGeom>
        </p:spPr>
      </p:pic>
      <p:sp>
        <p:nvSpPr>
          <p:cNvPr id="25" name="Rectangle 24"/>
          <p:cNvSpPr/>
          <p:nvPr/>
        </p:nvSpPr>
        <p:spPr>
          <a:xfrm>
            <a:off x="8066836" y="5926340"/>
            <a:ext cx="3676802" cy="347472"/>
          </a:xfrm>
          <a:prstGeom prst="rect">
            <a:avLst/>
          </a:prstGeom>
          <a:solidFill>
            <a:srgbClr val="080A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21700" y="5926340"/>
            <a:ext cx="3567074" cy="329184"/>
          </a:xfrm>
          <a:prstGeom prst="rect">
            <a:avLst/>
          </a:prstGeom>
          <a:noFill/>
        </p:spPr>
        <p:txBody>
          <a:bodyPr wrap="square" anchor="ctr" lIns="45720" rIns="45720" tIns="27432" bIns="27432">
            <a:spAutoFit/>
          </a:bodyPr>
          <a:lstStyle/>
          <a:p>
            <a:pPr algn="l">
              <a:spcAft>
                <a:spcPts val="390"/>
              </a:spcAft>
            </a:pPr>
            <a:r>
              <a:rPr sz="1300" b="0">
                <a:solidFill>
                  <a:srgbClr val="FF9E1F"/>
                </a:solidFill>
                <a:latin typeface="Calibri"/>
              </a:rPr>
              <a:t>Anti-aircraft gun: first person</a:t>
            </a:r>
          </a:p>
        </p:txBody>
      </p:sp>
      <p:sp>
        <p:nvSpPr>
          <p:cNvPr id="27" name="TextBox 26"/>
          <p:cNvSpPr txBox="1"/>
          <p:nvPr/>
        </p:nvSpPr>
        <p:spPr>
          <a:xfrm>
            <a:off x="457200" y="6437376"/>
            <a:ext cx="3657600" cy="274320"/>
          </a:xfrm>
          <a:prstGeom prst="rect">
            <a:avLst/>
          </a:prstGeom>
          <a:noFill/>
        </p:spPr>
        <p:txBody>
          <a:bodyPr wrap="square" anchor="ctr" lIns="45720" rIns="45720" tIns="27432" bIns="27432">
            <a:spAutoFit/>
          </a:bodyPr>
          <a:lstStyle/>
          <a:p>
            <a:pPr algn="l">
              <a:spcAft>
                <a:spcPts val="330"/>
              </a:spcAft>
            </a:pPr>
            <a:r>
              <a:rPr sz="1100" b="0">
                <a:solidFill>
                  <a:srgbClr val="A8B0BA"/>
                </a:solidFill>
                <a:latin typeface="Calibri"/>
              </a:rPr>
              <a:t>11 October 2026</a:t>
            </a:r>
          </a:p>
        </p:txBody>
      </p:sp>
      <p:sp>
        <p:nvSpPr>
          <p:cNvPr id="28" name="TextBox 27"/>
          <p:cNvSpPr txBox="1"/>
          <p:nvPr/>
        </p:nvSpPr>
        <p:spPr>
          <a:xfrm>
            <a:off x="9905695" y="6437376"/>
            <a:ext cx="1828800" cy="274320"/>
          </a:xfrm>
          <a:prstGeom prst="rect">
            <a:avLst/>
          </a:prstGeom>
          <a:noFill/>
        </p:spPr>
        <p:txBody>
          <a:bodyPr wrap="square" anchor="ctr" lIns="45720" rIns="45720" tIns="27432" bIns="27432">
            <a:spAutoFit/>
          </a:bodyPr>
          <a:lstStyle/>
          <a:p>
            <a:pPr algn="r">
              <a:spcAft>
                <a:spcPts val="330"/>
              </a:spcAft>
            </a:pPr>
            <a:r>
              <a:rPr sz="1100" b="0">
                <a:solidFill>
                  <a:srgbClr val="A8B0BA"/>
                </a:solidFill>
                <a:latin typeface="Calibri"/>
              </a:rP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80A0D"/>
        </a:solidFill>
        <a:effectLst/>
      </p:bgPr>
    </p:bg>
    <p:spTree>
      <p:nvGrpSpPr>
        <p:cNvPr id="1" name=""/>
        <p:cNvGrpSpPr/>
        <p:nvPr/>
      </p:nvGrpSpPr>
      <p:grpSpPr/>
      <p:pic>
        <p:nvPicPr>
          <p:cNvPr id="2" name="Picture 1" descr="img038.jpg"/>
          <p:cNvPicPr>
            <a:picLocks noChangeAspect="1"/>
          </p:cNvPicPr>
          <p:nvPr/>
        </p:nvPicPr>
        <p:blipFill>
          <a:blip r:embed="rId3"/>
          <a:stretch>
            <a:fillRect/>
          </a:stretch>
        </p:blipFill>
        <p:spPr>
          <a:xfrm>
            <a:off x="0" y="0"/>
            <a:ext cx="12191695" cy="6858000"/>
          </a:xfrm>
          <a:prstGeom prst="rect">
            <a:avLst/>
          </a:prstGeom>
        </p:spPr>
      </p:pic>
      <p:sp>
        <p:nvSpPr>
          <p:cNvPr id="3" name="Rectangle 2"/>
          <p:cNvSpPr/>
          <p:nvPr/>
        </p:nvSpPr>
        <p:spPr>
          <a:xfrm>
            <a:off x="5455767" y="2331720"/>
            <a:ext cx="1280160" cy="64008"/>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468880"/>
            <a:ext cx="11277295" cy="1188720"/>
          </a:xfrm>
          <a:prstGeom prst="rect">
            <a:avLst/>
          </a:prstGeom>
          <a:noFill/>
        </p:spPr>
        <p:txBody>
          <a:bodyPr wrap="square" anchor="ctr" lIns="45720" rIns="45720" tIns="27432" bIns="27432">
            <a:spAutoFit/>
          </a:bodyPr>
          <a:lstStyle/>
          <a:p>
            <a:pPr algn="ctr">
              <a:spcAft>
                <a:spcPts val="2160"/>
              </a:spcAft>
            </a:pPr>
            <a:r>
              <a:rPr sz="7200" b="1">
                <a:solidFill>
                  <a:srgbClr val="FFFFFF"/>
                </a:solidFill>
                <a:latin typeface="Calibri"/>
              </a:rPr>
              <a:t>Thank you</a:t>
            </a:r>
          </a:p>
        </p:txBody>
      </p:sp>
      <p:sp>
        <p:nvSpPr>
          <p:cNvPr id="5" name="TextBox 4"/>
          <p:cNvSpPr txBox="1"/>
          <p:nvPr/>
        </p:nvSpPr>
        <p:spPr>
          <a:xfrm>
            <a:off x="457200" y="3657600"/>
            <a:ext cx="11277295" cy="640080"/>
          </a:xfrm>
          <a:prstGeom prst="rect">
            <a:avLst/>
          </a:prstGeom>
          <a:noFill/>
        </p:spPr>
        <p:txBody>
          <a:bodyPr wrap="square" anchor="ctr" lIns="45720" rIns="45720" tIns="27432" bIns="27432">
            <a:spAutoFit/>
          </a:bodyPr>
          <a:lstStyle/>
          <a:p>
            <a:pPr algn="ctr">
              <a:spcAft>
                <a:spcPts val="960"/>
              </a:spcAft>
            </a:pPr>
            <a:r>
              <a:rPr sz="3200" b="0">
                <a:solidFill>
                  <a:srgbClr val="FF9E1F"/>
                </a:solidFill>
                <a:latin typeface="Calibri"/>
              </a:rPr>
              <a:t>Questions?</a:t>
            </a:r>
          </a:p>
        </p:txBody>
      </p:sp>
      <p:sp>
        <p:nvSpPr>
          <p:cNvPr id="6" name="TextBox 5"/>
          <p:cNvSpPr txBox="1"/>
          <p:nvPr/>
        </p:nvSpPr>
        <p:spPr>
          <a:xfrm>
            <a:off x="457200" y="5623560"/>
            <a:ext cx="11277295" cy="365760"/>
          </a:xfrm>
          <a:prstGeom prst="rect">
            <a:avLst/>
          </a:prstGeom>
          <a:noFill/>
        </p:spPr>
        <p:txBody>
          <a:bodyPr wrap="square" anchor="ctr" lIns="45720" rIns="45720" tIns="27432" bIns="27432">
            <a:spAutoFit/>
          </a:bodyPr>
          <a:lstStyle/>
          <a:p>
            <a:pPr algn="ctr">
              <a:spcAft>
                <a:spcPts val="450"/>
              </a:spcAft>
            </a:pPr>
            <a:r>
              <a:rPr sz="1500" b="0">
                <a:solidFill>
                  <a:srgbClr val="A8B0BA"/>
                </a:solidFill>
                <a:latin typeface="Calibri"/>
              </a:rPr>
              <a:t>Md. Shakhoyat Rahman Shujon   |   Roll 2107104   |   Computer Graphics Laboratory, CSE 4102</a:t>
            </a:r>
          </a:p>
        </p:txBody>
      </p:sp>
      <p:sp>
        <p:nvSpPr>
          <p:cNvPr id="7" name="TextBox 6"/>
          <p:cNvSpPr txBox="1"/>
          <p:nvPr/>
        </p:nvSpPr>
        <p:spPr>
          <a:xfrm>
            <a:off x="457200" y="6437376"/>
            <a:ext cx="3657600" cy="274320"/>
          </a:xfrm>
          <a:prstGeom prst="rect">
            <a:avLst/>
          </a:prstGeom>
          <a:noFill/>
        </p:spPr>
        <p:txBody>
          <a:bodyPr wrap="square" anchor="ctr" lIns="45720" rIns="45720" tIns="27432" bIns="27432">
            <a:spAutoFit/>
          </a:bodyPr>
          <a:lstStyle/>
          <a:p>
            <a:pPr algn="l">
              <a:spcAft>
                <a:spcPts val="330"/>
              </a:spcAft>
            </a:pPr>
            <a:r>
              <a:rPr sz="1100" b="0">
                <a:solidFill>
                  <a:srgbClr val="A8B0BA"/>
                </a:solidFill>
                <a:latin typeface="Calibri"/>
              </a:rPr>
              <a:t>11 October 2026</a:t>
            </a:r>
          </a:p>
        </p:txBody>
      </p:sp>
      <p:sp>
        <p:nvSpPr>
          <p:cNvPr id="8" name="TextBox 7"/>
          <p:cNvSpPr txBox="1"/>
          <p:nvPr/>
        </p:nvSpPr>
        <p:spPr>
          <a:xfrm>
            <a:off x="9905695" y="6437376"/>
            <a:ext cx="1828800" cy="274320"/>
          </a:xfrm>
          <a:prstGeom prst="rect">
            <a:avLst/>
          </a:prstGeom>
          <a:noFill/>
        </p:spPr>
        <p:txBody>
          <a:bodyPr wrap="square" anchor="ctr" lIns="45720" rIns="45720" tIns="27432" bIns="27432">
            <a:spAutoFit/>
          </a:bodyPr>
          <a:lstStyle/>
          <a:p>
            <a:pPr algn="r">
              <a:spcAft>
                <a:spcPts val="330"/>
              </a:spcAft>
            </a:pPr>
            <a:r>
              <a:rPr sz="1100" b="0">
                <a:solidFill>
                  <a:srgbClr val="A8B0BA"/>
                </a:solidFill>
                <a:latin typeface="Calibri"/>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ThermalSense: a graphics pipeline, end to end, in a military outpost</dc:title>
  <dc:subject>Computer Graphics Laboratory, CSE 4102</dc:subject>
  <dc:creator>Md. Shakhoyat Rahman Shujon</dc:creator>
  <cp:keywords>ThermalSense, OpenGL, C++17</cp:keywords>
  <dc:description/>
  <cp:lastModifiedBy>Md. Shakhoyat Rahman Shujon</cp:lastModifiedBy>
  <cp:revision>1</cp:revision>
  <dcterms:created xsi:type="dcterms:W3CDTF">2026-10-11T06:20:56Z</dcterms:created>
  <dcterms:modified xsi:type="dcterms:W3CDTF">2026-10-11T06:20:56Z</dcterms:modified>
  <cp:category/>
</cp:coreProperties>
</file>