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ThermalSense: a military outpost renderer and simulation for Computer Graphics Laboratory, CSE 4102, written in C++17 and OpenGL 3.3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showcase film in 1080p with full soundtrack, 3 minutes 38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core modules: graphics pipeline architecture, project scale, custom illumination, autonomous rover routing, real-time computer vision, and interactive vehicle combat.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graphics pipeline from scratch: procedural primitives, hierarchical scene transforms, hand-crafted vector illumination, raster and compute ray tracing, and post-processing filters.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metrics: 16 primitive generators, 62 modular designs, 5,474 rendered scene parts, 905 custom shader math calls, 396 unit tests, and a 192-page comprehensive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Hand-crafted illumination: Blinn-Phong specular evaluation with half-vector optimization. Comparison across Flat, Gouraud, and Phong shading models with custom vector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Autonomous rover navigation: BFS flood fill computes safe-zone distance transforms, Dijkstra solves visibility-weighted routes, and a 5-sensor PD controller guides steering.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Real-time thermal vision pipeline: Otsu segmentation, union-find blob extraction, Kalman state estimation, and gated Hungarian tracking running under 2.9 ms per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Autonomous swarm defense with dual UAV synchronized strikes, plus fully interactive outpost vehicles including drivable tanks, anti-aircraft cannons, and missile launchers.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attention. Questions and feedback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Relationship Id="rId8" Type="http://schemas.openxmlformats.org/officeDocument/2006/relationships/image" Target="../media/image3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0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401568"/>
            <a:ext cx="1280160" cy="64008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93008"/>
            <a:ext cx="1097280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800"/>
              </a:spcAft>
            </a:pPr>
            <a:r>
              <a:rPr sz="6000" b="1">
                <a:solidFill>
                  <a:srgbClr val="FFFFFF"/>
                </a:solidFill>
                <a:latin typeface="Times New Roman"/>
              </a:rPr>
              <a:t>ThermalSense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348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40"/>
              </a:spcAft>
            </a:pPr>
            <a:r>
              <a:rPr sz="2800" b="0">
                <a:solidFill>
                  <a:srgbClr val="FF9E1F"/>
                </a:solidFill>
                <a:latin typeface="Times New Roman"/>
              </a:rPr>
              <a:t>3D Graphics Pipeline &amp; Autonomous Outpost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6636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Md. Shakhoyat Rahman Shujon</a:t>
            </a:r>
            <a:r>
              <a:rPr sz="2000" b="0">
                <a:solidFill>
                  <a:srgbClr val="FFFFFF"/>
                </a:solidFill>
                <a:latin typeface="Times New Roman"/>
              </a:rPr>
              <a:t>   |   Roll 2107104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9612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9"/>
              </a:spcAft>
            </a:pPr>
            <a:r>
              <a:rPr sz="1700" b="0">
                <a:solidFill>
                  <a:srgbClr val="A8B0BA"/>
                </a:solidFill>
                <a:latin typeface="Times New Roman"/>
              </a:rPr>
              <a:t>Computer Graphics Laboratory (CSE 4102)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2531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9"/>
              </a:spcAft>
            </a:pPr>
            <a:r>
              <a:rPr sz="1700" b="0">
                <a:solidFill>
                  <a:srgbClr val="A8B0BA"/>
                </a:solidFill>
                <a:latin typeface="Times New Roman"/>
              </a:rPr>
              <a:t>Khulna University of Engineering &amp; Technology (KUET)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11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437376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thermalsense_final_slid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75207" y="292608"/>
            <a:ext cx="10241280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5207" y="6089904"/>
            <a:ext cx="102412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Project Showcase Film</a:t>
            </a:r>
            <a:r>
              <a:rPr sz="1600" b="0">
                <a:solidFill>
                  <a:srgbClr val="A8B0BA"/>
                </a:solidFill>
                <a:latin typeface="Times New Roman"/>
              </a:rPr>
              <a:t>   |   3 min 38 s   (1080p Full HD · Audio)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11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437376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2 /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1">
                <a:solidFill>
                  <a:srgbClr val="FF9E1F"/>
                </a:solidFill>
                <a:latin typeface="Times New Roman"/>
              </a:rPr>
              <a:t>3  | 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960"/>
              </a:spcAft>
            </a:pPr>
            <a:r>
              <a:rPr sz="3200" b="1">
                <a:solidFill>
                  <a:srgbClr val="FFFFFF"/>
                </a:solidFill>
                <a:latin typeface="Times New Roman"/>
              </a:rPr>
              <a:t>Presentation Overview</a:t>
            </a:r>
          </a:p>
        </p:txBody>
      </p:sp>
      <p:pic>
        <p:nvPicPr>
          <p:cNvPr id="5" name="Picture 4" descr="img0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3637178" cy="18745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3291839"/>
            <a:ext cx="3637178" cy="493776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291839"/>
            <a:ext cx="3637178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310127"/>
            <a:ext cx="5943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719"/>
              </a:spcAft>
            </a:pPr>
            <a:r>
              <a:rPr sz="2400" b="1">
                <a:solidFill>
                  <a:srgbClr val="FF9E1F"/>
                </a:solidFill>
                <a:latin typeface="Times New Roman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3310127"/>
            <a:ext cx="2832506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509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Graphics Pipeline</a:t>
            </a:r>
          </a:p>
        </p:txBody>
      </p:sp>
      <p:pic>
        <p:nvPicPr>
          <p:cNvPr id="10" name="Picture 9" descr="img0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7258" y="1417320"/>
            <a:ext cx="3637178" cy="187451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77258" y="3291839"/>
            <a:ext cx="3637178" cy="493776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7258" y="3291839"/>
            <a:ext cx="3637178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8698" y="3310127"/>
            <a:ext cx="5943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719"/>
              </a:spcAft>
            </a:pPr>
            <a:r>
              <a:rPr sz="2400" b="1">
                <a:solidFill>
                  <a:srgbClr val="FF9E1F"/>
                </a:solidFill>
                <a:latin typeface="Times New Roman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0490" y="3310127"/>
            <a:ext cx="2832506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509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Project Scale</a:t>
            </a:r>
          </a:p>
        </p:txBody>
      </p:sp>
      <p:pic>
        <p:nvPicPr>
          <p:cNvPr id="15" name="Picture 14" descr="img0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316" y="1417320"/>
            <a:ext cx="3637178" cy="187451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097316" y="3291839"/>
            <a:ext cx="3637178" cy="493776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7316" y="3291839"/>
            <a:ext cx="3637178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8756" y="3310127"/>
            <a:ext cx="5943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719"/>
              </a:spcAft>
            </a:pPr>
            <a:r>
              <a:rPr sz="2400" b="1">
                <a:solidFill>
                  <a:srgbClr val="FF9E1F"/>
                </a:solidFill>
                <a:latin typeface="Times New Roman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0548" y="3310127"/>
            <a:ext cx="2832506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509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Custom Shading</a:t>
            </a:r>
          </a:p>
        </p:txBody>
      </p:sp>
      <p:pic>
        <p:nvPicPr>
          <p:cNvPr id="20" name="Picture 19" descr="img00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31920"/>
            <a:ext cx="3637178" cy="187451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57200" y="5806440"/>
            <a:ext cx="3637178" cy="493776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806440"/>
            <a:ext cx="3637178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824727"/>
            <a:ext cx="5943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719"/>
              </a:spcAft>
            </a:pPr>
            <a:r>
              <a:rPr sz="2400" b="1">
                <a:solidFill>
                  <a:srgbClr val="FF9E1F"/>
                </a:solidFill>
                <a:latin typeface="Times New Roman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5824727"/>
            <a:ext cx="2832506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509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Autonomous Routing</a:t>
            </a:r>
          </a:p>
        </p:txBody>
      </p:sp>
      <p:pic>
        <p:nvPicPr>
          <p:cNvPr id="25" name="Picture 24" descr="img00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7258" y="3931920"/>
            <a:ext cx="3637178" cy="1874519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277258" y="5806440"/>
            <a:ext cx="3637178" cy="493776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7258" y="5806440"/>
            <a:ext cx="3637178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698" y="5824727"/>
            <a:ext cx="5943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719"/>
              </a:spcAft>
            </a:pPr>
            <a:r>
              <a:rPr sz="2400" b="1">
                <a:solidFill>
                  <a:srgbClr val="FF9E1F"/>
                </a:solidFill>
                <a:latin typeface="Times New Roman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0490" y="5824727"/>
            <a:ext cx="2832506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509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Real-Time Tracking</a:t>
            </a:r>
          </a:p>
        </p:txBody>
      </p:sp>
      <p:pic>
        <p:nvPicPr>
          <p:cNvPr id="30" name="Picture 29" descr="img00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7316" y="3931920"/>
            <a:ext cx="3637178" cy="1874519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8097316" y="5806440"/>
            <a:ext cx="3637178" cy="493776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7316" y="5806440"/>
            <a:ext cx="3637178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8756" y="5824727"/>
            <a:ext cx="5943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719"/>
              </a:spcAft>
            </a:pPr>
            <a:r>
              <a:rPr sz="2400" b="1">
                <a:solidFill>
                  <a:srgbClr val="FF9E1F"/>
                </a:solidFill>
                <a:latin typeface="Times New Roman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10548" y="5824727"/>
            <a:ext cx="2832506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509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Combat &amp; Vehicles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11 October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5695" y="6437376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1">
                <a:solidFill>
                  <a:srgbClr val="FF9E1F"/>
                </a:solidFill>
                <a:latin typeface="Times New Roman"/>
              </a:rPr>
              <a:t>4  |  END-TO-END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960"/>
              </a:spcAft>
            </a:pPr>
            <a:r>
              <a:rPr sz="3200" b="1">
                <a:solidFill>
                  <a:srgbClr val="FFFFFF"/>
                </a:solidFill>
                <a:latin typeface="Times New Roman"/>
              </a:rPr>
              <a:t>Graphics Pipeline Architecture</a:t>
            </a:r>
          </a:p>
        </p:txBody>
      </p:sp>
      <p:pic>
        <p:nvPicPr>
          <p:cNvPr id="5" name="Picture 4" descr="img0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2057400" cy="32186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80A0D"/>
                </a:solidFill>
                <a:latin typeface="Times New Roman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636008"/>
            <a:ext cx="2057400" cy="841248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636008"/>
            <a:ext cx="2057400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4709160"/>
            <a:ext cx="191109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7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3D Primitives</a:t>
            </a:r>
          </a:p>
          <a:p>
            <a:pPr algn="l">
              <a:spcAft>
                <a:spcPts val="270"/>
              </a:spcAft>
            </a:pPr>
            <a:r>
              <a:rPr sz="1500" b="0">
                <a:solidFill>
                  <a:srgbClr val="A8B0BA"/>
                </a:solidFill>
                <a:latin typeface="Times New Roman"/>
              </a:rPr>
              <a:t>16 procedural shapes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19514" y="2889504"/>
            <a:ext cx="237744" cy="274320"/>
          </a:xfrm>
          <a:prstGeom prst="rightArrow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g0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173" y="1417320"/>
            <a:ext cx="2057400" cy="321868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762173" y="1417320"/>
            <a:ext cx="384048" cy="384048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173" y="1417320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80A0D"/>
                </a:solidFill>
                <a:latin typeface="Times New Roman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2173" y="4636008"/>
            <a:ext cx="2057400" cy="841248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62173" y="4636008"/>
            <a:ext cx="2057400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5325" y="4709160"/>
            <a:ext cx="191109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7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Scene Graph</a:t>
            </a:r>
          </a:p>
          <a:p>
            <a:pPr algn="l">
              <a:spcAft>
                <a:spcPts val="270"/>
              </a:spcAft>
            </a:pPr>
            <a:r>
              <a:rPr sz="1500" b="0">
                <a:solidFill>
                  <a:srgbClr val="A8B0BA"/>
                </a:solidFill>
                <a:latin typeface="Times New Roman"/>
              </a:rPr>
              <a:t>Hierarchical transforms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24488" y="2889504"/>
            <a:ext cx="237744" cy="274320"/>
          </a:xfrm>
          <a:prstGeom prst="rightArrow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g01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7147" y="1417320"/>
            <a:ext cx="2057400" cy="321868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67147" y="1417320"/>
            <a:ext cx="384048" cy="384048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7147" y="1417320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80A0D"/>
                </a:solidFill>
                <a:latin typeface="Times New Roman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67147" y="4636008"/>
            <a:ext cx="2057400" cy="841248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67147" y="4636008"/>
            <a:ext cx="2057400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0299" y="4709160"/>
            <a:ext cx="191109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7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Custom Shading</a:t>
            </a:r>
          </a:p>
          <a:p>
            <a:pPr algn="l">
              <a:spcAft>
                <a:spcPts val="270"/>
              </a:spcAft>
            </a:pPr>
            <a:r>
              <a:rPr sz="1500" b="0">
                <a:solidFill>
                  <a:srgbClr val="A8B0BA"/>
                </a:solidFill>
                <a:latin typeface="Times New Roman"/>
              </a:rPr>
              <a:t>Hand-coded vector math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29462" y="2889504"/>
            <a:ext cx="237744" cy="274320"/>
          </a:xfrm>
          <a:prstGeom prst="rightArrow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g01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2121" y="1417320"/>
            <a:ext cx="2057400" cy="1586484"/>
          </a:xfrm>
          <a:prstGeom prst="rect">
            <a:avLst/>
          </a:prstGeom>
        </p:spPr>
      </p:pic>
      <p:pic>
        <p:nvPicPr>
          <p:cNvPr id="27" name="Picture 26" descr="img01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2121" y="3049524"/>
            <a:ext cx="2057400" cy="1586484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7372121" y="1417320"/>
            <a:ext cx="384048" cy="384048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2121" y="1417320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80A0D"/>
                </a:solidFill>
                <a:latin typeface="Times New Roman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2121" y="4636008"/>
            <a:ext cx="2057400" cy="841248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72121" y="4636008"/>
            <a:ext cx="2057400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45273" y="4709160"/>
            <a:ext cx="191109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7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Render Modes</a:t>
            </a:r>
          </a:p>
          <a:p>
            <a:pPr algn="l">
              <a:spcAft>
                <a:spcPts val="270"/>
              </a:spcAft>
            </a:pPr>
            <a:r>
              <a:rPr sz="1500" b="0">
                <a:solidFill>
                  <a:srgbClr val="A8B0BA"/>
                </a:solidFill>
                <a:latin typeface="Times New Roman"/>
              </a:rPr>
              <a:t>Raster &amp; ray tracing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434436" y="2889504"/>
            <a:ext cx="237744" cy="274320"/>
          </a:xfrm>
          <a:prstGeom prst="rightArrow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g01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7095" y="1417320"/>
            <a:ext cx="2057400" cy="3218688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9677095" y="1417320"/>
            <a:ext cx="384048" cy="384048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77095" y="1417320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80A0D"/>
                </a:solidFill>
                <a:latin typeface="Times New Roman"/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77095" y="4636008"/>
            <a:ext cx="2057400" cy="841248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77095" y="4636008"/>
            <a:ext cx="2057400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50247" y="4709160"/>
            <a:ext cx="191109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7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Post-Effects</a:t>
            </a:r>
          </a:p>
          <a:p>
            <a:pPr algn="l">
              <a:spcAft>
                <a:spcPts val="270"/>
              </a:spcAft>
            </a:pPr>
            <a:r>
              <a:rPr sz="1500" b="0">
                <a:solidFill>
                  <a:srgbClr val="A8B0BA"/>
                </a:solidFill>
                <a:latin typeface="Times New Roman"/>
              </a:rPr>
              <a:t>Bloom, fog &amp; tonemapping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641848"/>
            <a:ext cx="11277295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509"/>
              </a:spcAft>
            </a:pPr>
            <a:r>
              <a:rPr sz="1700" b="1">
                <a:solidFill>
                  <a:srgbClr val="FF9E1F"/>
                </a:solidFill>
                <a:latin typeface="Times New Roman"/>
              </a:rPr>
              <a:t>Zero external math libraries</a:t>
            </a:r>
            <a:r>
              <a:rPr sz="1700" b="0">
                <a:solidFill>
                  <a:srgbClr val="2A313A"/>
                </a:solidFill>
                <a:latin typeface="Times New Roman"/>
              </a:rPr>
              <a:t>     |     </a:t>
            </a:r>
            <a:r>
              <a:rPr sz="1700" b="1">
                <a:solidFill>
                  <a:srgbClr val="FF9E1F"/>
                </a:solidFill>
                <a:latin typeface="Times New Roman"/>
              </a:rPr>
              <a:t>905 hand-written math calls in shaders</a:t>
            </a:r>
            <a:r>
              <a:rPr sz="1700" b="0">
                <a:solidFill>
                  <a:srgbClr val="2A313A"/>
                </a:solidFill>
                <a:latin typeface="Times New Roman"/>
              </a:rPr>
              <a:t>     |     </a:t>
            </a:r>
            <a:r>
              <a:rPr sz="1700" b="0">
                <a:solidFill>
                  <a:srgbClr val="FFFFFF"/>
                </a:solidFill>
                <a:latin typeface="Times New Roman"/>
              </a:rPr>
              <a:t>Pure C++17 &amp; OpenGL 3.3 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11 October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5695" y="6437376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1">
                <a:solidFill>
                  <a:srgbClr val="FF9E1F"/>
                </a:solidFill>
                <a:latin typeface="Times New Roman"/>
              </a:rPr>
              <a:t>5  |  IMPLEMENTATION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960"/>
              </a:spcAft>
            </a:pPr>
            <a:r>
              <a:rPr sz="3200" b="1">
                <a:solidFill>
                  <a:srgbClr val="FFFFFF"/>
                </a:solidFill>
                <a:latin typeface="Times New Roman"/>
              </a:rPr>
              <a:t>Project Scale &amp; Key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4800599" cy="487374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926080"/>
                <a:gridCol w="1874519"/>
              </a:tblGrid>
              <a:tr h="4430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E1F"/>
                          </a:solidFill>
                          <a:latin typeface="Times New Roman"/>
                        </a:rPr>
                        <a:t>System Component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>
                      <a:solidFill>
                        <a:srgbClr val="FF9E1F"/>
                      </a:solidFill>
                    </a:lnB>
                    <a:solidFill>
                      <a:srgbClr val="14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9E1F"/>
                          </a:solidFill>
                          <a:latin typeface="Times New Roman"/>
                        </a:rPr>
                        <a:t>Specification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>
                      <a:solidFill>
                        <a:srgbClr val="FF9E1F"/>
                      </a:solidFill>
                    </a:lnB>
                    <a:solidFill>
                      <a:srgbClr val="14181E"/>
                    </a:solidFill>
                  </a:tcPr>
                </a:tc>
              </a:tr>
              <a:tr h="4430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Times New Roman"/>
                        </a:rPr>
                        <a:t>Procedural Primitives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9E1F"/>
                          </a:solidFill>
                          <a:latin typeface="Times New Roman"/>
                        </a:rPr>
                        <a:t>16 generators in C++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</a:tr>
              <a:tr h="4430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Times New Roman"/>
                        </a:rPr>
                        <a:t>Modular 3D Models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9E1F"/>
                          </a:solidFill>
                          <a:latin typeface="Times New Roman"/>
                        </a:rPr>
                        <a:t>62 unique designs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</a:tr>
              <a:tr h="4430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Times New Roman"/>
                        </a:rPr>
                        <a:t>Scene Complexity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9E1F"/>
                          </a:solidFill>
                          <a:latin typeface="Times New Roman"/>
                        </a:rPr>
                        <a:t>5,474 rendered parts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</a:tr>
              <a:tr h="4430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Times New Roman"/>
                        </a:rPr>
                        <a:t>Custom Math Invocations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9E1F"/>
                          </a:solidFill>
                          <a:latin typeface="Times New Roman"/>
                        </a:rPr>
                        <a:t>905 calls in 13 shaders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</a:tr>
              <a:tr h="4430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Times New Roman"/>
                        </a:rPr>
                        <a:t>Automated Test Suite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9E1F"/>
                          </a:solidFill>
                          <a:latin typeface="Times New Roman"/>
                        </a:rPr>
                        <a:t>396 unit tests passing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</a:tr>
              <a:tr h="4430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Times New Roman"/>
                        </a:rPr>
                        <a:t>Technical Report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9E1F"/>
                          </a:solidFill>
                          <a:latin typeface="Times New Roman"/>
                        </a:rPr>
                        <a:t>192 comprehensive pages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</a:tr>
              <a:tr h="4430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Times New Roman"/>
                        </a:rPr>
                        <a:t>Showcase Video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9E1F"/>
                          </a:solidFill>
                          <a:latin typeface="Times New Roman"/>
                        </a:rPr>
                        <a:t>3 min 38 s (1080p)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</a:tr>
              <a:tr h="4430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Times New Roman"/>
                        </a:rPr>
                        <a:t>Primary Pipeline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9E1F"/>
                          </a:solidFill>
                          <a:latin typeface="Times New Roman"/>
                        </a:rPr>
                        <a:t>C++17 &amp; OpenGL 3.3 Core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</a:tr>
              <a:tr h="4430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Times New Roman"/>
                        </a:rPr>
                        <a:t>Compute Ray Tracer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9E1F"/>
                          </a:solidFill>
                          <a:latin typeface="Times New Roman"/>
                        </a:rPr>
                        <a:t>OpenGL 4.3 Compute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</a:tr>
              <a:tr h="4430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Times New Roman"/>
                        </a:rPr>
                        <a:t>External Math Libraries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9E1F"/>
                          </a:solidFill>
                          <a:latin typeface="Times New Roman"/>
                        </a:rPr>
                        <a:t>None (100% custom)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img0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417320"/>
            <a:ext cx="6202375" cy="45079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532120" y="5925312"/>
            <a:ext cx="6202375" cy="365760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05272" y="5925312"/>
            <a:ext cx="6056071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0">
                <a:solidFill>
                  <a:srgbClr val="FF9E1F"/>
                </a:solidFill>
                <a:latin typeface="Times New Roman"/>
              </a:rPr>
              <a:t>Exploded 3D outpost geometry classified by primitive 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11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437376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1">
                <a:solidFill>
                  <a:srgbClr val="FF9E1F"/>
                </a:solidFill>
                <a:latin typeface="Times New Roman"/>
              </a:rPr>
              <a:t>6  |  LIGHTING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960"/>
              </a:spcAft>
            </a:pPr>
            <a:r>
              <a:rPr sz="3200" b="1">
                <a:solidFill>
                  <a:srgbClr val="FFFFFF"/>
                </a:solidFill>
                <a:latin typeface="Times New Roman"/>
              </a:rPr>
              <a:t>Illumination &amp; Shading by Hand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1508760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q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86763"/>
            <a:ext cx="7863840" cy="969873"/>
          </a:xfrm>
          <a:prstGeom prst="rect">
            <a:avLst/>
          </a:prstGeom>
        </p:spPr>
      </p:pic>
      <p:pic>
        <p:nvPicPr>
          <p:cNvPr id="8" name="Picture 7" descr="eq_ha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0486" y="1581912"/>
            <a:ext cx="2058706" cy="658368"/>
          </a:xfrm>
          <a:prstGeom prst="rect">
            <a:avLst/>
          </a:prstGeom>
        </p:spPr>
      </p:pic>
      <p:pic>
        <p:nvPicPr>
          <p:cNvPr id="9" name="Picture 8" descr="eq_pho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2411496"/>
            <a:ext cx="2651760" cy="297646"/>
          </a:xfrm>
          <a:prstGeom prst="rect">
            <a:avLst/>
          </a:prstGeom>
        </p:spPr>
      </p:pic>
      <p:pic>
        <p:nvPicPr>
          <p:cNvPr id="10" name="Picture 9" descr="img02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090672"/>
            <a:ext cx="2697480" cy="269747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5788152"/>
            <a:ext cx="2697480" cy="502920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5788152"/>
            <a:ext cx="2551176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Flat</a:t>
            </a:r>
            <a:r>
              <a:rPr sz="1400" b="0">
                <a:solidFill>
                  <a:srgbClr val="A8B0BA"/>
                </a:solidFill>
                <a:latin typeface="Times New Roman"/>
              </a:rPr>
              <a:t>   one normal per face</a:t>
            </a:r>
          </a:p>
        </p:txBody>
      </p:sp>
      <p:pic>
        <p:nvPicPr>
          <p:cNvPr id="13" name="Picture 12" descr="img02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0984" y="3090672"/>
            <a:ext cx="2697480" cy="269747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00984" y="5788152"/>
            <a:ext cx="2697480" cy="502920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5788152"/>
            <a:ext cx="2551176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Gouraud</a:t>
            </a:r>
            <a:r>
              <a:rPr sz="1400" b="0">
                <a:solidFill>
                  <a:srgbClr val="A8B0BA"/>
                </a:solidFill>
                <a:latin typeface="Times New Roman"/>
              </a:rPr>
              <a:t>   vertex interpolation</a:t>
            </a:r>
          </a:p>
        </p:txBody>
      </p:sp>
      <p:pic>
        <p:nvPicPr>
          <p:cNvPr id="16" name="Picture 15" descr="img02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68" y="3090672"/>
            <a:ext cx="2697480" cy="2697479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144768" y="5788152"/>
            <a:ext cx="2697480" cy="502920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5788152"/>
            <a:ext cx="2551176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Phong</a:t>
            </a:r>
            <a:r>
              <a:rPr sz="1400" b="0">
                <a:solidFill>
                  <a:srgbClr val="A8B0BA"/>
                </a:solidFill>
                <a:latin typeface="Times New Roman"/>
              </a:rPr>
              <a:t>   per-pixel evaluation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43416" y="3090672"/>
            <a:ext cx="2691079" cy="3200399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3416" y="3090672"/>
            <a:ext cx="2691079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3200400"/>
            <a:ext cx="2435047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59"/>
              </a:spcAft>
            </a:pPr>
            <a:r>
              <a:rPr sz="1200" b="1">
                <a:solidFill>
                  <a:srgbClr val="A8B0BA"/>
                </a:solidFill>
                <a:latin typeface="Times New Roman"/>
              </a:rPr>
              <a:t>HAND-WRITTEN VECTOR MATH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3493008"/>
            <a:ext cx="2435047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6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tsDot         tsLength</a:t>
            </a:r>
          </a:p>
          <a:p>
            <a:pPr algn="l">
              <a:spcAft>
                <a:spcPts val="26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tsNormalize   tsCross</a:t>
            </a:r>
          </a:p>
          <a:p>
            <a:pPr algn="l">
              <a:spcAft>
                <a:spcPts val="26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tsReflect     tsRefract</a:t>
            </a:r>
          </a:p>
          <a:p>
            <a:pPr algn="l">
              <a:spcAft>
                <a:spcPts val="26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tsMix         tsClamp</a:t>
            </a:r>
          </a:p>
          <a:p>
            <a:pPr algn="l">
              <a:spcAft>
                <a:spcPts val="26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tsStep        tsSmoothstep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5239512"/>
            <a:ext cx="2435047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9E1F"/>
                </a:solidFill>
                <a:latin typeface="Times New Roman"/>
              </a:rPr>
              <a:t>905 calls</a:t>
            </a:r>
            <a:r>
              <a:rPr sz="2000" b="0">
                <a:solidFill>
                  <a:srgbClr val="FFFFFF"/>
                </a:solidFill>
                <a:latin typeface="Times New Roman"/>
              </a:rPr>
              <a:t>  in 13 shaders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5760720"/>
            <a:ext cx="2435047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0">
                <a:solidFill>
                  <a:srgbClr val="A8B0BA"/>
                </a:solidFill>
                <a:latin typeface="Times New Roman"/>
              </a:rPr>
              <a:t>Refusal of GLSL built-ins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11 October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5695" y="6437376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1">
                <a:solidFill>
                  <a:srgbClr val="FF9E1F"/>
                </a:solidFill>
                <a:latin typeface="Times New Roman"/>
              </a:rPr>
              <a:t>7  |  SEARCH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960"/>
              </a:spcAft>
            </a:pPr>
            <a:r>
              <a:rPr sz="3200" b="1">
                <a:solidFill>
                  <a:srgbClr val="FFFFFF"/>
                </a:solidFill>
                <a:latin typeface="Times New Roman"/>
              </a:rPr>
              <a:t>Autonomous Rover Path 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6355080" cy="4644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0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6263640" cy="4552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16280"/>
            <a:ext cx="6355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0">
                <a:solidFill>
                  <a:srgbClr val="A8B0BA"/>
                </a:solidFill>
                <a:latin typeface="Times New Roman"/>
              </a:rPr>
              <a:t>Multi-agent routing: 4 rovers evading dual UAVs (uncrewed aerial vehicles)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068312" y="1417320"/>
            <a:ext cx="1433474" cy="960120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8312" y="1417320"/>
            <a:ext cx="1433474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23176" y="1508760"/>
            <a:ext cx="1323746" cy="850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60"/>
              </a:spcAft>
            </a:pPr>
            <a:r>
              <a:rPr sz="1300" b="1">
                <a:solidFill>
                  <a:srgbClr val="FF9E1F"/>
                </a:solidFill>
                <a:latin typeface="Times New Roman"/>
              </a:rPr>
              <a:t>1  </a:t>
            </a:r>
            <a:r>
              <a:rPr sz="1300" b="1">
                <a:solidFill>
                  <a:srgbClr val="FFFFFF"/>
                </a:solidFill>
                <a:latin typeface="Times New Roman"/>
              </a:rPr>
              <a:t>Safe Zones</a:t>
            </a:r>
          </a:p>
          <a:p>
            <a:pPr algn="l">
              <a:spcAft>
                <a:spcPts val="260"/>
              </a:spcAft>
            </a:pPr>
            <a:r>
              <a:rPr sz="1300" b="0">
                <a:solidFill>
                  <a:srgbClr val="A8B0BA"/>
                </a:solidFill>
                <a:latin typeface="Times New Roman"/>
              </a:rPr>
              <a:t>BFS flood fill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474354" y="1760220"/>
            <a:ext cx="237744" cy="274320"/>
          </a:xfrm>
          <a:prstGeom prst="rightArrow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4666" y="1417320"/>
            <a:ext cx="1433474" cy="960120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4666" y="1417320"/>
            <a:ext cx="1433474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9530" y="1508760"/>
            <a:ext cx="1323746" cy="850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60"/>
              </a:spcAft>
            </a:pPr>
            <a:r>
              <a:rPr sz="1300" b="1">
                <a:solidFill>
                  <a:srgbClr val="FF9E1F"/>
                </a:solidFill>
                <a:latin typeface="Times New Roman"/>
              </a:rPr>
              <a:t>2  </a:t>
            </a:r>
            <a:r>
              <a:rPr sz="1300" b="1">
                <a:solidFill>
                  <a:srgbClr val="FFFFFF"/>
                </a:solidFill>
                <a:latin typeface="Times New Roman"/>
              </a:rPr>
              <a:t>Route Search</a:t>
            </a:r>
          </a:p>
          <a:p>
            <a:pPr algn="l">
              <a:spcAft>
                <a:spcPts val="260"/>
              </a:spcAft>
            </a:pPr>
            <a:r>
              <a:rPr sz="1300" b="0">
                <a:solidFill>
                  <a:srgbClr val="A8B0BA"/>
                </a:solidFill>
                <a:latin typeface="Times New Roman"/>
              </a:rPr>
              <a:t>Dijkstra cost map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090708" y="1760220"/>
            <a:ext cx="237744" cy="274320"/>
          </a:xfrm>
          <a:prstGeom prst="rightArrow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01020" y="1417320"/>
            <a:ext cx="1433474" cy="960120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01020" y="1417320"/>
            <a:ext cx="1433474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55884" y="1508760"/>
            <a:ext cx="1323746" cy="850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60"/>
              </a:spcAft>
            </a:pPr>
            <a:r>
              <a:rPr sz="1300" b="1">
                <a:solidFill>
                  <a:srgbClr val="FF9E1F"/>
                </a:solidFill>
                <a:latin typeface="Times New Roman"/>
              </a:rPr>
              <a:t>3  </a:t>
            </a:r>
            <a:r>
              <a:rPr sz="1300" b="1">
                <a:solidFill>
                  <a:srgbClr val="FFFFFF"/>
                </a:solidFill>
                <a:latin typeface="Times New Roman"/>
              </a:rPr>
              <a:t>Trajectory</a:t>
            </a:r>
          </a:p>
          <a:p>
            <a:pPr algn="l">
              <a:spcAft>
                <a:spcPts val="260"/>
              </a:spcAft>
            </a:pPr>
            <a:r>
              <a:rPr sz="1300" b="0">
                <a:solidFill>
                  <a:srgbClr val="A8B0BA"/>
                </a:solidFill>
                <a:latin typeface="Times New Roman"/>
              </a:rPr>
              <a:t>5-sensor PD control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068312" y="2542032"/>
          <a:ext cx="4666183" cy="210312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234440"/>
                <a:gridCol w="1694383"/>
                <a:gridCol w="1051560"/>
                <a:gridCol w="6858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9E1F"/>
                          </a:solidFill>
                          <a:latin typeface="Times New Roman"/>
                        </a:rPr>
                        <a:t>Algorithm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>
                      <a:solidFill>
                        <a:srgbClr val="FF9E1F"/>
                      </a:solidFill>
                    </a:lnB>
                    <a:solidFill>
                      <a:srgbClr val="14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9E1F"/>
                          </a:solidFill>
                          <a:latin typeface="Times New Roman"/>
                        </a:rPr>
                        <a:t>Role in Engine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>
                      <a:solidFill>
                        <a:srgbClr val="FF9E1F"/>
                      </a:solidFill>
                    </a:lnB>
                    <a:solidFill>
                      <a:srgbClr val="14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9E1F"/>
                          </a:solidFill>
                          <a:latin typeface="Times New Roman"/>
                        </a:rPr>
                        <a:t>Time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>
                      <a:solidFill>
                        <a:srgbClr val="FF9E1F"/>
                      </a:solidFill>
                    </a:lnB>
                    <a:solidFill>
                      <a:srgbClr val="14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9E1F"/>
                          </a:solidFill>
                          <a:latin typeface="Times New Roman"/>
                        </a:rPr>
                        <a:t>Space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>
                      <a:solidFill>
                        <a:srgbClr val="FF9E1F"/>
                      </a:solidFill>
                    </a:lnB>
                    <a:solidFill>
                      <a:srgbClr val="14181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Flood Fill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Safe distance transform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9E1F"/>
                          </a:solidFill>
                          <a:latin typeface="Times New Roman"/>
                        </a:rPr>
                        <a:t>O(N)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9E1F"/>
                          </a:solidFill>
                          <a:latin typeface="Times New Roman"/>
                        </a:rPr>
                        <a:t>O(N)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Dijkstra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Exposure-weighted path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9E1F"/>
                          </a:solidFill>
                          <a:latin typeface="Times New Roman"/>
                        </a:rPr>
                        <a:t>O(N log N)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9E1F"/>
                          </a:solidFill>
                          <a:latin typeface="Times New Roman"/>
                        </a:rPr>
                        <a:t>O(N)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Gradient Descent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Waypoint trajectory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9E1F"/>
                          </a:solidFill>
                          <a:latin typeface="Times New Roman"/>
                        </a:rPr>
                        <a:t>O(L)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9E1F"/>
                          </a:solidFill>
                          <a:latin typeface="Times New Roman"/>
                        </a:rPr>
                        <a:t>O(L)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Line Follower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5-sensor wheel control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9E1F"/>
                          </a:solidFill>
                          <a:latin typeface="Times New Roman"/>
                        </a:rPr>
                        <a:t>O(M)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9E1F"/>
                          </a:solidFill>
                          <a:latin typeface="Times New Roman"/>
                        </a:rPr>
                        <a:t>O(M)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068312" y="4700016"/>
            <a:ext cx="4666183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59"/>
              </a:spcAft>
            </a:pPr>
            <a:r>
              <a:rPr sz="1200" b="0">
                <a:solidFill>
                  <a:srgbClr val="A8B0BA"/>
                </a:solidFill>
                <a:latin typeface="Times New Roman"/>
              </a:rPr>
              <a:t>Grid: 80 × 80 cells (0.5 m); evaluated in real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14032" y="5084064"/>
            <a:ext cx="91440" cy="91440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4974336"/>
            <a:ext cx="446501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5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Dynamic re-planning: 0.4 s evasive, 1.6 s patrol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14032" y="5449824"/>
            <a:ext cx="91440" cy="91440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5340096"/>
            <a:ext cx="446501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5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PD steering controller: Kp = 3.2, Kd = 0.25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11 October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5695" y="6437376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1">
                <a:solidFill>
                  <a:srgbClr val="FF9E1F"/>
                </a:solidFill>
                <a:latin typeface="Times New Roman"/>
              </a:rPr>
              <a:t>8  |  TARGET DETECTION &amp;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960"/>
              </a:spcAft>
            </a:pPr>
            <a:r>
              <a:rPr sz="3200" b="1">
                <a:solidFill>
                  <a:srgbClr val="FFFFFF"/>
                </a:solidFill>
                <a:latin typeface="Times New Roman"/>
              </a:rPr>
              <a:t>Real-Time Thermal Vision Pipeline</a:t>
            </a:r>
          </a:p>
        </p:txBody>
      </p:sp>
      <p:pic>
        <p:nvPicPr>
          <p:cNvPr id="5" name="Picture 4" descr="img0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2057400" cy="14813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417320"/>
            <a:ext cx="329184" cy="329184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2918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80A0D"/>
                </a:solidFill>
                <a:latin typeface="Times New Roman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98648"/>
            <a:ext cx="2057400" cy="713232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898648"/>
            <a:ext cx="2057400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953512"/>
            <a:ext cx="1911095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68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Thermal Feed</a:t>
            </a:r>
          </a:p>
          <a:p>
            <a:pPr algn="l">
              <a:spcAft>
                <a:spcPts val="168"/>
              </a:spcAft>
            </a:pPr>
            <a:r>
              <a:rPr sz="1400" b="0">
                <a:solidFill>
                  <a:srgbClr val="A8B0BA"/>
                </a:solidFill>
                <a:latin typeface="Times New Roman"/>
              </a:rPr>
              <a:t>320 × 240 IR image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19514" y="2020824"/>
            <a:ext cx="237744" cy="274320"/>
          </a:xfrm>
          <a:prstGeom prst="rightArrow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g02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173" y="1417320"/>
            <a:ext cx="2057400" cy="148132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762173" y="1417320"/>
            <a:ext cx="329184" cy="329184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173" y="1417320"/>
            <a:ext cx="32918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80A0D"/>
                </a:solidFill>
                <a:latin typeface="Times New Roman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2173" y="2898648"/>
            <a:ext cx="2057400" cy="713232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62173" y="2898648"/>
            <a:ext cx="2057400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5325" y="2953512"/>
            <a:ext cx="1911095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68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Segmentation</a:t>
            </a:r>
          </a:p>
          <a:p>
            <a:pPr algn="l">
              <a:spcAft>
                <a:spcPts val="168"/>
              </a:spcAft>
            </a:pPr>
            <a:r>
              <a:rPr sz="1400" b="0">
                <a:solidFill>
                  <a:srgbClr val="A8B0BA"/>
                </a:solidFill>
                <a:latin typeface="Times New Roman"/>
              </a:rPr>
              <a:t>Otsu threshold (204)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24488" y="2020824"/>
            <a:ext cx="237744" cy="274320"/>
          </a:xfrm>
          <a:prstGeom prst="rightArrow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g02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7147" y="1417320"/>
            <a:ext cx="2057400" cy="148132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67147" y="1417320"/>
            <a:ext cx="329184" cy="329184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7147" y="1417320"/>
            <a:ext cx="32918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80A0D"/>
                </a:solidFill>
                <a:latin typeface="Times New Roman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67147" y="2898648"/>
            <a:ext cx="2057400" cy="713232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67147" y="2898648"/>
            <a:ext cx="2057400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0299" y="2953512"/>
            <a:ext cx="1911095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68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Blob Extraction</a:t>
            </a:r>
          </a:p>
          <a:p>
            <a:pPr algn="l">
              <a:spcAft>
                <a:spcPts val="168"/>
              </a:spcAft>
            </a:pPr>
            <a:r>
              <a:rPr sz="1400" b="0">
                <a:solidFill>
                  <a:srgbClr val="A8B0BA"/>
                </a:solidFill>
                <a:latin typeface="Times New Roman"/>
              </a:rPr>
              <a:t>Two-pass union-find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29462" y="2020824"/>
            <a:ext cx="237744" cy="274320"/>
          </a:xfrm>
          <a:prstGeom prst="rightArrow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g02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2121" y="1417320"/>
            <a:ext cx="2057400" cy="148132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372121" y="1417320"/>
            <a:ext cx="329184" cy="329184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72121" y="1417320"/>
            <a:ext cx="32918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80A0D"/>
                </a:solidFill>
                <a:latin typeface="Times New Roman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72121" y="2898648"/>
            <a:ext cx="2057400" cy="713232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72121" y="2898648"/>
            <a:ext cx="2057400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45273" y="2953512"/>
            <a:ext cx="1911095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68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Kalman Filter</a:t>
            </a:r>
          </a:p>
          <a:p>
            <a:pPr algn="l">
              <a:spcAft>
                <a:spcPts val="168"/>
              </a:spcAft>
            </a:pPr>
            <a:r>
              <a:rPr sz="1400" b="0">
                <a:solidFill>
                  <a:srgbClr val="A8B0BA"/>
                </a:solidFill>
                <a:latin typeface="Times New Roman"/>
              </a:rPr>
              <a:t>State &amp; velocity filter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434436" y="2020824"/>
            <a:ext cx="237744" cy="274320"/>
          </a:xfrm>
          <a:prstGeom prst="rightArrow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g02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7095" y="1417320"/>
            <a:ext cx="2057400" cy="1481328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9677095" y="1417320"/>
            <a:ext cx="329184" cy="329184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7095" y="1417320"/>
            <a:ext cx="32918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80A0D"/>
                </a:solidFill>
                <a:latin typeface="Times New Roman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77095" y="2898648"/>
            <a:ext cx="2057400" cy="713232"/>
          </a:xfrm>
          <a:prstGeom prst="rect">
            <a:avLst/>
          </a:prstGeom>
          <a:solidFill>
            <a:srgbClr val="14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77095" y="2898648"/>
            <a:ext cx="2057400" cy="36576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50247" y="2953512"/>
            <a:ext cx="1911095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68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Target Lock</a:t>
            </a:r>
          </a:p>
          <a:p>
            <a:pPr algn="l">
              <a:spcAft>
                <a:spcPts val="168"/>
              </a:spcAft>
            </a:pPr>
            <a:r>
              <a:rPr sz="1400" b="0">
                <a:solidFill>
                  <a:srgbClr val="A8B0BA"/>
                </a:solidFill>
                <a:latin typeface="Times New Roman"/>
              </a:rPr>
              <a:t>Gated Hungarian association</a:t>
            </a:r>
          </a:p>
        </p:txBody>
      </p:sp>
      <p:pic>
        <p:nvPicPr>
          <p:cNvPr id="39" name="Picture 38" descr="img03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776472"/>
            <a:ext cx="4470400" cy="25146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448056" y="5961888"/>
            <a:ext cx="4488688" cy="347472"/>
          </a:xfrm>
          <a:prstGeom prst="rect">
            <a:avLst/>
          </a:prstGeom>
          <a:solidFill>
            <a:srgbClr val="080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961888"/>
            <a:ext cx="437896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0">
                <a:solidFill>
                  <a:srgbClr val="FF9E1F"/>
                </a:solidFill>
                <a:latin typeface="Times New Roman"/>
              </a:rPr>
              <a:t>FLIR thermal camera view with automated tracking locks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183632" y="3776472"/>
          <a:ext cx="6550863" cy="2084832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920240"/>
                <a:gridCol w="3761943"/>
                <a:gridCol w="8686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9E1F"/>
                          </a:solidFill>
                          <a:latin typeface="Times New Roman"/>
                        </a:rPr>
                        <a:t>Pipeline Stage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>
                      <a:solidFill>
                        <a:srgbClr val="FF9E1F"/>
                      </a:solidFill>
                    </a:lnB>
                    <a:solidFill>
                      <a:srgbClr val="14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9E1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>
                      <a:solidFill>
                        <a:srgbClr val="FF9E1F"/>
                      </a:solidFill>
                    </a:lnB>
                    <a:solidFill>
                      <a:srgbClr val="14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9E1F"/>
                          </a:solidFill>
                          <a:latin typeface="Times New Roman"/>
                        </a:rPr>
                        <a:t>Cost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>
                      <a:solidFill>
                        <a:srgbClr val="FF9E1F"/>
                      </a:solidFill>
                    </a:lnB>
                    <a:solidFill>
                      <a:srgbClr val="14181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Threshold &amp; Despeckle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Histogram + 3 × 3 filter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9E1F"/>
                          </a:solidFill>
                          <a:latin typeface="Times New Roman"/>
                        </a:rPr>
                        <a:t>O(P)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Connected Components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Two-pass union-find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9E1F"/>
                          </a:solidFill>
                          <a:latin typeface="Times New Roman"/>
                        </a:rPr>
                        <a:t>≈ O(P)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Kalman Filtering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State (x, z, vx, vz) per track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9E1F"/>
                          </a:solidFill>
                          <a:latin typeface="Times New Roman"/>
                        </a:rPr>
                        <a:t>O(T)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Data Association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Gated Hungarian (χ² = 9.21)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9E1F"/>
                          </a:solidFill>
                          <a:latin typeface="Times New Roman"/>
                        </a:rPr>
                        <a:t>O(n³)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80A0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Benchmark Runtime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Both UAVs on worker thread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9E1F"/>
                          </a:solidFill>
                          <a:latin typeface="Times New Roman"/>
                        </a:rPr>
                        <a:t>2.9 ms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2A313A"/>
                      </a:solidFill>
                    </a:lnB>
                    <a:solidFill>
                      <a:srgbClr val="0F1217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5183632" y="5916168"/>
            <a:ext cx="6550863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59"/>
              </a:spcAft>
            </a:pPr>
            <a:r>
              <a:rPr sz="1200" b="0">
                <a:solidFill>
                  <a:srgbClr val="A8B0BA"/>
                </a:solidFill>
                <a:latin typeface="Times New Roman"/>
              </a:rPr>
              <a:t>P = 76,800 pixels/frame;  T active tracks;  n targets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11 October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5695" y="6437376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1">
                <a:solidFill>
                  <a:srgbClr val="FF9E1F"/>
                </a:solidFill>
                <a:latin typeface="Times New Roman"/>
              </a:rPr>
              <a:t>9  |  SWARM STRIKES &amp; DIRECT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960"/>
              </a:spcAft>
            </a:pPr>
            <a:r>
              <a:rPr sz="3200" b="1">
                <a:solidFill>
                  <a:srgbClr val="FFFFFF"/>
                </a:solidFill>
                <a:latin typeface="Times New Roman"/>
              </a:rPr>
              <a:t>Autonomous Defense &amp; Playable Vehicles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44752"/>
            <a:ext cx="100584" cy="100584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1109441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5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Autonomous Defense: Dual UAV swarm strikes with synchronized missile arrival</a:t>
            </a:r>
          </a:p>
        </p:txBody>
      </p:sp>
      <p:pic>
        <p:nvPicPr>
          <p:cNvPr id="7" name="Picture 6" descr="img0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5064"/>
            <a:ext cx="3661562" cy="20596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8056" y="3385508"/>
            <a:ext cx="3679850" cy="347472"/>
          </a:xfrm>
          <a:prstGeom prst="rect">
            <a:avLst/>
          </a:prstGeom>
          <a:solidFill>
            <a:srgbClr val="080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385508"/>
            <a:ext cx="3570122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0">
                <a:solidFill>
                  <a:srgbClr val="FF9E1F"/>
                </a:solidFill>
                <a:latin typeface="Times New Roman"/>
              </a:rPr>
              <a:t>Target Lock: FLIR tracking</a:t>
            </a:r>
          </a:p>
        </p:txBody>
      </p:sp>
      <p:pic>
        <p:nvPicPr>
          <p:cNvPr id="10" name="Picture 9" descr="img03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066" y="1655064"/>
            <a:ext cx="3661562" cy="20596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55922" y="3385508"/>
            <a:ext cx="3679850" cy="347472"/>
          </a:xfrm>
          <a:prstGeom prst="rect">
            <a:avLst/>
          </a:prstGeom>
          <a:solidFill>
            <a:srgbClr val="080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0786" y="3385508"/>
            <a:ext cx="3570122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0">
                <a:solidFill>
                  <a:srgbClr val="FF9E1F"/>
                </a:solidFill>
                <a:latin typeface="Times New Roman"/>
              </a:rPr>
              <a:t>Single Strike: Solo engagement</a:t>
            </a:r>
          </a:p>
        </p:txBody>
      </p:sp>
      <p:pic>
        <p:nvPicPr>
          <p:cNvPr id="13" name="Picture 12" descr="img03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2932" y="1655064"/>
            <a:ext cx="3661562" cy="205962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063788" y="3385508"/>
            <a:ext cx="3679850" cy="347472"/>
          </a:xfrm>
          <a:prstGeom prst="rect">
            <a:avLst/>
          </a:prstGeom>
          <a:solidFill>
            <a:srgbClr val="080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8652" y="3385508"/>
            <a:ext cx="3570122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0">
                <a:solidFill>
                  <a:srgbClr val="FF9E1F"/>
                </a:solidFill>
                <a:latin typeface="Times New Roman"/>
              </a:rPr>
              <a:t>Dual Strike: Synchronized impact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88428"/>
            <a:ext cx="100584" cy="100584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87844"/>
            <a:ext cx="1109441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5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Interactive Vehicles: Walk up to any outpost station (Press E) for direct control</a:t>
            </a:r>
          </a:p>
        </p:txBody>
      </p:sp>
      <p:pic>
        <p:nvPicPr>
          <p:cNvPr id="18" name="Picture 17" descr="img03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98740"/>
            <a:ext cx="3661562" cy="20596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8056" y="5829185"/>
            <a:ext cx="3679850" cy="347472"/>
          </a:xfrm>
          <a:prstGeom prst="rect">
            <a:avLst/>
          </a:prstGeom>
          <a:solidFill>
            <a:srgbClr val="080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829185"/>
            <a:ext cx="3570122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0">
                <a:solidFill>
                  <a:srgbClr val="FF9E1F"/>
                </a:solidFill>
                <a:latin typeface="Times New Roman"/>
              </a:rPr>
              <a:t>Boarding: Mount vehicle</a:t>
            </a:r>
          </a:p>
        </p:txBody>
      </p:sp>
      <p:pic>
        <p:nvPicPr>
          <p:cNvPr id="21" name="Picture 20" descr="img03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5066" y="4098740"/>
            <a:ext cx="3661562" cy="20596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255922" y="5829185"/>
            <a:ext cx="3679850" cy="347472"/>
          </a:xfrm>
          <a:prstGeom prst="rect">
            <a:avLst/>
          </a:prstGeom>
          <a:solidFill>
            <a:srgbClr val="080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0786" y="5829185"/>
            <a:ext cx="3570122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0">
                <a:solidFill>
                  <a:srgbClr val="FF9E1F"/>
                </a:solidFill>
                <a:latin typeface="Times New Roman"/>
              </a:rPr>
              <a:t>Tank: First-person gunner sight</a:t>
            </a:r>
          </a:p>
        </p:txBody>
      </p:sp>
      <p:pic>
        <p:nvPicPr>
          <p:cNvPr id="24" name="Picture 23" descr="img03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932" y="4098740"/>
            <a:ext cx="3661562" cy="205962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063788" y="5829185"/>
            <a:ext cx="3679850" cy="347472"/>
          </a:xfrm>
          <a:prstGeom prst="rect">
            <a:avLst/>
          </a:prstGeom>
          <a:solidFill>
            <a:srgbClr val="080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8652" y="5829185"/>
            <a:ext cx="3570122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0">
                <a:solidFill>
                  <a:srgbClr val="FF9E1F"/>
                </a:solidFill>
                <a:latin typeface="Times New Roman"/>
              </a:rPr>
              <a:t>AA Cannons: Rapid-fire turret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11 October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5695" y="6437376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0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55767" y="2331720"/>
            <a:ext cx="1280160" cy="64008"/>
          </a:xfrm>
          <a:prstGeom prst="rect">
            <a:avLst/>
          </a:prstGeom>
          <a:solidFill>
            <a:srgbClr val="FF9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2160"/>
              </a:spcAft>
            </a:pPr>
            <a:r>
              <a:rPr sz="7200" b="1">
                <a:solidFill>
                  <a:srgbClr val="FFFFFF"/>
                </a:solidFill>
                <a:latin typeface="Times New Roman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960"/>
              </a:spcAft>
            </a:pPr>
            <a:r>
              <a:rPr sz="3200" b="0">
                <a:solidFill>
                  <a:srgbClr val="FF9E1F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0">
                <a:solidFill>
                  <a:srgbClr val="A8B0BA"/>
                </a:solidFill>
                <a:latin typeface="Times New Roman"/>
              </a:rPr>
              <a:t>Md. Shakhoyat Rahman Shujon   |   Roll 2107104   |   Computer Graphics Laboratory (CSE 4102)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11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37376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330"/>
              </a:spcAft>
            </a:pPr>
            <a:r>
              <a:rPr sz="1100" b="0">
                <a:solidFill>
                  <a:srgbClr val="A8B0BA"/>
                </a:solidFill>
                <a:latin typeface="Times New Roman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ThermalSense: a graphics pipeline, end to end, in a military outpost</dc:title>
  <dc:subject>Computer Graphics Laboratory, CSE 4102</dc:subject>
  <dc:creator>Md. Shakhoyat Rahman Shujon</dc:creator>
  <cp:keywords>ThermalSense, OpenGL, C++17</cp:keywords>
  <dc:description/>
  <cp:lastModifiedBy>Md. Shakhoyat Rahman Shujon</cp:lastModifiedBy>
  <cp:revision>1</cp:revision>
  <dcterms:created xsi:type="dcterms:W3CDTF">2026-10-11T07:34:08Z</dcterms:created>
  <dcterms:modified xsi:type="dcterms:W3CDTF">2026-10-11T07:34:08Z</dcterms:modified>
  <cp:category/>
</cp:coreProperties>
</file>